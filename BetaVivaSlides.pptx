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42"/>
  </p:notesMasterIdLst>
  <p:sldIdLst>
    <p:sldId id="293" r:id="rId2"/>
    <p:sldId id="294" r:id="rId3"/>
    <p:sldId id="295" r:id="rId4"/>
    <p:sldId id="296" r:id="rId5"/>
    <p:sldId id="297" r:id="rId6"/>
    <p:sldId id="300" r:id="rId7"/>
    <p:sldId id="299" r:id="rId8"/>
    <p:sldId id="301" r:id="rId9"/>
    <p:sldId id="256" r:id="rId10"/>
    <p:sldId id="258" r:id="rId11"/>
    <p:sldId id="270" r:id="rId12"/>
    <p:sldId id="257" r:id="rId13"/>
    <p:sldId id="271" r:id="rId14"/>
    <p:sldId id="272" r:id="rId15"/>
    <p:sldId id="273" r:id="rId16"/>
    <p:sldId id="274" r:id="rId17"/>
    <p:sldId id="259" r:id="rId18"/>
    <p:sldId id="260" r:id="rId19"/>
    <p:sldId id="261" r:id="rId20"/>
    <p:sldId id="262" r:id="rId21"/>
    <p:sldId id="263" r:id="rId22"/>
    <p:sldId id="264" r:id="rId23"/>
    <p:sldId id="265" r:id="rId24"/>
    <p:sldId id="266" r:id="rId25"/>
    <p:sldId id="275" r:id="rId26"/>
    <p:sldId id="276" r:id="rId27"/>
    <p:sldId id="278" r:id="rId28"/>
    <p:sldId id="277" r:id="rId29"/>
    <p:sldId id="279" r:id="rId30"/>
    <p:sldId id="281" r:id="rId31"/>
    <p:sldId id="282" r:id="rId32"/>
    <p:sldId id="283" r:id="rId33"/>
    <p:sldId id="284" r:id="rId34"/>
    <p:sldId id="285" r:id="rId35"/>
    <p:sldId id="286" r:id="rId36"/>
    <p:sldId id="287" r:id="rId37"/>
    <p:sldId id="288" r:id="rId38"/>
    <p:sldId id="289" r:id="rId39"/>
    <p:sldId id="291" r:id="rId40"/>
    <p:sldId id="302"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B4F91C-1D16-0BEE-8387-37E36E05FEB4}" v="216" dt="2026-03-02T12:23:37.860"/>
    <p1510:client id="{D66F524A-E0C9-B474-268A-277D754D50F4}" v="92" dt="2026-03-02T12:14:55.702"/>
    <p1510:client id="{D6F5DE94-879C-B70A-AA91-0A16BFD953E3}" v="868" dt="2026-03-02T12:19:30.801"/>
    <p1510:client id="{E14B7626-9539-424C-8630-90F874B59128}" v="2076" dt="2026-03-02T14:25:14.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336"/>
    <p:restoredTop sz="94701"/>
  </p:normalViewPr>
  <p:slideViewPr>
    <p:cSldViewPr snapToGrid="0">
      <p:cViewPr>
        <p:scale>
          <a:sx n="71" d="100"/>
          <a:sy n="71" d="100"/>
        </p:scale>
        <p:origin x="544" y="1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F4B90F-CFED-426F-847E-EDEB67898557}" type="doc">
      <dgm:prSet loTypeId="urn:microsoft.com/office/officeart/2005/8/layout/hProcess11" loCatId="process" qsTypeId="urn:microsoft.com/office/officeart/2005/8/quickstyle/simple1" qsCatId="simple" csTypeId="urn:microsoft.com/office/officeart/2005/8/colors/accent1_5" csCatId="accent1" phldr="1"/>
      <dgm:spPr/>
      <dgm:t>
        <a:bodyPr/>
        <a:lstStyle/>
        <a:p>
          <a:endParaRPr lang="en-SG"/>
        </a:p>
      </dgm:t>
    </dgm:pt>
    <dgm:pt modelId="{F9764B48-BD54-4846-9EBA-927C298EBEC4}">
      <dgm:prSet phldrT="[Text]" phldr="0"/>
      <dgm:spPr/>
      <dgm:t>
        <a:bodyPr anchor="ctr"/>
        <a:lstStyle/>
        <a:p>
          <a:pPr algn="ctr"/>
          <a:r>
            <a:rPr lang="en-US" dirty="0"/>
            <a:t>Joined </a:t>
          </a:r>
          <a:r>
            <a:rPr lang="en-US" b="1" dirty="0" err="1">
              <a:solidFill>
                <a:schemeClr val="accent1">
                  <a:lumMod val="76000"/>
                </a:schemeClr>
              </a:solidFill>
            </a:rPr>
            <a:t>GreenCheck</a:t>
          </a:r>
          <a:r>
            <a:rPr lang="en-US" b="1" dirty="0">
              <a:solidFill>
                <a:schemeClr val="accent1">
                  <a:lumMod val="76000"/>
                </a:schemeClr>
              </a:solidFill>
            </a:rPr>
            <a:t> AI</a:t>
          </a:r>
        </a:p>
        <a:p>
          <a:pPr algn="ctr"/>
          <a:endParaRPr lang="en-SG" b="1" dirty="0">
            <a:solidFill>
              <a:schemeClr val="accent1">
                <a:lumMod val="76000"/>
              </a:schemeClr>
            </a:solidFill>
          </a:endParaRPr>
        </a:p>
      </dgm:t>
    </dgm:pt>
    <dgm:pt modelId="{EAF9353E-9A29-4182-96C5-AA869616ABF2}" type="parTrans" cxnId="{67EFCFEF-B561-46FE-876E-44F68A55667E}">
      <dgm:prSet/>
      <dgm:spPr/>
      <dgm:t>
        <a:bodyPr/>
        <a:lstStyle/>
        <a:p>
          <a:endParaRPr lang="en-SG"/>
        </a:p>
      </dgm:t>
    </dgm:pt>
    <dgm:pt modelId="{21B18322-2201-4AC6-86EB-14B6013257EF}" type="sibTrans" cxnId="{67EFCFEF-B561-46FE-876E-44F68A55667E}">
      <dgm:prSet/>
      <dgm:spPr/>
      <dgm:t>
        <a:bodyPr/>
        <a:lstStyle/>
        <a:p>
          <a:endParaRPr lang="en-SG"/>
        </a:p>
      </dgm:t>
    </dgm:pt>
    <dgm:pt modelId="{25BE64E7-14C6-4823-A4EE-750A13984464}">
      <dgm:prSet phldrT="[Text]" phldr="0"/>
      <dgm:spPr/>
      <dgm:t>
        <a:bodyPr anchor="ctr"/>
        <a:lstStyle/>
        <a:p>
          <a:r>
            <a:rPr lang="en-US" dirty="0"/>
            <a:t>Joined </a:t>
          </a:r>
          <a:r>
            <a:rPr lang="en-US" b="1" dirty="0">
              <a:solidFill>
                <a:schemeClr val="accent1">
                  <a:lumMod val="76000"/>
                </a:schemeClr>
              </a:solidFill>
            </a:rPr>
            <a:t>Secondhand Marketplace</a:t>
          </a:r>
          <a:endParaRPr lang="en-SG" b="1" dirty="0">
            <a:solidFill>
              <a:schemeClr val="accent1">
                <a:lumMod val="76000"/>
              </a:schemeClr>
            </a:solidFill>
          </a:endParaRPr>
        </a:p>
      </dgm:t>
    </dgm:pt>
    <dgm:pt modelId="{C1642A8E-3EB3-48C9-B748-6DEBD5FD0E20}" type="parTrans" cxnId="{D64374E6-9030-4AC4-844D-585A8C5BBF40}">
      <dgm:prSet/>
      <dgm:spPr/>
      <dgm:t>
        <a:bodyPr/>
        <a:lstStyle/>
        <a:p>
          <a:endParaRPr lang="en-SG"/>
        </a:p>
      </dgm:t>
    </dgm:pt>
    <dgm:pt modelId="{2D104C4C-1B00-44DE-AC01-0044FF8CD5DC}" type="sibTrans" cxnId="{D64374E6-9030-4AC4-844D-585A8C5BBF40}">
      <dgm:prSet/>
      <dgm:spPr/>
      <dgm:t>
        <a:bodyPr/>
        <a:lstStyle/>
        <a:p>
          <a:endParaRPr lang="en-SG"/>
        </a:p>
      </dgm:t>
    </dgm:pt>
    <dgm:pt modelId="{8E769C82-FDAC-417B-92D6-D745F671723B}">
      <dgm:prSet phldrT="[Text]" phldr="0"/>
      <dgm:spPr/>
      <dgm:t>
        <a:bodyPr anchor="ctr"/>
        <a:lstStyle/>
        <a:p>
          <a:r>
            <a:rPr lang="en-US" i="0" dirty="0"/>
            <a:t>Find out issues and risks</a:t>
          </a:r>
          <a:endParaRPr lang="en-SG" i="0" dirty="0"/>
        </a:p>
      </dgm:t>
    </dgm:pt>
    <dgm:pt modelId="{4B5551E6-11D8-4BAD-8514-6BBD29F1D49D}" type="parTrans" cxnId="{B1296214-31F2-471E-AF73-A85D86D9482C}">
      <dgm:prSet/>
      <dgm:spPr/>
      <dgm:t>
        <a:bodyPr/>
        <a:lstStyle/>
        <a:p>
          <a:endParaRPr lang="en-SG"/>
        </a:p>
      </dgm:t>
    </dgm:pt>
    <dgm:pt modelId="{E4C96EAE-9032-4313-AED4-E29C5F2A8F74}" type="sibTrans" cxnId="{B1296214-31F2-471E-AF73-A85D86D9482C}">
      <dgm:prSet/>
      <dgm:spPr/>
      <dgm:t>
        <a:bodyPr/>
        <a:lstStyle/>
        <a:p>
          <a:endParaRPr lang="en-SG"/>
        </a:p>
      </dgm:t>
    </dgm:pt>
    <dgm:pt modelId="{A30328E1-2960-40AB-AB53-72771C635994}">
      <dgm:prSet phldrT="[Text]" phldr="0"/>
      <dgm:spPr/>
      <dgm:t>
        <a:bodyPr anchor="ctr"/>
        <a:lstStyle/>
        <a:p>
          <a:r>
            <a:rPr lang="en-US" i="0" dirty="0">
              <a:solidFill>
                <a:schemeClr val="accent1">
                  <a:lumMod val="76000"/>
                </a:schemeClr>
              </a:solidFill>
            </a:rPr>
            <a:t>Implementation in progress</a:t>
          </a:r>
        </a:p>
        <a:p>
          <a:endParaRPr lang="en-SG" i="0" dirty="0">
            <a:solidFill>
              <a:schemeClr val="accent1">
                <a:lumMod val="76000"/>
              </a:schemeClr>
            </a:solidFill>
          </a:endParaRPr>
        </a:p>
      </dgm:t>
    </dgm:pt>
    <dgm:pt modelId="{086C01D3-EE58-419F-BA6D-5B4DCE835338}" type="parTrans" cxnId="{ED0A3B13-512F-4925-979D-07781BBAEC29}">
      <dgm:prSet/>
      <dgm:spPr/>
      <dgm:t>
        <a:bodyPr/>
        <a:lstStyle/>
        <a:p>
          <a:endParaRPr lang="en-SG"/>
        </a:p>
      </dgm:t>
    </dgm:pt>
    <dgm:pt modelId="{3BB7E2F8-F4D7-40F7-AD95-C4CEF0114FD9}" type="sibTrans" cxnId="{ED0A3B13-512F-4925-979D-07781BBAEC29}">
      <dgm:prSet/>
      <dgm:spPr/>
      <dgm:t>
        <a:bodyPr/>
        <a:lstStyle/>
        <a:p>
          <a:endParaRPr lang="en-SG"/>
        </a:p>
      </dgm:t>
    </dgm:pt>
    <dgm:pt modelId="{2B142E12-D0C2-4A19-A572-487BF862E990}">
      <dgm:prSet phldrT="[Text]" phldr="0"/>
      <dgm:spPr/>
      <dgm:t>
        <a:bodyPr anchor="ctr"/>
        <a:lstStyle/>
        <a:p>
          <a:r>
            <a:rPr lang="en-US" altLang="ko-KR" i="0" dirty="0"/>
            <a:t>Deciding and choosing new project</a:t>
          </a:r>
        </a:p>
        <a:p>
          <a:endParaRPr lang="en-SG" i="0" dirty="0"/>
        </a:p>
      </dgm:t>
    </dgm:pt>
    <dgm:pt modelId="{0DC85182-C763-4E58-9ED9-6C21BBE0BA75}" type="sibTrans" cxnId="{3E2B3E4A-6799-49C6-A0E6-B686FCA08E25}">
      <dgm:prSet/>
      <dgm:spPr/>
      <dgm:t>
        <a:bodyPr/>
        <a:lstStyle/>
        <a:p>
          <a:endParaRPr lang="en-SG"/>
        </a:p>
      </dgm:t>
    </dgm:pt>
    <dgm:pt modelId="{7E38ED04-2486-4C77-B170-C59340186002}" type="parTrans" cxnId="{3E2B3E4A-6799-49C6-A0E6-B686FCA08E25}">
      <dgm:prSet/>
      <dgm:spPr/>
      <dgm:t>
        <a:bodyPr/>
        <a:lstStyle/>
        <a:p>
          <a:endParaRPr lang="en-SG"/>
        </a:p>
      </dgm:t>
    </dgm:pt>
    <dgm:pt modelId="{ED78F873-9FD9-4988-B1A2-5EC251D8D3DC}" type="pres">
      <dgm:prSet presAssocID="{6EF4B90F-CFED-426F-847E-EDEB67898557}" presName="Name0" presStyleCnt="0">
        <dgm:presLayoutVars>
          <dgm:dir/>
          <dgm:resizeHandles val="exact"/>
        </dgm:presLayoutVars>
      </dgm:prSet>
      <dgm:spPr/>
    </dgm:pt>
    <dgm:pt modelId="{91143450-81E3-4409-BAF7-F62406AF8B3B}" type="pres">
      <dgm:prSet presAssocID="{6EF4B90F-CFED-426F-847E-EDEB67898557}" presName="arrow" presStyleLbl="bgShp" presStyleIdx="0" presStyleCnt="1"/>
      <dgm:spPr/>
    </dgm:pt>
    <dgm:pt modelId="{4C298DC1-D4F4-43C1-B45E-A5BF42C55821}" type="pres">
      <dgm:prSet presAssocID="{6EF4B90F-CFED-426F-847E-EDEB67898557}" presName="points" presStyleCnt="0"/>
      <dgm:spPr/>
    </dgm:pt>
    <dgm:pt modelId="{A541D663-87A9-4847-B6A2-B0AD2D8F93AC}" type="pres">
      <dgm:prSet presAssocID="{F9764B48-BD54-4846-9EBA-927C298EBEC4}" presName="compositeA" presStyleCnt="0"/>
      <dgm:spPr/>
    </dgm:pt>
    <dgm:pt modelId="{82C1D45C-7E3B-4847-B3D4-B9FAD1BE05ED}" type="pres">
      <dgm:prSet presAssocID="{F9764B48-BD54-4846-9EBA-927C298EBEC4}" presName="textA" presStyleLbl="revTx" presStyleIdx="0" presStyleCnt="5">
        <dgm:presLayoutVars>
          <dgm:bulletEnabled val="1"/>
        </dgm:presLayoutVars>
      </dgm:prSet>
      <dgm:spPr/>
    </dgm:pt>
    <dgm:pt modelId="{862C51D9-5C47-48F1-B405-3B22AA4CCDA6}" type="pres">
      <dgm:prSet presAssocID="{F9764B48-BD54-4846-9EBA-927C298EBEC4}" presName="circleA" presStyleLbl="node1" presStyleIdx="0" presStyleCnt="5"/>
      <dgm:spPr/>
    </dgm:pt>
    <dgm:pt modelId="{529FC0E3-C694-450E-BDC2-7DE72FD70D90}" type="pres">
      <dgm:prSet presAssocID="{F9764B48-BD54-4846-9EBA-927C298EBEC4}" presName="spaceA" presStyleCnt="0"/>
      <dgm:spPr/>
    </dgm:pt>
    <dgm:pt modelId="{1FE9F59A-55E4-44BE-B7AC-9EF4D8FA7662}" type="pres">
      <dgm:prSet presAssocID="{21B18322-2201-4AC6-86EB-14B6013257EF}" presName="space" presStyleCnt="0"/>
      <dgm:spPr/>
    </dgm:pt>
    <dgm:pt modelId="{B5314B4C-4076-45CA-9785-AA5C79CDB2FF}" type="pres">
      <dgm:prSet presAssocID="{8E769C82-FDAC-417B-92D6-D745F671723B}" presName="compositeB" presStyleCnt="0"/>
      <dgm:spPr/>
    </dgm:pt>
    <dgm:pt modelId="{3467EB72-F44F-46BF-A8B9-7B71AFCF26A5}" type="pres">
      <dgm:prSet presAssocID="{8E769C82-FDAC-417B-92D6-D745F671723B}" presName="textB" presStyleLbl="revTx" presStyleIdx="1" presStyleCnt="5">
        <dgm:presLayoutVars>
          <dgm:bulletEnabled val="1"/>
        </dgm:presLayoutVars>
      </dgm:prSet>
      <dgm:spPr/>
    </dgm:pt>
    <dgm:pt modelId="{F2FC281A-9E0B-487D-9C18-B5F0C696A2EB}" type="pres">
      <dgm:prSet presAssocID="{8E769C82-FDAC-417B-92D6-D745F671723B}" presName="circleB" presStyleLbl="node1" presStyleIdx="1" presStyleCnt="5"/>
      <dgm:spPr/>
    </dgm:pt>
    <dgm:pt modelId="{EC95CD03-BF2E-43DB-BDC3-3E82C118764B}" type="pres">
      <dgm:prSet presAssocID="{8E769C82-FDAC-417B-92D6-D745F671723B}" presName="spaceB" presStyleCnt="0"/>
      <dgm:spPr/>
    </dgm:pt>
    <dgm:pt modelId="{6D2AE6CE-623B-4956-BAF3-1A3AF0F8B0E8}" type="pres">
      <dgm:prSet presAssocID="{E4C96EAE-9032-4313-AED4-E29C5F2A8F74}" presName="space" presStyleCnt="0"/>
      <dgm:spPr/>
    </dgm:pt>
    <dgm:pt modelId="{F4D94899-C659-40D6-A5E0-9BC2ACF8B941}" type="pres">
      <dgm:prSet presAssocID="{2B142E12-D0C2-4A19-A572-487BF862E990}" presName="compositeA" presStyleCnt="0"/>
      <dgm:spPr/>
    </dgm:pt>
    <dgm:pt modelId="{6FE6475D-291D-41E0-9B61-20C183E034EB}" type="pres">
      <dgm:prSet presAssocID="{2B142E12-D0C2-4A19-A572-487BF862E990}" presName="textA" presStyleLbl="revTx" presStyleIdx="2" presStyleCnt="5">
        <dgm:presLayoutVars>
          <dgm:bulletEnabled val="1"/>
        </dgm:presLayoutVars>
      </dgm:prSet>
      <dgm:spPr/>
    </dgm:pt>
    <dgm:pt modelId="{399C9F28-6891-4A7B-85AB-89DF292870E2}" type="pres">
      <dgm:prSet presAssocID="{2B142E12-D0C2-4A19-A572-487BF862E990}" presName="circleA" presStyleLbl="node1" presStyleIdx="2" presStyleCnt="5"/>
      <dgm:spPr/>
    </dgm:pt>
    <dgm:pt modelId="{F0F789C1-8CD7-4439-912D-3766D54F2B1D}" type="pres">
      <dgm:prSet presAssocID="{2B142E12-D0C2-4A19-A572-487BF862E990}" presName="spaceA" presStyleCnt="0"/>
      <dgm:spPr/>
    </dgm:pt>
    <dgm:pt modelId="{E8BFFA79-EC89-48D0-8270-81D284AD90EB}" type="pres">
      <dgm:prSet presAssocID="{0DC85182-C763-4E58-9ED9-6C21BBE0BA75}" presName="space" presStyleCnt="0"/>
      <dgm:spPr/>
    </dgm:pt>
    <dgm:pt modelId="{E4CB8EB1-F52F-4B8B-9A46-3036E898ADCC}" type="pres">
      <dgm:prSet presAssocID="{25BE64E7-14C6-4823-A4EE-750A13984464}" presName="compositeB" presStyleCnt="0"/>
      <dgm:spPr/>
    </dgm:pt>
    <dgm:pt modelId="{D40A5154-BA56-4302-966A-B492D704DDDE}" type="pres">
      <dgm:prSet presAssocID="{25BE64E7-14C6-4823-A4EE-750A13984464}" presName="textB" presStyleLbl="revTx" presStyleIdx="3" presStyleCnt="5">
        <dgm:presLayoutVars>
          <dgm:bulletEnabled val="1"/>
        </dgm:presLayoutVars>
      </dgm:prSet>
      <dgm:spPr/>
    </dgm:pt>
    <dgm:pt modelId="{8B4455D0-3DE0-48EC-8019-03D34DAA53CE}" type="pres">
      <dgm:prSet presAssocID="{25BE64E7-14C6-4823-A4EE-750A13984464}" presName="circleB" presStyleLbl="node1" presStyleIdx="3" presStyleCnt="5"/>
      <dgm:spPr/>
    </dgm:pt>
    <dgm:pt modelId="{90E31548-501E-4014-BE6A-450DBB1566D2}" type="pres">
      <dgm:prSet presAssocID="{25BE64E7-14C6-4823-A4EE-750A13984464}" presName="spaceB" presStyleCnt="0"/>
      <dgm:spPr/>
    </dgm:pt>
    <dgm:pt modelId="{4FB00DEB-8099-4D31-9693-E4FDFB77C4F4}" type="pres">
      <dgm:prSet presAssocID="{2D104C4C-1B00-44DE-AC01-0044FF8CD5DC}" presName="space" presStyleCnt="0"/>
      <dgm:spPr/>
    </dgm:pt>
    <dgm:pt modelId="{8E27E7E7-E337-43D8-891D-71B6EA253B7B}" type="pres">
      <dgm:prSet presAssocID="{A30328E1-2960-40AB-AB53-72771C635994}" presName="compositeA" presStyleCnt="0"/>
      <dgm:spPr/>
    </dgm:pt>
    <dgm:pt modelId="{9DA95A1A-93FC-4488-A56B-675FAC5C93DB}" type="pres">
      <dgm:prSet presAssocID="{A30328E1-2960-40AB-AB53-72771C635994}" presName="textA" presStyleLbl="revTx" presStyleIdx="4" presStyleCnt="5">
        <dgm:presLayoutVars>
          <dgm:bulletEnabled val="1"/>
        </dgm:presLayoutVars>
      </dgm:prSet>
      <dgm:spPr/>
    </dgm:pt>
    <dgm:pt modelId="{E7B520BC-5B0E-4EC6-A1D9-973AAC415C3B}" type="pres">
      <dgm:prSet presAssocID="{A30328E1-2960-40AB-AB53-72771C635994}" presName="circleA" presStyleLbl="node1" presStyleIdx="4" presStyleCnt="5"/>
      <dgm:spPr/>
    </dgm:pt>
    <dgm:pt modelId="{03708C45-73F0-401B-B9A5-1D51F7E2D267}" type="pres">
      <dgm:prSet presAssocID="{A30328E1-2960-40AB-AB53-72771C635994}" presName="spaceA" presStyleCnt="0"/>
      <dgm:spPr/>
    </dgm:pt>
  </dgm:ptLst>
  <dgm:cxnLst>
    <dgm:cxn modelId="{ED0A3B13-512F-4925-979D-07781BBAEC29}" srcId="{6EF4B90F-CFED-426F-847E-EDEB67898557}" destId="{A30328E1-2960-40AB-AB53-72771C635994}" srcOrd="4" destOrd="0" parTransId="{086C01D3-EE58-419F-BA6D-5B4DCE835338}" sibTransId="{3BB7E2F8-F4D7-40F7-AD95-C4CEF0114FD9}"/>
    <dgm:cxn modelId="{B1296214-31F2-471E-AF73-A85D86D9482C}" srcId="{6EF4B90F-CFED-426F-847E-EDEB67898557}" destId="{8E769C82-FDAC-417B-92D6-D745F671723B}" srcOrd="1" destOrd="0" parTransId="{4B5551E6-11D8-4BAD-8514-6BBD29F1D49D}" sibTransId="{E4C96EAE-9032-4313-AED4-E29C5F2A8F74}"/>
    <dgm:cxn modelId="{523F9D16-869E-4607-8E8D-B2FB538B0282}" type="presOf" srcId="{A30328E1-2960-40AB-AB53-72771C635994}" destId="{9DA95A1A-93FC-4488-A56B-675FAC5C93DB}" srcOrd="0" destOrd="0" presId="urn:microsoft.com/office/officeart/2005/8/layout/hProcess11"/>
    <dgm:cxn modelId="{AD7DE541-C0A3-4615-BF23-0D6C0859F97D}" type="presOf" srcId="{6EF4B90F-CFED-426F-847E-EDEB67898557}" destId="{ED78F873-9FD9-4988-B1A2-5EC251D8D3DC}" srcOrd="0" destOrd="0" presId="urn:microsoft.com/office/officeart/2005/8/layout/hProcess11"/>
    <dgm:cxn modelId="{3E2B3E4A-6799-49C6-A0E6-B686FCA08E25}" srcId="{6EF4B90F-CFED-426F-847E-EDEB67898557}" destId="{2B142E12-D0C2-4A19-A572-487BF862E990}" srcOrd="2" destOrd="0" parTransId="{7E38ED04-2486-4C77-B170-C59340186002}" sibTransId="{0DC85182-C763-4E58-9ED9-6C21BBE0BA75}"/>
    <dgm:cxn modelId="{9451EB4B-3B6D-416A-A85D-CC32A0FF5546}" type="presOf" srcId="{25BE64E7-14C6-4823-A4EE-750A13984464}" destId="{D40A5154-BA56-4302-966A-B492D704DDDE}" srcOrd="0" destOrd="0" presId="urn:microsoft.com/office/officeart/2005/8/layout/hProcess11"/>
    <dgm:cxn modelId="{DDDD3F4C-1BAB-41C5-BFAA-DA82974BB7A6}" type="presOf" srcId="{2B142E12-D0C2-4A19-A572-487BF862E990}" destId="{6FE6475D-291D-41E0-9B61-20C183E034EB}" srcOrd="0" destOrd="0" presId="urn:microsoft.com/office/officeart/2005/8/layout/hProcess11"/>
    <dgm:cxn modelId="{DC8A519A-B847-404D-8A68-3BF1F7281451}" type="presOf" srcId="{8E769C82-FDAC-417B-92D6-D745F671723B}" destId="{3467EB72-F44F-46BF-A8B9-7B71AFCF26A5}" srcOrd="0" destOrd="0" presId="urn:microsoft.com/office/officeart/2005/8/layout/hProcess11"/>
    <dgm:cxn modelId="{F1C775E0-E7D4-4F0E-97F1-4D88E7315BBB}" type="presOf" srcId="{F9764B48-BD54-4846-9EBA-927C298EBEC4}" destId="{82C1D45C-7E3B-4847-B3D4-B9FAD1BE05ED}" srcOrd="0" destOrd="0" presId="urn:microsoft.com/office/officeart/2005/8/layout/hProcess11"/>
    <dgm:cxn modelId="{D64374E6-9030-4AC4-844D-585A8C5BBF40}" srcId="{6EF4B90F-CFED-426F-847E-EDEB67898557}" destId="{25BE64E7-14C6-4823-A4EE-750A13984464}" srcOrd="3" destOrd="0" parTransId="{C1642A8E-3EB3-48C9-B748-6DEBD5FD0E20}" sibTransId="{2D104C4C-1B00-44DE-AC01-0044FF8CD5DC}"/>
    <dgm:cxn modelId="{67EFCFEF-B561-46FE-876E-44F68A55667E}" srcId="{6EF4B90F-CFED-426F-847E-EDEB67898557}" destId="{F9764B48-BD54-4846-9EBA-927C298EBEC4}" srcOrd="0" destOrd="0" parTransId="{EAF9353E-9A29-4182-96C5-AA869616ABF2}" sibTransId="{21B18322-2201-4AC6-86EB-14B6013257EF}"/>
    <dgm:cxn modelId="{CE1D1FD1-FEA7-4BAE-B7F7-8889BEC4356A}" type="presParOf" srcId="{ED78F873-9FD9-4988-B1A2-5EC251D8D3DC}" destId="{91143450-81E3-4409-BAF7-F62406AF8B3B}" srcOrd="0" destOrd="0" presId="urn:microsoft.com/office/officeart/2005/8/layout/hProcess11"/>
    <dgm:cxn modelId="{7F7DA945-A318-4CD6-9BF8-34D3C3AB4F86}" type="presParOf" srcId="{ED78F873-9FD9-4988-B1A2-5EC251D8D3DC}" destId="{4C298DC1-D4F4-43C1-B45E-A5BF42C55821}" srcOrd="1" destOrd="0" presId="urn:microsoft.com/office/officeart/2005/8/layout/hProcess11"/>
    <dgm:cxn modelId="{CF89CE62-D245-44A4-AF69-BA2D93FAA03E}" type="presParOf" srcId="{4C298DC1-D4F4-43C1-B45E-A5BF42C55821}" destId="{A541D663-87A9-4847-B6A2-B0AD2D8F93AC}" srcOrd="0" destOrd="0" presId="urn:microsoft.com/office/officeart/2005/8/layout/hProcess11"/>
    <dgm:cxn modelId="{CC22EBBB-D912-49F8-9042-581BE89ECF00}" type="presParOf" srcId="{A541D663-87A9-4847-B6A2-B0AD2D8F93AC}" destId="{82C1D45C-7E3B-4847-B3D4-B9FAD1BE05ED}" srcOrd="0" destOrd="0" presId="urn:microsoft.com/office/officeart/2005/8/layout/hProcess11"/>
    <dgm:cxn modelId="{304B7EF3-090C-4118-8746-DE7413271079}" type="presParOf" srcId="{A541D663-87A9-4847-B6A2-B0AD2D8F93AC}" destId="{862C51D9-5C47-48F1-B405-3B22AA4CCDA6}" srcOrd="1" destOrd="0" presId="urn:microsoft.com/office/officeart/2005/8/layout/hProcess11"/>
    <dgm:cxn modelId="{601CF61C-338F-4A01-AE6C-6B8392094766}" type="presParOf" srcId="{A541D663-87A9-4847-B6A2-B0AD2D8F93AC}" destId="{529FC0E3-C694-450E-BDC2-7DE72FD70D90}" srcOrd="2" destOrd="0" presId="urn:microsoft.com/office/officeart/2005/8/layout/hProcess11"/>
    <dgm:cxn modelId="{F5BC0250-951D-41D6-8A4E-3D288FBEE850}" type="presParOf" srcId="{4C298DC1-D4F4-43C1-B45E-A5BF42C55821}" destId="{1FE9F59A-55E4-44BE-B7AC-9EF4D8FA7662}" srcOrd="1" destOrd="0" presId="urn:microsoft.com/office/officeart/2005/8/layout/hProcess11"/>
    <dgm:cxn modelId="{ACA6375D-6823-4206-A815-A2E7AA5C3F1E}" type="presParOf" srcId="{4C298DC1-D4F4-43C1-B45E-A5BF42C55821}" destId="{B5314B4C-4076-45CA-9785-AA5C79CDB2FF}" srcOrd="2" destOrd="0" presId="urn:microsoft.com/office/officeart/2005/8/layout/hProcess11"/>
    <dgm:cxn modelId="{D3C3099C-45F9-4DB3-B770-E7C6DAF0E026}" type="presParOf" srcId="{B5314B4C-4076-45CA-9785-AA5C79CDB2FF}" destId="{3467EB72-F44F-46BF-A8B9-7B71AFCF26A5}" srcOrd="0" destOrd="0" presId="urn:microsoft.com/office/officeart/2005/8/layout/hProcess11"/>
    <dgm:cxn modelId="{D06D0165-287C-40C3-A71B-3FFD3469DF20}" type="presParOf" srcId="{B5314B4C-4076-45CA-9785-AA5C79CDB2FF}" destId="{F2FC281A-9E0B-487D-9C18-B5F0C696A2EB}" srcOrd="1" destOrd="0" presId="urn:microsoft.com/office/officeart/2005/8/layout/hProcess11"/>
    <dgm:cxn modelId="{9071605C-5BCE-4932-A361-991B9203668B}" type="presParOf" srcId="{B5314B4C-4076-45CA-9785-AA5C79CDB2FF}" destId="{EC95CD03-BF2E-43DB-BDC3-3E82C118764B}" srcOrd="2" destOrd="0" presId="urn:microsoft.com/office/officeart/2005/8/layout/hProcess11"/>
    <dgm:cxn modelId="{298C9A61-61C9-46B2-98F7-45599BEBDD40}" type="presParOf" srcId="{4C298DC1-D4F4-43C1-B45E-A5BF42C55821}" destId="{6D2AE6CE-623B-4956-BAF3-1A3AF0F8B0E8}" srcOrd="3" destOrd="0" presId="urn:microsoft.com/office/officeart/2005/8/layout/hProcess11"/>
    <dgm:cxn modelId="{E8C094CA-1A5A-4091-AAFD-F7163FD616BE}" type="presParOf" srcId="{4C298DC1-D4F4-43C1-B45E-A5BF42C55821}" destId="{F4D94899-C659-40D6-A5E0-9BC2ACF8B941}" srcOrd="4" destOrd="0" presId="urn:microsoft.com/office/officeart/2005/8/layout/hProcess11"/>
    <dgm:cxn modelId="{5C3948ED-DAD8-4123-8676-967DBDB80FBA}" type="presParOf" srcId="{F4D94899-C659-40D6-A5E0-9BC2ACF8B941}" destId="{6FE6475D-291D-41E0-9B61-20C183E034EB}" srcOrd="0" destOrd="0" presId="urn:microsoft.com/office/officeart/2005/8/layout/hProcess11"/>
    <dgm:cxn modelId="{678E1EF2-6059-4344-9344-4E0D4ACEFF49}" type="presParOf" srcId="{F4D94899-C659-40D6-A5E0-9BC2ACF8B941}" destId="{399C9F28-6891-4A7B-85AB-89DF292870E2}" srcOrd="1" destOrd="0" presId="urn:microsoft.com/office/officeart/2005/8/layout/hProcess11"/>
    <dgm:cxn modelId="{5F8F9C25-5ED2-4140-AAAD-26B9CFE739C4}" type="presParOf" srcId="{F4D94899-C659-40D6-A5E0-9BC2ACF8B941}" destId="{F0F789C1-8CD7-4439-912D-3766D54F2B1D}" srcOrd="2" destOrd="0" presId="urn:microsoft.com/office/officeart/2005/8/layout/hProcess11"/>
    <dgm:cxn modelId="{1026229F-F1C9-418C-B90E-37F9F0CE0AAB}" type="presParOf" srcId="{4C298DC1-D4F4-43C1-B45E-A5BF42C55821}" destId="{E8BFFA79-EC89-48D0-8270-81D284AD90EB}" srcOrd="5" destOrd="0" presId="urn:microsoft.com/office/officeart/2005/8/layout/hProcess11"/>
    <dgm:cxn modelId="{87A72C0C-A55C-4063-9611-D7EFA41E1E45}" type="presParOf" srcId="{4C298DC1-D4F4-43C1-B45E-A5BF42C55821}" destId="{E4CB8EB1-F52F-4B8B-9A46-3036E898ADCC}" srcOrd="6" destOrd="0" presId="urn:microsoft.com/office/officeart/2005/8/layout/hProcess11"/>
    <dgm:cxn modelId="{BA0C39D5-5BC6-471C-B800-3C3107A694D6}" type="presParOf" srcId="{E4CB8EB1-F52F-4B8B-9A46-3036E898ADCC}" destId="{D40A5154-BA56-4302-966A-B492D704DDDE}" srcOrd="0" destOrd="0" presId="urn:microsoft.com/office/officeart/2005/8/layout/hProcess11"/>
    <dgm:cxn modelId="{4926DFE6-8D2F-4194-8720-ADF87B4565EF}" type="presParOf" srcId="{E4CB8EB1-F52F-4B8B-9A46-3036E898ADCC}" destId="{8B4455D0-3DE0-48EC-8019-03D34DAA53CE}" srcOrd="1" destOrd="0" presId="urn:microsoft.com/office/officeart/2005/8/layout/hProcess11"/>
    <dgm:cxn modelId="{B24E9D1E-4394-4570-AFF0-96130109DD73}" type="presParOf" srcId="{E4CB8EB1-F52F-4B8B-9A46-3036E898ADCC}" destId="{90E31548-501E-4014-BE6A-450DBB1566D2}" srcOrd="2" destOrd="0" presId="urn:microsoft.com/office/officeart/2005/8/layout/hProcess11"/>
    <dgm:cxn modelId="{71FC7823-A640-421E-82F2-5AB87B281E66}" type="presParOf" srcId="{4C298DC1-D4F4-43C1-B45E-A5BF42C55821}" destId="{4FB00DEB-8099-4D31-9693-E4FDFB77C4F4}" srcOrd="7" destOrd="0" presId="urn:microsoft.com/office/officeart/2005/8/layout/hProcess11"/>
    <dgm:cxn modelId="{5C35940C-035F-4FD4-91EF-036BCD78E865}" type="presParOf" srcId="{4C298DC1-D4F4-43C1-B45E-A5BF42C55821}" destId="{8E27E7E7-E337-43D8-891D-71B6EA253B7B}" srcOrd="8" destOrd="0" presId="urn:microsoft.com/office/officeart/2005/8/layout/hProcess11"/>
    <dgm:cxn modelId="{1B1C60AF-AD1C-45AE-AB08-41BFB7BE98AD}" type="presParOf" srcId="{8E27E7E7-E337-43D8-891D-71B6EA253B7B}" destId="{9DA95A1A-93FC-4488-A56B-675FAC5C93DB}" srcOrd="0" destOrd="0" presId="urn:microsoft.com/office/officeart/2005/8/layout/hProcess11"/>
    <dgm:cxn modelId="{712A4F71-92C9-483D-8E22-79F3E6E50E41}" type="presParOf" srcId="{8E27E7E7-E337-43D8-891D-71B6EA253B7B}" destId="{E7B520BC-5B0E-4EC6-A1D9-973AAC415C3B}" srcOrd="1" destOrd="0" presId="urn:microsoft.com/office/officeart/2005/8/layout/hProcess11"/>
    <dgm:cxn modelId="{E6F75238-0EBB-4B41-AD63-EA930E86B8D1}" type="presParOf" srcId="{8E27E7E7-E337-43D8-891D-71B6EA253B7B}" destId="{03708C45-73F0-401B-B9A5-1D51F7E2D267}"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8D55A6-C166-40E4-A8CA-AB2E4B2CF376}"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FDFF841-CFA5-438E-BC8C-65DD22B68915}">
      <dgm:prSet/>
      <dgm:spPr/>
      <dgm:t>
        <a:bodyPr/>
        <a:lstStyle/>
        <a:p>
          <a:pPr>
            <a:lnSpc>
              <a:spcPct val="100000"/>
            </a:lnSpc>
          </a:pPr>
          <a:r>
            <a:rPr lang="en-GB" b="1"/>
            <a:t>Viewer</a:t>
          </a:r>
          <a:endParaRPr lang="en-US"/>
        </a:p>
      </dgm:t>
    </dgm:pt>
    <dgm:pt modelId="{374189EF-461E-4E35-BD0B-37121A03DCB5}" type="parTrans" cxnId="{5729FCB1-609C-4A64-80D9-CBDB62D6BC3A}">
      <dgm:prSet/>
      <dgm:spPr/>
      <dgm:t>
        <a:bodyPr/>
        <a:lstStyle/>
        <a:p>
          <a:endParaRPr lang="en-US"/>
        </a:p>
      </dgm:t>
    </dgm:pt>
    <dgm:pt modelId="{455BF7E6-8555-4C61-8797-2962990F405D}" type="sibTrans" cxnId="{5729FCB1-609C-4A64-80D9-CBDB62D6BC3A}">
      <dgm:prSet/>
      <dgm:spPr/>
      <dgm:t>
        <a:bodyPr/>
        <a:lstStyle/>
        <a:p>
          <a:endParaRPr lang="en-US"/>
        </a:p>
      </dgm:t>
    </dgm:pt>
    <dgm:pt modelId="{66A3AD8E-C2EE-4219-BC32-11A374CD464F}">
      <dgm:prSet/>
      <dgm:spPr/>
      <dgm:t>
        <a:bodyPr/>
        <a:lstStyle/>
        <a:p>
          <a:pPr>
            <a:lnSpc>
              <a:spcPct val="100000"/>
            </a:lnSpc>
          </a:pPr>
          <a:r>
            <a:rPr lang="en-GB" b="1"/>
            <a:t>Postal Service Providers</a:t>
          </a:r>
          <a:endParaRPr lang="en-US"/>
        </a:p>
      </dgm:t>
    </dgm:pt>
    <dgm:pt modelId="{46698297-5098-44E1-8DC9-314CFC26A963}" type="parTrans" cxnId="{EFBEFA21-D38A-4D14-BEB3-11CC57FBD63D}">
      <dgm:prSet/>
      <dgm:spPr/>
      <dgm:t>
        <a:bodyPr/>
        <a:lstStyle/>
        <a:p>
          <a:endParaRPr lang="en-US"/>
        </a:p>
      </dgm:t>
    </dgm:pt>
    <dgm:pt modelId="{04C888AE-C17E-4E95-B5E3-D9802720B7BE}" type="sibTrans" cxnId="{EFBEFA21-D38A-4D14-BEB3-11CC57FBD63D}">
      <dgm:prSet/>
      <dgm:spPr/>
      <dgm:t>
        <a:bodyPr/>
        <a:lstStyle/>
        <a:p>
          <a:endParaRPr lang="en-US"/>
        </a:p>
      </dgm:t>
    </dgm:pt>
    <dgm:pt modelId="{B647345A-6A39-426E-844C-015E7E97EE14}">
      <dgm:prSet/>
      <dgm:spPr/>
      <dgm:t>
        <a:bodyPr/>
        <a:lstStyle/>
        <a:p>
          <a:pPr>
            <a:lnSpc>
              <a:spcPct val="100000"/>
            </a:lnSpc>
          </a:pPr>
          <a:r>
            <a:rPr lang="en-US" b="1"/>
            <a:t>Payment Service Providers</a:t>
          </a:r>
          <a:endParaRPr lang="en-US"/>
        </a:p>
      </dgm:t>
    </dgm:pt>
    <dgm:pt modelId="{BD12B73A-0A5C-42F8-BFE0-7BD8D9927F43}" type="parTrans" cxnId="{FEC6D9F4-31AF-4057-9FE5-15F03A8F16A7}">
      <dgm:prSet/>
      <dgm:spPr/>
      <dgm:t>
        <a:bodyPr/>
        <a:lstStyle/>
        <a:p>
          <a:endParaRPr lang="en-US"/>
        </a:p>
      </dgm:t>
    </dgm:pt>
    <dgm:pt modelId="{BB4F5350-E2F4-43E1-A71D-16048176670C}" type="sibTrans" cxnId="{FEC6D9F4-31AF-4057-9FE5-15F03A8F16A7}">
      <dgm:prSet/>
      <dgm:spPr/>
      <dgm:t>
        <a:bodyPr/>
        <a:lstStyle/>
        <a:p>
          <a:endParaRPr lang="en-US"/>
        </a:p>
      </dgm:t>
    </dgm:pt>
    <dgm:pt modelId="{A247BBFC-14E9-4B01-BB38-719F7546C595}" type="pres">
      <dgm:prSet presAssocID="{FE8D55A6-C166-40E4-A8CA-AB2E4B2CF376}" presName="root" presStyleCnt="0">
        <dgm:presLayoutVars>
          <dgm:dir/>
          <dgm:resizeHandles val="exact"/>
        </dgm:presLayoutVars>
      </dgm:prSet>
      <dgm:spPr/>
    </dgm:pt>
    <dgm:pt modelId="{63B6A947-8717-43C4-B8FC-814B429BE587}" type="pres">
      <dgm:prSet presAssocID="{AFDFF841-CFA5-438E-BC8C-65DD22B68915}" presName="compNode" presStyleCnt="0"/>
      <dgm:spPr/>
    </dgm:pt>
    <dgm:pt modelId="{28730CCE-05DC-48B8-A665-6E8B853FD27E}" type="pres">
      <dgm:prSet presAssocID="{AFDFF841-CFA5-438E-BC8C-65DD22B6891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a:ext>
            </a:extLst>
          </a:blip>
          <a:stretch>
            <a:fillRect/>
          </a:stretch>
        </a:blipFill>
      </dgm:spPr>
      <dgm:extLst>
        <a:ext uri="{E40237B7-FDA0-4F09-8148-C483321AD2D9}">
          <dgm14:cNvPr xmlns:dgm14="http://schemas.microsoft.com/office/drawing/2010/diagram" id="0" name="" descr="Film reel"/>
        </a:ext>
      </dgm:extLst>
    </dgm:pt>
    <dgm:pt modelId="{1D4AE6F0-EDF9-4103-9B16-D84C6E697EF2}" type="pres">
      <dgm:prSet presAssocID="{AFDFF841-CFA5-438E-BC8C-65DD22B68915}" presName="spaceRect" presStyleCnt="0"/>
      <dgm:spPr/>
    </dgm:pt>
    <dgm:pt modelId="{851063B3-6B37-4C96-B161-59D142589553}" type="pres">
      <dgm:prSet presAssocID="{AFDFF841-CFA5-438E-BC8C-65DD22B68915}" presName="textRect" presStyleLbl="revTx" presStyleIdx="0" presStyleCnt="3">
        <dgm:presLayoutVars>
          <dgm:chMax val="1"/>
          <dgm:chPref val="1"/>
        </dgm:presLayoutVars>
      </dgm:prSet>
      <dgm:spPr/>
    </dgm:pt>
    <dgm:pt modelId="{3AFFAFC5-A278-4841-BAC8-EF938F2D9981}" type="pres">
      <dgm:prSet presAssocID="{455BF7E6-8555-4C61-8797-2962990F405D}" presName="sibTrans" presStyleCnt="0"/>
      <dgm:spPr/>
    </dgm:pt>
    <dgm:pt modelId="{BC5F1B1B-EC5C-47DF-A232-89B06C0D9B20}" type="pres">
      <dgm:prSet presAssocID="{66A3AD8E-C2EE-4219-BC32-11A374CD464F}" presName="compNode" presStyleCnt="0"/>
      <dgm:spPr/>
    </dgm:pt>
    <dgm:pt modelId="{8B5E6AEE-C0C8-45E2-91DE-8891FB2C17FE}" type="pres">
      <dgm:prSet presAssocID="{66A3AD8E-C2EE-4219-BC32-11A374CD464F}" presName="icon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a:ext>
            </a:extLst>
          </a:blip>
          <a:stretch>
            <a:fillRect/>
          </a:stretch>
        </a:blipFill>
      </dgm:spPr>
      <dgm:extLst>
        <a:ext uri="{E40237B7-FDA0-4F09-8148-C483321AD2D9}">
          <dgm14:cNvPr xmlns:dgm14="http://schemas.microsoft.com/office/drawing/2010/diagram" id="0" name="" descr="Envelope"/>
        </a:ext>
      </dgm:extLst>
    </dgm:pt>
    <dgm:pt modelId="{9CA64283-16BA-4CC1-B887-14AA902D50A9}" type="pres">
      <dgm:prSet presAssocID="{66A3AD8E-C2EE-4219-BC32-11A374CD464F}" presName="spaceRect" presStyleCnt="0"/>
      <dgm:spPr/>
    </dgm:pt>
    <dgm:pt modelId="{1FA36C49-441D-4DB9-B11E-04E388C5364D}" type="pres">
      <dgm:prSet presAssocID="{66A3AD8E-C2EE-4219-BC32-11A374CD464F}" presName="textRect" presStyleLbl="revTx" presStyleIdx="1" presStyleCnt="3">
        <dgm:presLayoutVars>
          <dgm:chMax val="1"/>
          <dgm:chPref val="1"/>
        </dgm:presLayoutVars>
      </dgm:prSet>
      <dgm:spPr/>
    </dgm:pt>
    <dgm:pt modelId="{5508C2E3-AF18-46DA-8403-B54F399FFDCC}" type="pres">
      <dgm:prSet presAssocID="{04C888AE-C17E-4E95-B5E3-D9802720B7BE}" presName="sibTrans" presStyleCnt="0"/>
      <dgm:spPr/>
    </dgm:pt>
    <dgm:pt modelId="{46A6A5C3-7B10-4B2F-A120-A0633736CFC1}" type="pres">
      <dgm:prSet presAssocID="{B647345A-6A39-426E-844C-015E7E97EE14}" presName="compNode" presStyleCnt="0"/>
      <dgm:spPr/>
    </dgm:pt>
    <dgm:pt modelId="{E5A70DD1-DA3C-4C61-9F68-47A8547AB7F8}" type="pres">
      <dgm:prSet presAssocID="{B647345A-6A39-426E-844C-015E7E97EE14}" presName="icon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a:ext>
            </a:extLst>
          </a:blip>
          <a:stretch>
            <a:fillRect/>
          </a:stretch>
        </a:blipFill>
      </dgm:spPr>
      <dgm:extLst>
        <a:ext uri="{E40237B7-FDA0-4F09-8148-C483321AD2D9}">
          <dgm14:cNvPr xmlns:dgm14="http://schemas.microsoft.com/office/drawing/2010/diagram" id="0" name="" descr="Money"/>
        </a:ext>
      </dgm:extLst>
    </dgm:pt>
    <dgm:pt modelId="{4C672F4C-AE18-42F5-8F86-0A946D990877}" type="pres">
      <dgm:prSet presAssocID="{B647345A-6A39-426E-844C-015E7E97EE14}" presName="spaceRect" presStyleCnt="0"/>
      <dgm:spPr/>
    </dgm:pt>
    <dgm:pt modelId="{4484287E-557E-49EA-803D-596C61C2C595}" type="pres">
      <dgm:prSet presAssocID="{B647345A-6A39-426E-844C-015E7E97EE14}" presName="textRect" presStyleLbl="revTx" presStyleIdx="2" presStyleCnt="3">
        <dgm:presLayoutVars>
          <dgm:chMax val="1"/>
          <dgm:chPref val="1"/>
        </dgm:presLayoutVars>
      </dgm:prSet>
      <dgm:spPr/>
    </dgm:pt>
  </dgm:ptLst>
  <dgm:cxnLst>
    <dgm:cxn modelId="{6A548108-4020-4DD3-8E70-0293DCE3E724}" type="presOf" srcId="{AFDFF841-CFA5-438E-BC8C-65DD22B68915}" destId="{851063B3-6B37-4C96-B161-59D142589553}" srcOrd="0" destOrd="0" presId="urn:microsoft.com/office/officeart/2018/2/layout/IconLabelList"/>
    <dgm:cxn modelId="{9BB04313-A38D-49C3-A5B8-FE8FC0C42130}" type="presOf" srcId="{FE8D55A6-C166-40E4-A8CA-AB2E4B2CF376}" destId="{A247BBFC-14E9-4B01-BB38-719F7546C595}" srcOrd="0" destOrd="0" presId="urn:microsoft.com/office/officeart/2018/2/layout/IconLabelList"/>
    <dgm:cxn modelId="{EFBEFA21-D38A-4D14-BEB3-11CC57FBD63D}" srcId="{FE8D55A6-C166-40E4-A8CA-AB2E4B2CF376}" destId="{66A3AD8E-C2EE-4219-BC32-11A374CD464F}" srcOrd="1" destOrd="0" parTransId="{46698297-5098-44E1-8DC9-314CFC26A963}" sibTransId="{04C888AE-C17E-4E95-B5E3-D9802720B7BE}"/>
    <dgm:cxn modelId="{ACC9A139-CE93-4E10-A479-BDAB91DB3D48}" type="presOf" srcId="{B647345A-6A39-426E-844C-015E7E97EE14}" destId="{4484287E-557E-49EA-803D-596C61C2C595}" srcOrd="0" destOrd="0" presId="urn:microsoft.com/office/officeart/2018/2/layout/IconLabelList"/>
    <dgm:cxn modelId="{00953D57-439E-4478-81E7-385A76625814}" type="presOf" srcId="{66A3AD8E-C2EE-4219-BC32-11A374CD464F}" destId="{1FA36C49-441D-4DB9-B11E-04E388C5364D}" srcOrd="0" destOrd="0" presId="urn:microsoft.com/office/officeart/2018/2/layout/IconLabelList"/>
    <dgm:cxn modelId="{5729FCB1-609C-4A64-80D9-CBDB62D6BC3A}" srcId="{FE8D55A6-C166-40E4-A8CA-AB2E4B2CF376}" destId="{AFDFF841-CFA5-438E-BC8C-65DD22B68915}" srcOrd="0" destOrd="0" parTransId="{374189EF-461E-4E35-BD0B-37121A03DCB5}" sibTransId="{455BF7E6-8555-4C61-8797-2962990F405D}"/>
    <dgm:cxn modelId="{FEC6D9F4-31AF-4057-9FE5-15F03A8F16A7}" srcId="{FE8D55A6-C166-40E4-A8CA-AB2E4B2CF376}" destId="{B647345A-6A39-426E-844C-015E7E97EE14}" srcOrd="2" destOrd="0" parTransId="{BD12B73A-0A5C-42F8-BFE0-7BD8D9927F43}" sibTransId="{BB4F5350-E2F4-43E1-A71D-16048176670C}"/>
    <dgm:cxn modelId="{A7BD8713-F087-4E23-8E8E-21F9C736AB8F}" type="presParOf" srcId="{A247BBFC-14E9-4B01-BB38-719F7546C595}" destId="{63B6A947-8717-43C4-B8FC-814B429BE587}" srcOrd="0" destOrd="0" presId="urn:microsoft.com/office/officeart/2018/2/layout/IconLabelList"/>
    <dgm:cxn modelId="{62CEC2AF-359A-4CB9-843F-776C6745CE67}" type="presParOf" srcId="{63B6A947-8717-43C4-B8FC-814B429BE587}" destId="{28730CCE-05DC-48B8-A665-6E8B853FD27E}" srcOrd="0" destOrd="0" presId="urn:microsoft.com/office/officeart/2018/2/layout/IconLabelList"/>
    <dgm:cxn modelId="{757F99CA-1699-405B-AD1F-4FE02598D2F0}" type="presParOf" srcId="{63B6A947-8717-43C4-B8FC-814B429BE587}" destId="{1D4AE6F0-EDF9-4103-9B16-D84C6E697EF2}" srcOrd="1" destOrd="0" presId="urn:microsoft.com/office/officeart/2018/2/layout/IconLabelList"/>
    <dgm:cxn modelId="{30228446-61DF-4B97-9FA1-A8F8140E0164}" type="presParOf" srcId="{63B6A947-8717-43C4-B8FC-814B429BE587}" destId="{851063B3-6B37-4C96-B161-59D142589553}" srcOrd="2" destOrd="0" presId="urn:microsoft.com/office/officeart/2018/2/layout/IconLabelList"/>
    <dgm:cxn modelId="{D3F4C6C1-0B85-4864-9259-CFACD88D306E}" type="presParOf" srcId="{A247BBFC-14E9-4B01-BB38-719F7546C595}" destId="{3AFFAFC5-A278-4841-BAC8-EF938F2D9981}" srcOrd="1" destOrd="0" presId="urn:microsoft.com/office/officeart/2018/2/layout/IconLabelList"/>
    <dgm:cxn modelId="{92B063B9-E583-4AD7-AD08-261E1568CA3E}" type="presParOf" srcId="{A247BBFC-14E9-4B01-BB38-719F7546C595}" destId="{BC5F1B1B-EC5C-47DF-A232-89B06C0D9B20}" srcOrd="2" destOrd="0" presId="urn:microsoft.com/office/officeart/2018/2/layout/IconLabelList"/>
    <dgm:cxn modelId="{F76EAA86-27C4-4BF7-8E3C-B908FC014730}" type="presParOf" srcId="{BC5F1B1B-EC5C-47DF-A232-89B06C0D9B20}" destId="{8B5E6AEE-C0C8-45E2-91DE-8891FB2C17FE}" srcOrd="0" destOrd="0" presId="urn:microsoft.com/office/officeart/2018/2/layout/IconLabelList"/>
    <dgm:cxn modelId="{F82DA3AC-6804-405A-9C41-7E1A45AECC5D}" type="presParOf" srcId="{BC5F1B1B-EC5C-47DF-A232-89B06C0D9B20}" destId="{9CA64283-16BA-4CC1-B887-14AA902D50A9}" srcOrd="1" destOrd="0" presId="urn:microsoft.com/office/officeart/2018/2/layout/IconLabelList"/>
    <dgm:cxn modelId="{F98B5A3B-808A-4E2D-85C6-387F6B036213}" type="presParOf" srcId="{BC5F1B1B-EC5C-47DF-A232-89B06C0D9B20}" destId="{1FA36C49-441D-4DB9-B11E-04E388C5364D}" srcOrd="2" destOrd="0" presId="urn:microsoft.com/office/officeart/2018/2/layout/IconLabelList"/>
    <dgm:cxn modelId="{F7E30FBC-3D1D-4FAD-8AAB-C37E5C83D92F}" type="presParOf" srcId="{A247BBFC-14E9-4B01-BB38-719F7546C595}" destId="{5508C2E3-AF18-46DA-8403-B54F399FFDCC}" srcOrd="3" destOrd="0" presId="urn:microsoft.com/office/officeart/2018/2/layout/IconLabelList"/>
    <dgm:cxn modelId="{281ABFAB-3C68-4712-9F06-2F1A53DEACFF}" type="presParOf" srcId="{A247BBFC-14E9-4B01-BB38-719F7546C595}" destId="{46A6A5C3-7B10-4B2F-A120-A0633736CFC1}" srcOrd="4" destOrd="0" presId="urn:microsoft.com/office/officeart/2018/2/layout/IconLabelList"/>
    <dgm:cxn modelId="{892C0829-F4CF-42D9-8349-00E8B1BA04B4}" type="presParOf" srcId="{46A6A5C3-7B10-4B2F-A120-A0633736CFC1}" destId="{E5A70DD1-DA3C-4C61-9F68-47A8547AB7F8}" srcOrd="0" destOrd="0" presId="urn:microsoft.com/office/officeart/2018/2/layout/IconLabelList"/>
    <dgm:cxn modelId="{E2D0ED17-B3A8-4908-9F04-AF7511007F24}" type="presParOf" srcId="{46A6A5C3-7B10-4B2F-A120-A0633736CFC1}" destId="{4C672F4C-AE18-42F5-8F86-0A946D990877}" srcOrd="1" destOrd="0" presId="urn:microsoft.com/office/officeart/2018/2/layout/IconLabelList"/>
    <dgm:cxn modelId="{35800422-0FF8-4E05-AE87-846C4536330E}" type="presParOf" srcId="{46A6A5C3-7B10-4B2F-A120-A0633736CFC1}" destId="{4484287E-557E-49EA-803D-596C61C2C59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143450-81E3-4409-BAF7-F62406AF8B3B}">
      <dsp:nvSpPr>
        <dsp:cNvPr id="0" name=""/>
        <dsp:cNvSpPr/>
      </dsp:nvSpPr>
      <dsp:spPr>
        <a:xfrm>
          <a:off x="0" y="1204217"/>
          <a:ext cx="9918659" cy="1605623"/>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C1D45C-7E3B-4847-B3D4-B9FAD1BE05ED}">
      <dsp:nvSpPr>
        <dsp:cNvPr id="0" name=""/>
        <dsp:cNvSpPr/>
      </dsp:nvSpPr>
      <dsp:spPr>
        <a:xfrm>
          <a:off x="3922" y="0"/>
          <a:ext cx="1715182" cy="1605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Joined </a:t>
          </a:r>
          <a:r>
            <a:rPr lang="en-US" sz="1800" b="1" kern="1200" dirty="0" err="1">
              <a:solidFill>
                <a:schemeClr val="accent1">
                  <a:lumMod val="76000"/>
                </a:schemeClr>
              </a:solidFill>
            </a:rPr>
            <a:t>GreenCheck</a:t>
          </a:r>
          <a:r>
            <a:rPr lang="en-US" sz="1800" b="1" kern="1200" dirty="0">
              <a:solidFill>
                <a:schemeClr val="accent1">
                  <a:lumMod val="76000"/>
                </a:schemeClr>
              </a:solidFill>
            </a:rPr>
            <a:t> AI</a:t>
          </a:r>
        </a:p>
        <a:p>
          <a:pPr marL="0" lvl="0" indent="0" algn="ctr" defTabSz="800100">
            <a:lnSpc>
              <a:spcPct val="90000"/>
            </a:lnSpc>
            <a:spcBef>
              <a:spcPct val="0"/>
            </a:spcBef>
            <a:spcAft>
              <a:spcPct val="35000"/>
            </a:spcAft>
            <a:buNone/>
          </a:pPr>
          <a:endParaRPr lang="en-SG" sz="1800" b="1" kern="1200" dirty="0">
            <a:solidFill>
              <a:schemeClr val="accent1">
                <a:lumMod val="76000"/>
              </a:schemeClr>
            </a:solidFill>
          </a:endParaRPr>
        </a:p>
      </dsp:txBody>
      <dsp:txXfrm>
        <a:off x="3922" y="0"/>
        <a:ext cx="1715182" cy="1605623"/>
      </dsp:txXfrm>
    </dsp:sp>
    <dsp:sp modelId="{862C51D9-5C47-48F1-B405-3B22AA4CCDA6}">
      <dsp:nvSpPr>
        <dsp:cNvPr id="0" name=""/>
        <dsp:cNvSpPr/>
      </dsp:nvSpPr>
      <dsp:spPr>
        <a:xfrm>
          <a:off x="660811" y="1806326"/>
          <a:ext cx="401405" cy="401405"/>
        </a:xfrm>
        <a:prstGeom prst="ellipse">
          <a:avLst/>
        </a:prstGeom>
        <a:solidFill>
          <a:schemeClr val="accent1">
            <a:alpha val="9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67EB72-F44F-46BF-A8B9-7B71AFCF26A5}">
      <dsp:nvSpPr>
        <dsp:cNvPr id="0" name=""/>
        <dsp:cNvSpPr/>
      </dsp:nvSpPr>
      <dsp:spPr>
        <a:xfrm>
          <a:off x="1804864" y="2408435"/>
          <a:ext cx="1715182" cy="1605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i="0" kern="1200" dirty="0"/>
            <a:t>Find out issues and risks</a:t>
          </a:r>
          <a:endParaRPr lang="en-SG" sz="1800" i="0" kern="1200" dirty="0"/>
        </a:p>
      </dsp:txBody>
      <dsp:txXfrm>
        <a:off x="1804864" y="2408435"/>
        <a:ext cx="1715182" cy="1605623"/>
      </dsp:txXfrm>
    </dsp:sp>
    <dsp:sp modelId="{F2FC281A-9E0B-487D-9C18-B5F0C696A2EB}">
      <dsp:nvSpPr>
        <dsp:cNvPr id="0" name=""/>
        <dsp:cNvSpPr/>
      </dsp:nvSpPr>
      <dsp:spPr>
        <a:xfrm>
          <a:off x="2461752" y="1806326"/>
          <a:ext cx="401405" cy="401405"/>
        </a:xfrm>
        <a:prstGeom prst="ellipse">
          <a:avLst/>
        </a:prstGeom>
        <a:solidFill>
          <a:schemeClr val="accent1">
            <a:alpha val="90000"/>
            <a:hueOff val="0"/>
            <a:satOff val="0"/>
            <a:lumOff val="0"/>
            <a:alphaOff val="-1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E6475D-291D-41E0-9B61-20C183E034EB}">
      <dsp:nvSpPr>
        <dsp:cNvPr id="0" name=""/>
        <dsp:cNvSpPr/>
      </dsp:nvSpPr>
      <dsp:spPr>
        <a:xfrm>
          <a:off x="3605805" y="0"/>
          <a:ext cx="1715182" cy="1605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ko-KR" sz="1800" i="0" kern="1200" dirty="0"/>
            <a:t>Deciding and choosing new project</a:t>
          </a:r>
        </a:p>
        <a:p>
          <a:pPr marL="0" lvl="0" indent="0" algn="ctr" defTabSz="800100">
            <a:lnSpc>
              <a:spcPct val="90000"/>
            </a:lnSpc>
            <a:spcBef>
              <a:spcPct val="0"/>
            </a:spcBef>
            <a:spcAft>
              <a:spcPct val="35000"/>
            </a:spcAft>
            <a:buNone/>
          </a:pPr>
          <a:endParaRPr lang="en-SG" sz="1800" i="0" kern="1200" dirty="0"/>
        </a:p>
      </dsp:txBody>
      <dsp:txXfrm>
        <a:off x="3605805" y="0"/>
        <a:ext cx="1715182" cy="1605623"/>
      </dsp:txXfrm>
    </dsp:sp>
    <dsp:sp modelId="{399C9F28-6891-4A7B-85AB-89DF292870E2}">
      <dsp:nvSpPr>
        <dsp:cNvPr id="0" name=""/>
        <dsp:cNvSpPr/>
      </dsp:nvSpPr>
      <dsp:spPr>
        <a:xfrm>
          <a:off x="4262693" y="1806326"/>
          <a:ext cx="401405" cy="401405"/>
        </a:xfrm>
        <a:prstGeom prst="ellipse">
          <a:avLst/>
        </a:prstGeom>
        <a:solidFill>
          <a:schemeClr val="accent1">
            <a:alpha val="90000"/>
            <a:hueOff val="0"/>
            <a:satOff val="0"/>
            <a:lumOff val="0"/>
            <a:alphaOff val="-2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0A5154-BA56-4302-966A-B492D704DDDE}">
      <dsp:nvSpPr>
        <dsp:cNvPr id="0" name=""/>
        <dsp:cNvSpPr/>
      </dsp:nvSpPr>
      <dsp:spPr>
        <a:xfrm>
          <a:off x="5406746" y="2408435"/>
          <a:ext cx="1715182" cy="1605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Joined </a:t>
          </a:r>
          <a:r>
            <a:rPr lang="en-US" sz="1800" b="1" kern="1200" dirty="0">
              <a:solidFill>
                <a:schemeClr val="accent1">
                  <a:lumMod val="76000"/>
                </a:schemeClr>
              </a:solidFill>
            </a:rPr>
            <a:t>Secondhand Marketplace</a:t>
          </a:r>
          <a:endParaRPr lang="en-SG" sz="1800" b="1" kern="1200" dirty="0">
            <a:solidFill>
              <a:schemeClr val="accent1">
                <a:lumMod val="76000"/>
              </a:schemeClr>
            </a:solidFill>
          </a:endParaRPr>
        </a:p>
      </dsp:txBody>
      <dsp:txXfrm>
        <a:off x="5406746" y="2408435"/>
        <a:ext cx="1715182" cy="1605623"/>
      </dsp:txXfrm>
    </dsp:sp>
    <dsp:sp modelId="{8B4455D0-3DE0-48EC-8019-03D34DAA53CE}">
      <dsp:nvSpPr>
        <dsp:cNvPr id="0" name=""/>
        <dsp:cNvSpPr/>
      </dsp:nvSpPr>
      <dsp:spPr>
        <a:xfrm>
          <a:off x="6063634" y="1806326"/>
          <a:ext cx="401405" cy="401405"/>
        </a:xfrm>
        <a:prstGeom prst="ellipse">
          <a:avLst/>
        </a:prstGeom>
        <a:solidFill>
          <a:schemeClr val="accent1">
            <a:alpha val="90000"/>
            <a:hueOff val="0"/>
            <a:satOff val="0"/>
            <a:lumOff val="0"/>
            <a:alphaOff val="-3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A95A1A-93FC-4488-A56B-675FAC5C93DB}">
      <dsp:nvSpPr>
        <dsp:cNvPr id="0" name=""/>
        <dsp:cNvSpPr/>
      </dsp:nvSpPr>
      <dsp:spPr>
        <a:xfrm>
          <a:off x="7207688" y="0"/>
          <a:ext cx="1715182" cy="1605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i="0" kern="1200" dirty="0">
              <a:solidFill>
                <a:schemeClr val="accent1">
                  <a:lumMod val="76000"/>
                </a:schemeClr>
              </a:solidFill>
            </a:rPr>
            <a:t>Implementation in progress</a:t>
          </a:r>
        </a:p>
        <a:p>
          <a:pPr marL="0" lvl="0" indent="0" algn="ctr" defTabSz="800100">
            <a:lnSpc>
              <a:spcPct val="90000"/>
            </a:lnSpc>
            <a:spcBef>
              <a:spcPct val="0"/>
            </a:spcBef>
            <a:spcAft>
              <a:spcPct val="35000"/>
            </a:spcAft>
            <a:buNone/>
          </a:pPr>
          <a:endParaRPr lang="en-SG" sz="1800" i="0" kern="1200" dirty="0">
            <a:solidFill>
              <a:schemeClr val="accent1">
                <a:lumMod val="76000"/>
              </a:schemeClr>
            </a:solidFill>
          </a:endParaRPr>
        </a:p>
      </dsp:txBody>
      <dsp:txXfrm>
        <a:off x="7207688" y="0"/>
        <a:ext cx="1715182" cy="1605623"/>
      </dsp:txXfrm>
    </dsp:sp>
    <dsp:sp modelId="{E7B520BC-5B0E-4EC6-A1D9-973AAC415C3B}">
      <dsp:nvSpPr>
        <dsp:cNvPr id="0" name=""/>
        <dsp:cNvSpPr/>
      </dsp:nvSpPr>
      <dsp:spPr>
        <a:xfrm>
          <a:off x="7864576" y="1806326"/>
          <a:ext cx="401405" cy="401405"/>
        </a:xfrm>
        <a:prstGeom prst="ellipse">
          <a:avLst/>
        </a:prstGeom>
        <a:solidFill>
          <a:schemeClr val="accent1">
            <a:alpha val="90000"/>
            <a:hueOff val="0"/>
            <a:satOff val="0"/>
            <a:lumOff val="0"/>
            <a:alpha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30CCE-05DC-48B8-A665-6E8B853FD27E}">
      <dsp:nvSpPr>
        <dsp:cNvPr id="0" name=""/>
        <dsp:cNvSpPr/>
      </dsp:nvSpPr>
      <dsp:spPr>
        <a:xfrm>
          <a:off x="883001" y="803615"/>
          <a:ext cx="1435750" cy="14357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1063B3-6B37-4C96-B161-59D142589553}">
      <dsp:nvSpPr>
        <dsp:cNvPr id="0" name=""/>
        <dsp:cNvSpPr/>
      </dsp:nvSpPr>
      <dsp:spPr>
        <a:xfrm>
          <a:off x="5598" y="2619799"/>
          <a:ext cx="319055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pPr>
          <a:r>
            <a:rPr lang="en-GB" sz="2500" b="1" kern="1200"/>
            <a:t>Viewer</a:t>
          </a:r>
          <a:endParaRPr lang="en-US" sz="2500" kern="1200"/>
        </a:p>
      </dsp:txBody>
      <dsp:txXfrm>
        <a:off x="5598" y="2619799"/>
        <a:ext cx="3190556" cy="720000"/>
      </dsp:txXfrm>
    </dsp:sp>
    <dsp:sp modelId="{8B5E6AEE-C0C8-45E2-91DE-8891FB2C17FE}">
      <dsp:nvSpPr>
        <dsp:cNvPr id="0" name=""/>
        <dsp:cNvSpPr/>
      </dsp:nvSpPr>
      <dsp:spPr>
        <a:xfrm>
          <a:off x="4631905" y="803615"/>
          <a:ext cx="1435750" cy="1435750"/>
        </a:xfrm>
        <a:prstGeom prst="rect">
          <a:avLst/>
        </a:prstGeom>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A36C49-441D-4DB9-B11E-04E388C5364D}">
      <dsp:nvSpPr>
        <dsp:cNvPr id="0" name=""/>
        <dsp:cNvSpPr/>
      </dsp:nvSpPr>
      <dsp:spPr>
        <a:xfrm>
          <a:off x="3754502" y="2619799"/>
          <a:ext cx="319055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pPr>
          <a:r>
            <a:rPr lang="en-GB" sz="2500" b="1" kern="1200"/>
            <a:t>Postal Service Providers</a:t>
          </a:r>
          <a:endParaRPr lang="en-US" sz="2500" kern="1200"/>
        </a:p>
      </dsp:txBody>
      <dsp:txXfrm>
        <a:off x="3754502" y="2619799"/>
        <a:ext cx="3190556" cy="720000"/>
      </dsp:txXfrm>
    </dsp:sp>
    <dsp:sp modelId="{E5A70DD1-DA3C-4C61-9F68-47A8547AB7F8}">
      <dsp:nvSpPr>
        <dsp:cNvPr id="0" name=""/>
        <dsp:cNvSpPr/>
      </dsp:nvSpPr>
      <dsp:spPr>
        <a:xfrm>
          <a:off x="8380809" y="803615"/>
          <a:ext cx="1435750" cy="14357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84287E-557E-49EA-803D-596C61C2C595}">
      <dsp:nvSpPr>
        <dsp:cNvPr id="0" name=""/>
        <dsp:cNvSpPr/>
      </dsp:nvSpPr>
      <dsp:spPr>
        <a:xfrm>
          <a:off x="7503406" y="2619799"/>
          <a:ext cx="319055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pPr>
          <a:r>
            <a:rPr lang="en-US" sz="2500" b="1" kern="1200"/>
            <a:t>Payment Service Providers</a:t>
          </a:r>
          <a:endParaRPr lang="en-US" sz="2500" kern="1200"/>
        </a:p>
      </dsp:txBody>
      <dsp:txXfrm>
        <a:off x="7503406" y="2619799"/>
        <a:ext cx="3190556"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2A9E3-05DF-4CCB-B252-212673E24112}" type="datetimeFigureOut">
              <a:t>3/2/26</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30460C-9265-418C-8F57-37AEAC609894}" type="slidenum">
              <a:t>‹#›</a:t>
            </a:fld>
            <a:endParaRPr lang="ko-KR" altLang="en-US"/>
          </a:p>
        </p:txBody>
      </p:sp>
    </p:spTree>
    <p:extLst>
      <p:ext uri="{BB962C8B-B14F-4D97-AF65-F5344CB8AC3E}">
        <p14:creationId xmlns:p14="http://schemas.microsoft.com/office/powerpoint/2010/main" val="119591089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124D71D3-5B7F-4ED4-8001-280DCDDBBCE9}" type="slidenum">
              <a:rPr lang="en-SG" smtClean="0"/>
              <a:t>2</a:t>
            </a:fld>
            <a:endParaRPr lang="en-SG"/>
          </a:p>
        </p:txBody>
      </p:sp>
    </p:spTree>
    <p:extLst>
      <p:ext uri="{BB962C8B-B14F-4D97-AF65-F5344CB8AC3E}">
        <p14:creationId xmlns:p14="http://schemas.microsoft.com/office/powerpoint/2010/main" val="3800635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Alex</a:t>
            </a:r>
          </a:p>
        </p:txBody>
      </p:sp>
      <p:sp>
        <p:nvSpPr>
          <p:cNvPr id="4" name="Slide Number Placeholder 3"/>
          <p:cNvSpPr>
            <a:spLocks noGrp="1"/>
          </p:cNvSpPr>
          <p:nvPr>
            <p:ph type="sldNum" sz="quarter" idx="5"/>
          </p:nvPr>
        </p:nvSpPr>
        <p:spPr/>
        <p:txBody>
          <a:bodyPr/>
          <a:lstStyle/>
          <a:p>
            <a:fld id="{3430460C-9265-418C-8F57-37AEAC609894}" type="slidenum">
              <a:rPr lang="en-US"/>
              <a:t>9</a:t>
            </a:fld>
            <a:endParaRPr lang="en-US" altLang="ko-KR"/>
          </a:p>
        </p:txBody>
      </p:sp>
    </p:spTree>
    <p:extLst>
      <p:ext uri="{BB962C8B-B14F-4D97-AF65-F5344CB8AC3E}">
        <p14:creationId xmlns:p14="http://schemas.microsoft.com/office/powerpoint/2010/main" val="2755364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Alex</a:t>
            </a:r>
          </a:p>
        </p:txBody>
      </p:sp>
      <p:sp>
        <p:nvSpPr>
          <p:cNvPr id="4" name="Slide Number Placeholder 3"/>
          <p:cNvSpPr>
            <a:spLocks noGrp="1"/>
          </p:cNvSpPr>
          <p:nvPr>
            <p:ph type="sldNum" sz="quarter" idx="5"/>
          </p:nvPr>
        </p:nvSpPr>
        <p:spPr/>
        <p:txBody>
          <a:bodyPr/>
          <a:lstStyle/>
          <a:p>
            <a:fld id="{3430460C-9265-418C-8F57-37AEAC609894}" type="slidenum">
              <a:rPr lang="en-US"/>
              <a:t>10</a:t>
            </a:fld>
            <a:endParaRPr lang="en-US" altLang="ko-KR"/>
          </a:p>
        </p:txBody>
      </p:sp>
    </p:spTree>
    <p:extLst>
      <p:ext uri="{BB962C8B-B14F-4D97-AF65-F5344CB8AC3E}">
        <p14:creationId xmlns:p14="http://schemas.microsoft.com/office/powerpoint/2010/main" val="1402634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B9E1E-89D5-0A85-0DCB-A577CA61B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B0A5D-8E7A-D82A-AF3B-FE9CCC372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1271A-E1FF-5CC4-4DE1-5F12C8CC8814}"/>
              </a:ext>
            </a:extLst>
          </p:cNvPr>
          <p:cNvSpPr>
            <a:spLocks noGrp="1"/>
          </p:cNvSpPr>
          <p:nvPr>
            <p:ph type="body" idx="1"/>
          </p:nvPr>
        </p:nvSpPr>
        <p:spPr/>
        <p:txBody>
          <a:bodyPr/>
          <a:lstStyle/>
          <a:p>
            <a:r>
              <a:rPr lang="en-US">
                <a:ea typeface="Calibri"/>
                <a:cs typeface="Calibri"/>
              </a:rPr>
              <a:t>Alex</a:t>
            </a:r>
          </a:p>
        </p:txBody>
      </p:sp>
      <p:sp>
        <p:nvSpPr>
          <p:cNvPr id="4" name="Slide Number Placeholder 3">
            <a:extLst>
              <a:ext uri="{FF2B5EF4-FFF2-40B4-BE49-F238E27FC236}">
                <a16:creationId xmlns:a16="http://schemas.microsoft.com/office/drawing/2014/main" id="{85BF5965-F375-5BE6-DD2C-85B97815F6FD}"/>
              </a:ext>
            </a:extLst>
          </p:cNvPr>
          <p:cNvSpPr>
            <a:spLocks noGrp="1"/>
          </p:cNvSpPr>
          <p:nvPr>
            <p:ph type="sldNum" sz="quarter" idx="5"/>
          </p:nvPr>
        </p:nvSpPr>
        <p:spPr/>
        <p:txBody>
          <a:bodyPr/>
          <a:lstStyle/>
          <a:p>
            <a:fld id="{BEE66099-8A84-45EF-8474-8C1C30B5694D}" type="slidenum">
              <a:t>11</a:t>
            </a:fld>
            <a:endParaRPr lang="en-US"/>
          </a:p>
        </p:txBody>
      </p:sp>
    </p:spTree>
    <p:extLst>
      <p:ext uri="{BB962C8B-B14F-4D97-AF65-F5344CB8AC3E}">
        <p14:creationId xmlns:p14="http://schemas.microsoft.com/office/powerpoint/2010/main" val="784059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Alex</a:t>
            </a:r>
          </a:p>
          <a:p>
            <a:endParaRPr lang="en-US">
              <a:ea typeface="Calibri"/>
              <a:cs typeface="Calibri"/>
            </a:endParaRPr>
          </a:p>
          <a:p>
            <a:r>
              <a:rPr lang="en-US">
                <a:ea typeface="Calibri"/>
                <a:cs typeface="Calibri"/>
              </a:rPr>
              <a:t>Frontend uses expo which is a simplified react native framework that aims to make development easier. We also use </a:t>
            </a:r>
            <a:r>
              <a:rPr lang="en-US" err="1">
                <a:ea typeface="Calibri"/>
                <a:cs typeface="Calibri"/>
              </a:rPr>
              <a:t>figma</a:t>
            </a:r>
            <a:r>
              <a:rPr lang="en-US">
                <a:ea typeface="Calibri"/>
                <a:cs typeface="Calibri"/>
              </a:rPr>
              <a:t> to design the UI of our webpages, then discussing them with the rest of team before implementing them in typescript.</a:t>
            </a:r>
            <a:endParaRPr lang="en-US"/>
          </a:p>
          <a:p>
            <a:endParaRPr lang="en-US">
              <a:ea typeface="Calibri"/>
              <a:cs typeface="Calibri"/>
            </a:endParaRPr>
          </a:p>
          <a:p>
            <a:r>
              <a:rPr lang="en-US">
                <a:ea typeface="Calibri"/>
                <a:cs typeface="Calibri"/>
              </a:rPr>
              <a:t>Backend is written in Python and uses Flask. It's responsible for handling item uploads, and authentication. We chose it because we wanted contrast with the frontend which is written in typescript as our backend is written in python.</a:t>
            </a:r>
          </a:p>
          <a:p>
            <a:endParaRPr lang="en-US">
              <a:ea typeface="Calibri"/>
              <a:cs typeface="Calibri"/>
            </a:endParaRPr>
          </a:p>
          <a:p>
            <a:r>
              <a:rPr lang="en-US">
                <a:ea typeface="Calibri"/>
                <a:cs typeface="Calibri"/>
              </a:rPr>
              <a:t>We use Postgres for our database as it's very flexible. It stores items in the marketplace, users, and categories for items.</a:t>
            </a:r>
          </a:p>
        </p:txBody>
      </p:sp>
      <p:sp>
        <p:nvSpPr>
          <p:cNvPr id="4" name="Slide Number Placeholder 3"/>
          <p:cNvSpPr>
            <a:spLocks noGrp="1"/>
          </p:cNvSpPr>
          <p:nvPr>
            <p:ph type="sldNum" sz="quarter" idx="5"/>
          </p:nvPr>
        </p:nvSpPr>
        <p:spPr/>
        <p:txBody>
          <a:bodyPr/>
          <a:lstStyle/>
          <a:p>
            <a:fld id="{BEE66099-8A84-45EF-8474-8C1C30B5694D}" type="slidenum">
              <a:t>12</a:t>
            </a:fld>
            <a:endParaRPr lang="en-US"/>
          </a:p>
        </p:txBody>
      </p:sp>
    </p:spTree>
    <p:extLst>
      <p:ext uri="{BB962C8B-B14F-4D97-AF65-F5344CB8AC3E}">
        <p14:creationId xmlns:p14="http://schemas.microsoft.com/office/powerpoint/2010/main" val="16277971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1CF7A-DB71-3E32-0D7A-EBAC0A231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6A179-4557-EE11-B76F-AB6971CEB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FA7D8-EFF8-5D4D-7DEE-4DDBE97E19A7}"/>
              </a:ext>
            </a:extLst>
          </p:cNvPr>
          <p:cNvSpPr>
            <a:spLocks noGrp="1"/>
          </p:cNvSpPr>
          <p:nvPr>
            <p:ph type="body" idx="1"/>
          </p:nvPr>
        </p:nvSpPr>
        <p:spPr/>
        <p:txBody>
          <a:bodyPr/>
          <a:lstStyle/>
          <a:p>
            <a:r>
              <a:rPr lang="en-US">
                <a:ea typeface="Calibri"/>
                <a:cs typeface="Calibri"/>
              </a:rPr>
              <a:t>Alex</a:t>
            </a:r>
          </a:p>
          <a:p>
            <a:endParaRPr lang="en-US">
              <a:ea typeface="Calibri"/>
              <a:cs typeface="Calibri"/>
            </a:endParaRPr>
          </a:p>
          <a:p>
            <a:r>
              <a:rPr lang="en-US">
                <a:ea typeface="Calibri"/>
                <a:cs typeface="Calibri"/>
              </a:rPr>
              <a:t>We use an EC2 instance to run our backend.</a:t>
            </a:r>
          </a:p>
          <a:p>
            <a:endParaRPr lang="en-US">
              <a:ea typeface="Calibri"/>
              <a:cs typeface="Calibri"/>
            </a:endParaRPr>
          </a:p>
          <a:p>
            <a:r>
              <a:rPr lang="en-US">
                <a:ea typeface="Calibri"/>
                <a:cs typeface="Calibri"/>
              </a:rPr>
              <a:t>We use an RDS instance to host our database.</a:t>
            </a:r>
          </a:p>
          <a:p>
            <a:endParaRPr lang="en-US">
              <a:ea typeface="Calibri"/>
              <a:cs typeface="Calibri"/>
            </a:endParaRPr>
          </a:p>
          <a:p>
            <a:r>
              <a:rPr lang="en-US">
                <a:ea typeface="Calibri"/>
                <a:cs typeface="Calibri"/>
              </a:rPr>
              <a:t>We use an S3 instance to store product images as it handles high volume file storage very efficiently. Our backend generates public image URLs that are stored in our database.</a:t>
            </a:r>
          </a:p>
        </p:txBody>
      </p:sp>
      <p:sp>
        <p:nvSpPr>
          <p:cNvPr id="4" name="Slide Number Placeholder 3">
            <a:extLst>
              <a:ext uri="{FF2B5EF4-FFF2-40B4-BE49-F238E27FC236}">
                <a16:creationId xmlns:a16="http://schemas.microsoft.com/office/drawing/2014/main" id="{449C785F-29AC-BC1F-86B8-1F580857D0C2}"/>
              </a:ext>
            </a:extLst>
          </p:cNvPr>
          <p:cNvSpPr>
            <a:spLocks noGrp="1"/>
          </p:cNvSpPr>
          <p:nvPr>
            <p:ph type="sldNum" sz="quarter" idx="5"/>
          </p:nvPr>
        </p:nvSpPr>
        <p:spPr/>
        <p:txBody>
          <a:bodyPr/>
          <a:lstStyle/>
          <a:p>
            <a:fld id="{BEE66099-8A84-45EF-8474-8C1C30B5694D}" type="slidenum">
              <a:t>13</a:t>
            </a:fld>
            <a:endParaRPr lang="en-US"/>
          </a:p>
        </p:txBody>
      </p:sp>
    </p:spTree>
    <p:extLst>
      <p:ext uri="{BB962C8B-B14F-4D97-AF65-F5344CB8AC3E}">
        <p14:creationId xmlns:p14="http://schemas.microsoft.com/office/powerpoint/2010/main" val="434407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D6C7-C3E9-E34B-0AC4-23F81D1F5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40FD7-05EA-CFE0-21A4-5D8349575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E8BF5-47DD-4946-59BC-84F96E9BDDA3}"/>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73CFA6A4-2E8E-5372-5CDC-653506698C9A}"/>
              </a:ext>
            </a:extLst>
          </p:cNvPr>
          <p:cNvSpPr>
            <a:spLocks noGrp="1"/>
          </p:cNvSpPr>
          <p:nvPr>
            <p:ph type="sldNum" sz="quarter" idx="5"/>
          </p:nvPr>
        </p:nvSpPr>
        <p:spPr/>
        <p:txBody>
          <a:bodyPr/>
          <a:lstStyle/>
          <a:p>
            <a:fld id="{BEE66099-8A84-45EF-8474-8C1C30B5694D}" type="slidenum">
              <a:t>14</a:t>
            </a:fld>
            <a:endParaRPr lang="en-US"/>
          </a:p>
        </p:txBody>
      </p:sp>
    </p:spTree>
    <p:extLst>
      <p:ext uri="{BB962C8B-B14F-4D97-AF65-F5344CB8AC3E}">
        <p14:creationId xmlns:p14="http://schemas.microsoft.com/office/powerpoint/2010/main" val="3724120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7B1D-FEA8-0E8B-6676-BD12EA613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E85C1-E2F4-446B-AC79-8A6076722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C544D-404D-4CBD-9721-FCA22BE14F71}"/>
              </a:ext>
            </a:extLst>
          </p:cNvPr>
          <p:cNvSpPr>
            <a:spLocks noGrp="1"/>
          </p:cNvSpPr>
          <p:nvPr>
            <p:ph type="body" idx="1"/>
          </p:nvPr>
        </p:nvSpPr>
        <p:spPr/>
        <p:txBody>
          <a:bodyPr/>
          <a:lstStyle/>
          <a:p>
            <a:r>
              <a:rPr lang="en-US">
                <a:ea typeface="Calibri"/>
                <a:cs typeface="Calibri"/>
              </a:rPr>
              <a:t>Euan</a:t>
            </a:r>
          </a:p>
        </p:txBody>
      </p:sp>
      <p:sp>
        <p:nvSpPr>
          <p:cNvPr id="4" name="Slide Number Placeholder 3">
            <a:extLst>
              <a:ext uri="{FF2B5EF4-FFF2-40B4-BE49-F238E27FC236}">
                <a16:creationId xmlns:a16="http://schemas.microsoft.com/office/drawing/2014/main" id="{3FB17B31-93D8-73DC-4A2D-887A33E19DD1}"/>
              </a:ext>
            </a:extLst>
          </p:cNvPr>
          <p:cNvSpPr>
            <a:spLocks noGrp="1"/>
          </p:cNvSpPr>
          <p:nvPr>
            <p:ph type="sldNum" sz="quarter" idx="5"/>
          </p:nvPr>
        </p:nvSpPr>
        <p:spPr/>
        <p:txBody>
          <a:bodyPr/>
          <a:lstStyle/>
          <a:p>
            <a:fld id="{BEE66099-8A84-45EF-8474-8C1C30B5694D}" type="slidenum">
              <a:t>15</a:t>
            </a:fld>
            <a:endParaRPr lang="en-US"/>
          </a:p>
        </p:txBody>
      </p:sp>
    </p:spTree>
    <p:extLst>
      <p:ext uri="{BB962C8B-B14F-4D97-AF65-F5344CB8AC3E}">
        <p14:creationId xmlns:p14="http://schemas.microsoft.com/office/powerpoint/2010/main" val="2140794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C81E8-1ED6-C635-2C3F-14773ABA8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35DB6-593A-D68B-559F-B1BBD875B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1DF43-CEE5-D7BD-4632-8D7E4F8DF820}"/>
              </a:ext>
            </a:extLst>
          </p:cNvPr>
          <p:cNvSpPr>
            <a:spLocks noGrp="1"/>
          </p:cNvSpPr>
          <p:nvPr>
            <p:ph type="body" idx="1"/>
          </p:nvPr>
        </p:nvSpPr>
        <p:spPr/>
        <p:txBody>
          <a:bodyPr/>
          <a:lstStyle/>
          <a:p>
            <a:r>
              <a:rPr lang="en-US">
                <a:ea typeface="Calibri"/>
                <a:cs typeface="Calibri"/>
              </a:rPr>
              <a:t>Faced issues with CD as we got lazy reviewing PRs causing the workflow in dev to have a typo meaning all subsequent merges would cause the workflow to fail</a:t>
            </a:r>
          </a:p>
        </p:txBody>
      </p:sp>
      <p:sp>
        <p:nvSpPr>
          <p:cNvPr id="4" name="Slide Number Placeholder 3">
            <a:extLst>
              <a:ext uri="{FF2B5EF4-FFF2-40B4-BE49-F238E27FC236}">
                <a16:creationId xmlns:a16="http://schemas.microsoft.com/office/drawing/2014/main" id="{1E67E4ED-C54C-5612-2FEC-72395BC3520A}"/>
              </a:ext>
            </a:extLst>
          </p:cNvPr>
          <p:cNvSpPr>
            <a:spLocks noGrp="1"/>
          </p:cNvSpPr>
          <p:nvPr>
            <p:ph type="sldNum" sz="quarter" idx="5"/>
          </p:nvPr>
        </p:nvSpPr>
        <p:spPr/>
        <p:txBody>
          <a:bodyPr/>
          <a:lstStyle/>
          <a:p>
            <a:fld id="{BEE66099-8A84-45EF-8474-8C1C30B5694D}" type="slidenum">
              <a:t>16</a:t>
            </a:fld>
            <a:endParaRPr lang="en-US"/>
          </a:p>
        </p:txBody>
      </p:sp>
    </p:spTree>
    <p:extLst>
      <p:ext uri="{BB962C8B-B14F-4D97-AF65-F5344CB8AC3E}">
        <p14:creationId xmlns:p14="http://schemas.microsoft.com/office/powerpoint/2010/main" val="2134077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7CA0979-F579-4E9B-A675-1F5ABBFF00DB}" type="datetimeFigureOut">
              <a:rPr lang="en-US" smtClean="0"/>
              <a:t>3/2/26</a:t>
            </a:fld>
            <a:endParaRPr lang="en-US"/>
          </a:p>
        </p:txBody>
      </p:sp>
      <p:sp>
        <p:nvSpPr>
          <p:cNvPr id="5" name="Footer Placeholder 4"/>
          <p:cNvSpPr>
            <a:spLocks noGrp="1"/>
          </p:cNvSpPr>
          <p:nvPr>
            <p:ph type="ftr" sz="quarter" idx="11"/>
          </p:nvPr>
        </p:nvSpPr>
        <p:spPr>
          <a:xfrm>
            <a:off x="2692397" y="5037663"/>
            <a:ext cx="5214635" cy="279400"/>
          </a:xfrm>
        </p:spPr>
        <p:txBody>
          <a:bodyPr/>
          <a:lstStyle/>
          <a:p>
            <a:r>
              <a:rPr lang="en-US"/>
              <a:t>
              </a:t>
            </a:r>
          </a:p>
        </p:txBody>
      </p:sp>
      <p:sp>
        <p:nvSpPr>
          <p:cNvPr id="6" name="Slide Number Placeholder 5"/>
          <p:cNvSpPr>
            <a:spLocks noGrp="1"/>
          </p:cNvSpPr>
          <p:nvPr>
            <p:ph type="sldNum" sz="quarter" idx="12"/>
          </p:nvPr>
        </p:nvSpPr>
        <p:spPr>
          <a:xfrm>
            <a:off x="8956900" y="5037663"/>
            <a:ext cx="551167" cy="279400"/>
          </a:xfrm>
        </p:spPr>
        <p:txBody>
          <a:bodyPr/>
          <a:lstStyle/>
          <a:p>
            <a:fld id="{CC057153-B650-4DEB-B370-79DDCFDCE934}"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256726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E7156E-175E-4DBA-9D21-B772C320F342}"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112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895F6E-3D02-4292-95D1-C62B3126321B}"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9968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CB5ACB-D10C-44A8-9570-124370F4CB38}" type="datetimeFigureOut">
              <a:rPr lang="en-US" smtClean="0"/>
              <a:t>3/2/26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8831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8D84F4-0E7A-4BDE-98C6-AE68FB974645}" type="datetimeFigureOut">
              <a:rPr lang="en-US" smtClean="0"/>
              <a:t>3/2/26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601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EFF1D8-9801-4C4B-92F3-66C9A863BD74}" type="datetimeFigureOut">
              <a:rPr lang="en-US" smtClean="0"/>
              <a:t>3/2/26</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518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1FE8FD-B23E-4E1A-83EF-0847EBEA0105}" type="datetimeFigureOut">
              <a:rPr lang="en-US" smtClean="0"/>
              <a:t>3/2/26</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38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DF891E-A7C2-465C-AD39-8EDCB0F58E3C}" type="datetimeFigureOut">
              <a:rPr lang="en-US" smtClean="0"/>
              <a:t>3/2/26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031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9F93E5-AFB6-485C-8E3C-32F92A07875F}" type="datetimeFigureOut">
              <a:rPr lang="en-US" smtClean="0"/>
              <a:t>3/2/26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13067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332BE1-279E-4118-9FE3-7952B079A510}" type="datetimeFigureOut">
              <a:rPr lang="en-US" smtClean="0"/>
              <a:t>3/2/26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750376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32BE1-279E-4118-9FE3-7952B079A510}"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2968515"/>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32BE1-279E-4118-9FE3-7952B079A510}"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82181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32BE1-279E-4118-9FE3-7952B079A510}"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21724270"/>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32BE1-279E-4118-9FE3-7952B079A510}"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6064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32BE1-279E-4118-9FE3-7952B079A510}"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9890414"/>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E76D0F-5A12-4D0A-80B0-1A6122B61E7B}"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6692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9E8C84-89CA-44AB-B0BE-5C91BAF75478}" type="datetimeFigureOut">
              <a:rPr lang="en-US" smtClean="0"/>
              <a:t>3/2/26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0491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332BE1-279E-4118-9FE3-7952B079A510}" type="datetimeFigureOut">
              <a:rPr lang="en-US" smtClean="0"/>
              <a:t>3/2/26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
              </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449630492"/>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Lst>
  <p:hf hd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8B6B63-B31B-C3C9-1F93-70F82EB4ADB6}"/>
              </a:ext>
            </a:extLst>
          </p:cNvPr>
          <p:cNvSpPr>
            <a:spLocks noGrp="1"/>
          </p:cNvSpPr>
          <p:nvPr>
            <p:ph type="ctrTitle"/>
          </p:nvPr>
        </p:nvSpPr>
        <p:spPr>
          <a:xfrm>
            <a:off x="2075521" y="397336"/>
            <a:ext cx="8040958" cy="3129644"/>
          </a:xfrm>
        </p:spPr>
        <p:txBody>
          <a:bodyPr>
            <a:normAutofit/>
          </a:bodyPr>
          <a:lstStyle/>
          <a:p>
            <a:r>
              <a:rPr lang="ko-KR" sz="4400" dirty="0">
                <a:solidFill>
                  <a:srgbClr val="000000"/>
                </a:solidFill>
                <a:latin typeface="Neue Haas Grotesk Text Pro"/>
              </a:rPr>
              <a:t>Secondhand Marketplace2 </a:t>
            </a:r>
            <a:br>
              <a:rPr lang="ko-KR" sz="4400" dirty="0">
                <a:solidFill>
                  <a:srgbClr val="000000"/>
                </a:solidFill>
                <a:latin typeface="Neue Haas Grotesk Text Pro"/>
              </a:rPr>
            </a:br>
            <a:r>
              <a:rPr lang="ko-KR" sz="4400" dirty="0">
                <a:solidFill>
                  <a:srgbClr val="000000"/>
                </a:solidFill>
                <a:latin typeface="Neue Haas Grotesk Text Pro"/>
              </a:rPr>
              <a:t>Beta Release</a:t>
            </a:r>
            <a:br>
              <a:rPr lang="ko-KR" sz="4400" dirty="0">
                <a:solidFill>
                  <a:srgbClr val="000000"/>
                </a:solidFill>
                <a:latin typeface="Neue Haas Grotesk Text Pro"/>
              </a:rPr>
            </a:br>
            <a:r>
              <a:rPr lang="ko-KR" sz="4400" dirty="0">
                <a:solidFill>
                  <a:srgbClr val="000000"/>
                </a:solidFill>
                <a:latin typeface="Neue Haas Grotesk Text Pro"/>
              </a:rPr>
              <a:t> Pre-GreenCheck AI</a:t>
            </a:r>
            <a:endParaRPr lang="ko-KR" sz="4400" dirty="0"/>
          </a:p>
        </p:txBody>
      </p:sp>
      <p:sp>
        <p:nvSpPr>
          <p:cNvPr id="3" name="부제목 2">
            <a:extLst>
              <a:ext uri="{FF2B5EF4-FFF2-40B4-BE49-F238E27FC236}">
                <a16:creationId xmlns:a16="http://schemas.microsoft.com/office/drawing/2014/main" id="{C6BFD6D8-467C-063A-E14B-1FEC7DE7D19F}"/>
              </a:ext>
            </a:extLst>
          </p:cNvPr>
          <p:cNvSpPr>
            <a:spLocks noGrp="1"/>
          </p:cNvSpPr>
          <p:nvPr>
            <p:ph type="subTitle" idx="1"/>
          </p:nvPr>
        </p:nvSpPr>
        <p:spPr>
          <a:xfrm>
            <a:off x="2301923" y="3575276"/>
            <a:ext cx="7588155" cy="2226084"/>
          </a:xfrm>
        </p:spPr>
        <p:txBody>
          <a:bodyPr vert="horz" lIns="91440" tIns="45720" rIns="91440" bIns="45720" rtlCol="0" anchor="t">
            <a:noAutofit/>
          </a:bodyPr>
          <a:lstStyle/>
          <a:p>
            <a:pPr>
              <a:lnSpc>
                <a:spcPct val="100000"/>
              </a:lnSpc>
            </a:pPr>
            <a:r>
              <a:rPr lang="ko-KR" sz="2000" dirty="0">
                <a:solidFill>
                  <a:srgbClr val="000000"/>
                </a:solidFill>
                <a:latin typeface="Aptos"/>
              </a:rPr>
              <a:t>Alex Hetherington</a:t>
            </a:r>
            <a:endParaRPr lang="ko-KR" sz="2000" dirty="0">
              <a:solidFill>
                <a:srgbClr val="000000"/>
              </a:solidFill>
            </a:endParaRPr>
          </a:p>
          <a:p>
            <a:pPr>
              <a:lnSpc>
                <a:spcPct val="100000"/>
              </a:lnSpc>
            </a:pPr>
            <a:r>
              <a:rPr lang="ko-KR" sz="2000" dirty="0">
                <a:solidFill>
                  <a:srgbClr val="000000"/>
                </a:solidFill>
                <a:latin typeface="Aptos"/>
              </a:rPr>
              <a:t>Euan Chan XuanXi</a:t>
            </a:r>
            <a:endParaRPr lang="ko-KR" sz="2000" dirty="0">
              <a:solidFill>
                <a:srgbClr val="000000"/>
              </a:solidFill>
            </a:endParaRPr>
          </a:p>
          <a:p>
            <a:pPr>
              <a:lnSpc>
                <a:spcPct val="100000"/>
              </a:lnSpc>
            </a:pPr>
            <a:r>
              <a:rPr lang="ko-KR" sz="2000" dirty="0">
                <a:solidFill>
                  <a:srgbClr val="000000"/>
                </a:solidFill>
                <a:latin typeface="Aptos"/>
              </a:rPr>
              <a:t>Freddie de Bruyn</a:t>
            </a:r>
            <a:endParaRPr lang="ko-KR" sz="2000" dirty="0">
              <a:solidFill>
                <a:srgbClr val="000000"/>
              </a:solidFill>
            </a:endParaRPr>
          </a:p>
          <a:p>
            <a:pPr>
              <a:lnSpc>
                <a:spcPct val="100000"/>
              </a:lnSpc>
            </a:pPr>
            <a:r>
              <a:rPr lang="ko-KR" sz="2000" dirty="0">
                <a:solidFill>
                  <a:srgbClr val="000000"/>
                </a:solidFill>
                <a:latin typeface="Aptos"/>
              </a:rPr>
              <a:t>Jen Lee</a:t>
            </a:r>
            <a:endParaRPr lang="ko-KR" sz="2000" dirty="0">
              <a:solidFill>
                <a:srgbClr val="000000"/>
              </a:solidFill>
            </a:endParaRPr>
          </a:p>
          <a:p>
            <a:pPr>
              <a:lnSpc>
                <a:spcPct val="100000"/>
              </a:lnSpc>
            </a:pPr>
            <a:endParaRPr lang="ko-KR" altLang="en-US" dirty="0">
              <a:solidFill>
                <a:srgbClr val="000000"/>
              </a:solidFill>
            </a:endParaRPr>
          </a:p>
        </p:txBody>
      </p:sp>
      <p:sp>
        <p:nvSpPr>
          <p:cNvPr id="4" name="날짜 개체 틀 3">
            <a:extLst>
              <a:ext uri="{FF2B5EF4-FFF2-40B4-BE49-F238E27FC236}">
                <a16:creationId xmlns:a16="http://schemas.microsoft.com/office/drawing/2014/main" id="{BCC41FEE-BA90-4CEF-724E-5AB0D9638EFA}"/>
              </a:ext>
            </a:extLst>
          </p:cNvPr>
          <p:cNvSpPr>
            <a:spLocks noGrp="1"/>
          </p:cNvSpPr>
          <p:nvPr>
            <p:ph type="dt" sz="half" idx="10"/>
          </p:nvPr>
        </p:nvSpPr>
        <p:spPr/>
        <p:txBody>
          <a:bodyPr/>
          <a:lstStyle/>
          <a:p>
            <a:fld id="{DAED6FDC-23DA-422C-9D0F-DCBFA0B554ED}" type="datetime1">
              <a:rPr lang="en-US"/>
              <a:t>3/2/26</a:t>
            </a:fld>
            <a:endParaRPr lang="en-US"/>
          </a:p>
        </p:txBody>
      </p:sp>
      <p:sp>
        <p:nvSpPr>
          <p:cNvPr id="5" name="바닥글 개체 틀 4">
            <a:extLst>
              <a:ext uri="{FF2B5EF4-FFF2-40B4-BE49-F238E27FC236}">
                <a16:creationId xmlns:a16="http://schemas.microsoft.com/office/drawing/2014/main" id="{3DDEFFDA-C2CA-1010-F1C0-8094370F6144}"/>
              </a:ext>
            </a:extLst>
          </p:cNvPr>
          <p:cNvSpPr>
            <a:spLocks noGrp="1"/>
          </p:cNvSpPr>
          <p:nvPr>
            <p:ph type="ftr" sz="quarter" idx="11"/>
          </p:nvPr>
        </p:nvSpPr>
        <p:spPr/>
        <p:txBody>
          <a:bodyPr/>
          <a:lstStyle/>
          <a:p>
            <a:r>
              <a:rPr lang="en-US"/>
              <a:t>
              </a:t>
            </a:r>
          </a:p>
        </p:txBody>
      </p:sp>
      <p:sp>
        <p:nvSpPr>
          <p:cNvPr id="6" name="슬라이드 번호 개체 틀 5">
            <a:extLst>
              <a:ext uri="{FF2B5EF4-FFF2-40B4-BE49-F238E27FC236}">
                <a16:creationId xmlns:a16="http://schemas.microsoft.com/office/drawing/2014/main" id="{20964651-E990-8101-CCA3-E063A40A7834}"/>
              </a:ext>
            </a:extLst>
          </p:cNvPr>
          <p:cNvSpPr>
            <a:spLocks noGrp="1"/>
          </p:cNvSpPr>
          <p:nvPr>
            <p:ph type="sldNum" sz="quarter" idx="12"/>
          </p:nvPr>
        </p:nvSpPr>
        <p:spPr/>
        <p:txBody>
          <a:bodyPr/>
          <a:lstStyle/>
          <a:p>
            <a:fld id="{CC057153-B650-4DEB-B370-79DDCFDCE934}" type="slidenum">
              <a:rPr lang="en-US" dirty="0"/>
              <a:t>1</a:t>
            </a:fld>
            <a:endParaRPr lang="en-US"/>
          </a:p>
        </p:txBody>
      </p:sp>
    </p:spTree>
    <p:extLst>
      <p:ext uri="{BB962C8B-B14F-4D97-AF65-F5344CB8AC3E}">
        <p14:creationId xmlns:p14="http://schemas.microsoft.com/office/powerpoint/2010/main" val="823959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9950E3C8-DEC0-B248-C2DD-811F469031E6}"/>
              </a:ext>
            </a:extLst>
          </p:cNvPr>
          <p:cNvGraphicFramePr>
            <a:graphicFrameLocks noGrp="1"/>
          </p:cNvGraphicFramePr>
          <p:nvPr>
            <p:ph idx="4294967295"/>
            <p:extLst>
              <p:ext uri="{D42A27DB-BD31-4B8C-83A1-F6EECF244321}">
                <p14:modId xmlns:p14="http://schemas.microsoft.com/office/powerpoint/2010/main" val="1254694714"/>
              </p:ext>
            </p:extLst>
          </p:nvPr>
        </p:nvGraphicFramePr>
        <p:xfrm>
          <a:off x="1136670" y="1421970"/>
          <a:ext cx="9918659" cy="40140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3" name="Title 1">
            <a:extLst>
              <a:ext uri="{FF2B5EF4-FFF2-40B4-BE49-F238E27FC236}">
                <a16:creationId xmlns:a16="http://schemas.microsoft.com/office/drawing/2014/main" id="{A325758F-E877-158E-957E-B97877107F97}"/>
              </a:ext>
            </a:extLst>
          </p:cNvPr>
          <p:cNvSpPr txBox="1">
            <a:spLocks/>
          </p:cNvSpPr>
          <p:nvPr/>
        </p:nvSpPr>
        <p:spPr>
          <a:xfrm>
            <a:off x="916489" y="730902"/>
            <a:ext cx="10515600" cy="13255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gn="ctr"/>
            <a:r>
              <a:rPr lang="ko-KR" altLang="en-US" dirty="0"/>
              <a:t>Journey from previous project to now</a:t>
            </a:r>
          </a:p>
        </p:txBody>
      </p:sp>
      <p:sp>
        <p:nvSpPr>
          <p:cNvPr id="3" name="TextBox 2">
            <a:extLst>
              <a:ext uri="{FF2B5EF4-FFF2-40B4-BE49-F238E27FC236}">
                <a16:creationId xmlns:a16="http://schemas.microsoft.com/office/drawing/2014/main" id="{F7E59E0C-9340-880B-C49C-00A785CE3831}"/>
              </a:ext>
            </a:extLst>
          </p:cNvPr>
          <p:cNvSpPr txBox="1"/>
          <p:nvPr/>
        </p:nvSpPr>
        <p:spPr>
          <a:xfrm>
            <a:off x="8603224" y="93952"/>
            <a:ext cx="2985959" cy="369332"/>
          </a:xfrm>
          <a:prstGeom prst="rect">
            <a:avLst/>
          </a:prstGeom>
          <a:noFill/>
        </p:spPr>
        <p:txBody>
          <a:bodyPr wrap="square" lIns="91440" tIns="45720" rIns="91440" bIns="45720" rtlCol="0" anchor="t">
            <a:spAutoFit/>
          </a:bodyPr>
          <a:lstStyle/>
          <a:p>
            <a:r>
              <a:rPr lang="en-US" dirty="0"/>
              <a:t>Now speaking: Euan</a:t>
            </a:r>
          </a:p>
        </p:txBody>
      </p:sp>
    </p:spTree>
    <p:extLst>
      <p:ext uri="{BB962C8B-B14F-4D97-AF65-F5344CB8AC3E}">
        <p14:creationId xmlns:p14="http://schemas.microsoft.com/office/powerpoint/2010/main" val="3464924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B9D9-8A71-A2EB-B6C8-B5ED5BB6D8A6}"/>
              </a:ext>
            </a:extLst>
          </p:cNvPr>
          <p:cNvSpPr>
            <a:spLocks noGrp="1"/>
          </p:cNvSpPr>
          <p:nvPr>
            <p:ph type="title"/>
          </p:nvPr>
        </p:nvSpPr>
        <p:spPr>
          <a:xfrm>
            <a:off x="838200" y="925452"/>
            <a:ext cx="10515600" cy="1325563"/>
          </a:xfrm>
        </p:spPr>
        <p:txBody>
          <a:bodyPr>
            <a:normAutofit/>
          </a:bodyPr>
          <a:lstStyle/>
          <a:p>
            <a:r>
              <a:rPr lang="en-US" dirty="0"/>
              <a:t>Previous Project: </a:t>
            </a:r>
            <a:r>
              <a:rPr lang="en-US" dirty="0" err="1">
                <a:solidFill>
                  <a:schemeClr val="accent1">
                    <a:lumMod val="76000"/>
                  </a:schemeClr>
                </a:solidFill>
              </a:rPr>
              <a:t>GreenCheck</a:t>
            </a:r>
            <a:r>
              <a:rPr lang="en-US" dirty="0">
                <a:solidFill>
                  <a:schemeClr val="accent1">
                    <a:lumMod val="76000"/>
                  </a:schemeClr>
                </a:solidFill>
              </a:rPr>
              <a:t> AI</a:t>
            </a:r>
            <a:br>
              <a:rPr lang="en-US" dirty="0">
                <a:solidFill>
                  <a:schemeClr val="accent1">
                    <a:lumMod val="76000"/>
                  </a:schemeClr>
                </a:solidFill>
              </a:rPr>
            </a:br>
            <a:r>
              <a:rPr lang="en-US" sz="3200" b="0" dirty="0"/>
              <a:t>Greenwashing detection for Legal Pythia</a:t>
            </a:r>
            <a:endParaRPr lang="en-SG" b="0" dirty="0"/>
          </a:p>
        </p:txBody>
      </p:sp>
      <p:sp>
        <p:nvSpPr>
          <p:cNvPr id="3" name="Content Placeholder 2">
            <a:extLst>
              <a:ext uri="{FF2B5EF4-FFF2-40B4-BE49-F238E27FC236}">
                <a16:creationId xmlns:a16="http://schemas.microsoft.com/office/drawing/2014/main" id="{1AF6E6E6-ECDD-24A2-7D66-3B93C638C0CB}"/>
              </a:ext>
            </a:extLst>
          </p:cNvPr>
          <p:cNvSpPr>
            <a:spLocks noGrp="1"/>
          </p:cNvSpPr>
          <p:nvPr>
            <p:ph idx="1"/>
          </p:nvPr>
        </p:nvSpPr>
        <p:spPr>
          <a:xfrm>
            <a:off x="851093" y="2395789"/>
            <a:ext cx="10524259" cy="1739184"/>
          </a:xfrm>
        </p:spPr>
        <p:txBody>
          <a:bodyPr vert="horz" lIns="91440" tIns="45720" rIns="91440" bIns="45720" rtlCol="0" anchor="t">
            <a:noAutofit/>
          </a:bodyPr>
          <a:lstStyle/>
          <a:p>
            <a:pPr marL="0" indent="0">
              <a:buNone/>
            </a:pPr>
            <a:r>
              <a:rPr lang="en-GB" sz="2000" b="1" dirty="0">
                <a:solidFill>
                  <a:schemeClr val="accent1">
                    <a:lumMod val="76000"/>
                  </a:schemeClr>
                </a:solidFill>
              </a:rPr>
              <a:t>Key Issues</a:t>
            </a:r>
            <a:endParaRPr lang="en-GB" sz="2000" dirty="0">
              <a:solidFill>
                <a:schemeClr val="accent1">
                  <a:lumMod val="76000"/>
                </a:schemeClr>
              </a:solidFill>
            </a:endParaRPr>
          </a:p>
          <a:p>
            <a:pPr>
              <a:buFont typeface="Arial" panose="020B0604020202020204" pitchFamily="34" charset="0"/>
              <a:buChar char="•"/>
            </a:pPr>
            <a:r>
              <a:rPr lang="en-GB" sz="2000" dirty="0"/>
              <a:t>100% of frontend and &gt;50% of backend AI-generated</a:t>
            </a:r>
          </a:p>
          <a:p>
            <a:pPr>
              <a:buFont typeface="Arial" panose="020B0604020202020204" pitchFamily="34" charset="0"/>
              <a:buChar char="•"/>
            </a:pPr>
            <a:r>
              <a:rPr lang="en-GB" sz="2000" dirty="0"/>
              <a:t>CTO unable to clearly explain the codebase, Wrapper around Gemini</a:t>
            </a:r>
          </a:p>
          <a:p>
            <a:pPr>
              <a:buFont typeface="Arial" panose="020B0604020202020204" pitchFamily="34" charset="0"/>
              <a:buChar char="•"/>
            </a:pPr>
            <a:r>
              <a:rPr lang="en-GB" sz="2000" dirty="0"/>
              <a:t>Past student work misrepresented as commercial success</a:t>
            </a:r>
          </a:p>
          <a:p>
            <a:pPr marL="0" indent="0">
              <a:buNone/>
            </a:pPr>
            <a:endParaRPr lang="en-GB" sz="2000" dirty="0"/>
          </a:p>
        </p:txBody>
      </p:sp>
      <p:pic>
        <p:nvPicPr>
          <p:cNvPr id="4" name="Content Placeholder 6">
            <a:extLst>
              <a:ext uri="{FF2B5EF4-FFF2-40B4-BE49-F238E27FC236}">
                <a16:creationId xmlns:a16="http://schemas.microsoft.com/office/drawing/2014/main" id="{4E277380-DA57-1628-15B7-5B5B9E6754E1}"/>
              </a:ext>
            </a:extLst>
          </p:cNvPr>
          <p:cNvPicPr>
            <a:picLocks noChangeAspect="1"/>
          </p:cNvPicPr>
          <p:nvPr/>
        </p:nvPicPr>
        <p:blipFill>
          <a:blip/>
          <a:stretch>
            <a:fillRect/>
          </a:stretch>
        </p:blipFill>
        <p:spPr>
          <a:xfrm>
            <a:off x="838200" y="4134972"/>
            <a:ext cx="10537152" cy="2218871"/>
          </a:xfrm>
          <a:prstGeom prst="rect">
            <a:avLst/>
          </a:prstGeom>
        </p:spPr>
      </p:pic>
      <p:sp>
        <p:nvSpPr>
          <p:cNvPr id="5" name="TextBox 4">
            <a:extLst>
              <a:ext uri="{FF2B5EF4-FFF2-40B4-BE49-F238E27FC236}">
                <a16:creationId xmlns:a16="http://schemas.microsoft.com/office/drawing/2014/main" id="{0CA355F2-897D-73D5-E231-28F1FEF84ADE}"/>
              </a:ext>
            </a:extLst>
          </p:cNvPr>
          <p:cNvSpPr txBox="1"/>
          <p:nvPr/>
        </p:nvSpPr>
        <p:spPr>
          <a:xfrm>
            <a:off x="8613056" y="110958"/>
            <a:ext cx="2985959" cy="369332"/>
          </a:xfrm>
          <a:prstGeom prst="rect">
            <a:avLst/>
          </a:prstGeom>
          <a:noFill/>
        </p:spPr>
        <p:txBody>
          <a:bodyPr wrap="square" lIns="91440" tIns="45720" rIns="91440" bIns="45720" rtlCol="0" anchor="t">
            <a:spAutoFit/>
          </a:bodyPr>
          <a:lstStyle/>
          <a:p>
            <a:r>
              <a:rPr lang="en-US" dirty="0"/>
              <a:t>Now speaking: Euan</a:t>
            </a:r>
          </a:p>
        </p:txBody>
      </p:sp>
    </p:spTree>
    <p:extLst>
      <p:ext uri="{BB962C8B-B14F-4D97-AF65-F5344CB8AC3E}">
        <p14:creationId xmlns:p14="http://schemas.microsoft.com/office/powerpoint/2010/main" val="1520537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ECCC6B-10A6-6EF1-753F-5ED2BEEA2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74BA9-04DE-7582-3598-910432D2CFE6}"/>
              </a:ext>
            </a:extLst>
          </p:cNvPr>
          <p:cNvSpPr>
            <a:spLocks noGrp="1"/>
          </p:cNvSpPr>
          <p:nvPr>
            <p:ph type="title"/>
          </p:nvPr>
        </p:nvSpPr>
        <p:spPr>
          <a:xfrm>
            <a:off x="836676" y="897256"/>
            <a:ext cx="10515600" cy="1325563"/>
          </a:xfrm>
        </p:spPr>
        <p:txBody>
          <a:bodyPr>
            <a:normAutofit/>
          </a:bodyPr>
          <a:lstStyle/>
          <a:p>
            <a:r>
              <a:rPr lang="en-US" dirty="0"/>
              <a:t>Previous Project: </a:t>
            </a:r>
            <a:r>
              <a:rPr lang="en-US" dirty="0" err="1">
                <a:solidFill>
                  <a:schemeClr val="accent1">
                    <a:lumMod val="76000"/>
                  </a:schemeClr>
                </a:solidFill>
              </a:rPr>
              <a:t>GreenCheck</a:t>
            </a:r>
            <a:r>
              <a:rPr lang="en-US" dirty="0">
                <a:solidFill>
                  <a:schemeClr val="accent1">
                    <a:lumMod val="76000"/>
                  </a:schemeClr>
                </a:solidFill>
              </a:rPr>
              <a:t> AI</a:t>
            </a:r>
            <a:br>
              <a:rPr lang="en-US" dirty="0"/>
            </a:br>
            <a:r>
              <a:rPr lang="en-US" sz="3200" b="0" dirty="0"/>
              <a:t>Greenwashing detection for Legal Pythia</a:t>
            </a:r>
            <a:endParaRPr lang="en-SG" b="0" dirty="0"/>
          </a:p>
        </p:txBody>
      </p:sp>
      <p:sp>
        <p:nvSpPr>
          <p:cNvPr id="3" name="Content Placeholder 2">
            <a:extLst>
              <a:ext uri="{FF2B5EF4-FFF2-40B4-BE49-F238E27FC236}">
                <a16:creationId xmlns:a16="http://schemas.microsoft.com/office/drawing/2014/main" id="{E8D4CF94-B15F-7731-57EE-D1704D33D5C1}"/>
              </a:ext>
            </a:extLst>
          </p:cNvPr>
          <p:cNvSpPr>
            <a:spLocks noGrp="1"/>
          </p:cNvSpPr>
          <p:nvPr>
            <p:ph idx="1"/>
          </p:nvPr>
        </p:nvSpPr>
        <p:spPr>
          <a:xfrm>
            <a:off x="836676" y="2462805"/>
            <a:ext cx="10515600" cy="4643526"/>
          </a:xfrm>
        </p:spPr>
        <p:txBody>
          <a:bodyPr vert="horz" lIns="91440" tIns="45720" rIns="91440" bIns="45720" rtlCol="0" anchor="t">
            <a:noAutofit/>
          </a:bodyPr>
          <a:lstStyle/>
          <a:p>
            <a:pPr marL="0" indent="0">
              <a:buNone/>
            </a:pPr>
            <a:r>
              <a:rPr lang="en-GB" sz="2400" b="1" dirty="0">
                <a:solidFill>
                  <a:schemeClr val="accent1">
                    <a:lumMod val="76000"/>
                  </a:schemeClr>
                </a:solidFill>
              </a:rPr>
              <a:t>The Pivot</a:t>
            </a:r>
            <a:endParaRPr lang="en-GB" sz="2400" dirty="0">
              <a:solidFill>
                <a:schemeClr val="accent1">
                  <a:lumMod val="76000"/>
                </a:schemeClr>
              </a:solidFill>
            </a:endParaRPr>
          </a:p>
          <a:p>
            <a:pPr>
              <a:buFont typeface="Arial" panose="020B0604020202020204" pitchFamily="34" charset="0"/>
              <a:buChar char="•"/>
            </a:pPr>
            <a:r>
              <a:rPr lang="en-GB" sz="2400" dirty="0"/>
              <a:t>Discontinued the existing codebase following mentor advice</a:t>
            </a:r>
          </a:p>
          <a:p>
            <a:pPr>
              <a:buFont typeface="Arial" panose="020B0604020202020204" pitchFamily="34" charset="0"/>
              <a:buChar char="•"/>
            </a:pPr>
            <a:r>
              <a:rPr lang="en-GB" sz="2400" dirty="0"/>
              <a:t>Pivoted to the </a:t>
            </a:r>
            <a:r>
              <a:rPr lang="en-GB" sz="2400" dirty="0" err="1"/>
              <a:t>Secondhand</a:t>
            </a:r>
            <a:r>
              <a:rPr lang="en-GB" sz="2400" dirty="0"/>
              <a:t> Marketplace</a:t>
            </a:r>
          </a:p>
          <a:p>
            <a:pPr marL="0" indent="0">
              <a:buNone/>
            </a:pPr>
            <a:r>
              <a:rPr lang="en-GB" sz="2400" b="1" dirty="0">
                <a:solidFill>
                  <a:schemeClr val="accent1">
                    <a:lumMod val="76000"/>
                  </a:schemeClr>
                </a:solidFill>
              </a:rPr>
              <a:t>Team Update</a:t>
            </a:r>
            <a:endParaRPr lang="en-GB" sz="2400" dirty="0">
              <a:solidFill>
                <a:schemeClr val="accent1">
                  <a:lumMod val="76000"/>
                </a:schemeClr>
              </a:solidFill>
            </a:endParaRPr>
          </a:p>
          <a:p>
            <a:pPr>
              <a:buFont typeface="Arial" panose="020B0604020202020204" pitchFamily="34" charset="0"/>
              <a:buChar char="•"/>
            </a:pPr>
            <a:r>
              <a:rPr lang="en-GB" sz="2400" dirty="0"/>
              <a:t>One member departed; one joined</a:t>
            </a:r>
          </a:p>
          <a:p>
            <a:pPr>
              <a:buFont typeface="Arial" panose="020B0604020202020204" pitchFamily="34" charset="0"/>
              <a:buChar char="•"/>
            </a:pPr>
            <a:r>
              <a:rPr lang="en-GB" sz="2400" dirty="0"/>
              <a:t>Final team size: 4</a:t>
            </a:r>
          </a:p>
          <a:p>
            <a:pPr marL="0" indent="0">
              <a:buNone/>
            </a:pPr>
            <a:endParaRPr lang="en-GB" sz="2400" dirty="0"/>
          </a:p>
        </p:txBody>
      </p:sp>
      <p:sp>
        <p:nvSpPr>
          <p:cNvPr id="6" name="TextBox 5">
            <a:extLst>
              <a:ext uri="{FF2B5EF4-FFF2-40B4-BE49-F238E27FC236}">
                <a16:creationId xmlns:a16="http://schemas.microsoft.com/office/drawing/2014/main" id="{8731C241-DFC7-BBCD-E884-0960CB99FEF3}"/>
              </a:ext>
            </a:extLst>
          </p:cNvPr>
          <p:cNvSpPr txBox="1"/>
          <p:nvPr/>
        </p:nvSpPr>
        <p:spPr>
          <a:xfrm>
            <a:off x="8613056" y="110958"/>
            <a:ext cx="2985959" cy="369332"/>
          </a:xfrm>
          <a:prstGeom prst="rect">
            <a:avLst/>
          </a:prstGeom>
          <a:noFill/>
        </p:spPr>
        <p:txBody>
          <a:bodyPr wrap="square" lIns="91440" tIns="45720" rIns="91440" bIns="45720" rtlCol="0" anchor="t">
            <a:spAutoFit/>
          </a:bodyPr>
          <a:lstStyle/>
          <a:p>
            <a:r>
              <a:rPr lang="en-US" dirty="0"/>
              <a:t>Now speaking: Euan</a:t>
            </a:r>
          </a:p>
        </p:txBody>
      </p:sp>
    </p:spTree>
    <p:extLst>
      <p:ext uri="{BB962C8B-B14F-4D97-AF65-F5344CB8AC3E}">
        <p14:creationId xmlns:p14="http://schemas.microsoft.com/office/powerpoint/2010/main" val="407004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3174A4-D650-8B43-FFB5-79AFB4051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640FE-ECF4-58EB-5D78-58E8E07BF968}"/>
              </a:ext>
            </a:extLst>
          </p:cNvPr>
          <p:cNvSpPr>
            <a:spLocks noGrp="1"/>
          </p:cNvSpPr>
          <p:nvPr>
            <p:ph type="title"/>
          </p:nvPr>
        </p:nvSpPr>
        <p:spPr>
          <a:xfrm>
            <a:off x="1320377" y="944402"/>
            <a:ext cx="4941416" cy="4064628"/>
          </a:xfrm>
        </p:spPr>
        <p:txBody>
          <a:bodyPr>
            <a:normAutofit fontScale="90000"/>
          </a:bodyPr>
          <a:lstStyle/>
          <a:p>
            <a:pPr>
              <a:lnSpc>
                <a:spcPct val="120000"/>
              </a:lnSpc>
              <a:spcBef>
                <a:spcPts val="1000"/>
              </a:spcBef>
            </a:pPr>
            <a:r>
              <a:rPr lang="en-US" sz="4000" dirty="0"/>
              <a:t>Current</a:t>
            </a:r>
            <a:r>
              <a:rPr lang="ko-KR" altLang="en-US" sz="4000" dirty="0"/>
              <a:t> </a:t>
            </a:r>
            <a:r>
              <a:rPr lang="en-US" sz="4000" dirty="0"/>
              <a:t>Project</a:t>
            </a:r>
            <a:r>
              <a:rPr lang="ko-KR" altLang="en-US" sz="4000" dirty="0"/>
              <a:t> </a:t>
            </a:r>
            <a:r>
              <a:rPr lang="en-US" sz="4900" i="1" dirty="0">
                <a:solidFill>
                  <a:schemeClr val="accent1">
                    <a:lumMod val="76000"/>
                  </a:schemeClr>
                </a:solidFill>
              </a:rPr>
              <a:t>Context</a:t>
            </a:r>
            <a:r>
              <a:rPr lang="ko-KR" altLang="en-US" sz="4000" dirty="0"/>
              <a:t> </a:t>
            </a:r>
            <a:r>
              <a:rPr lang="en-US" altLang="ko-KR" sz="4000" dirty="0"/>
              <a:t>&amp; Vision</a:t>
            </a:r>
            <a:br>
              <a:rPr lang="en-US" altLang="ko-KR" sz="4000" dirty="0"/>
            </a:br>
            <a:br>
              <a:rPr lang="en-US" altLang="ko-KR" dirty="0"/>
            </a:br>
            <a:r>
              <a:rPr lang="en-GB" sz="2200" dirty="0">
                <a:solidFill>
                  <a:schemeClr val="accent2"/>
                </a:solidFill>
              </a:rPr>
              <a:t>Marius Jurt</a:t>
            </a:r>
            <a:r>
              <a:rPr lang="en-GB" sz="2200" b="0" dirty="0">
                <a:solidFill>
                  <a:schemeClr val="accent2"/>
                </a:solidFill>
              </a:rPr>
              <a:t> </a:t>
            </a:r>
            <a:r>
              <a:rPr lang="en-GB" sz="2200" b="0" dirty="0"/>
              <a:t>is an individual client </a:t>
            </a:r>
            <a:endParaRPr lang="en-US" sz="2200" b="0" dirty="0"/>
          </a:p>
          <a:p>
            <a:pPr>
              <a:lnSpc>
                <a:spcPct val="120000"/>
              </a:lnSpc>
              <a:spcBef>
                <a:spcPts val="1000"/>
              </a:spcBef>
            </a:pPr>
            <a:r>
              <a:rPr lang="en-GB" sz="2200" b="0" dirty="0"/>
              <a:t>who aims to address the lack of </a:t>
            </a:r>
            <a:endParaRPr lang="en-US" sz="2200" b="0" dirty="0"/>
          </a:p>
          <a:p>
            <a:pPr>
              <a:lnSpc>
                <a:spcPct val="120000"/>
              </a:lnSpc>
              <a:spcBef>
                <a:spcPts val="1000"/>
              </a:spcBef>
            </a:pPr>
            <a:r>
              <a:rPr lang="en-GB" sz="2200" dirty="0">
                <a:solidFill>
                  <a:schemeClr val="accent2"/>
                </a:solidFill>
              </a:rPr>
              <a:t>trust and engagement</a:t>
            </a:r>
            <a:r>
              <a:rPr lang="en-GB" sz="2200" b="0" dirty="0">
                <a:solidFill>
                  <a:schemeClr val="accent2"/>
                </a:solidFill>
              </a:rPr>
              <a:t> </a:t>
            </a:r>
            <a:r>
              <a:rPr lang="en-GB" sz="2200" b="0" dirty="0"/>
              <a:t>in existing</a:t>
            </a:r>
            <a:endParaRPr lang="en-US" sz="2200" b="0" dirty="0"/>
          </a:p>
          <a:p>
            <a:pPr>
              <a:lnSpc>
                <a:spcPct val="120000"/>
              </a:lnSpc>
              <a:spcBef>
                <a:spcPts val="1000"/>
              </a:spcBef>
            </a:pPr>
            <a:r>
              <a:rPr lang="en-GB" sz="2200" b="0" dirty="0" err="1"/>
              <a:t>secondhand</a:t>
            </a:r>
            <a:r>
              <a:rPr lang="en-GB" sz="2200" b="0" dirty="0"/>
              <a:t> marketplaces</a:t>
            </a:r>
            <a:endParaRPr lang="en-US" sz="2200" dirty="0"/>
          </a:p>
        </p:txBody>
      </p:sp>
      <p:sp>
        <p:nvSpPr>
          <p:cNvPr id="5" name="직사각형 4">
            <a:extLst>
              <a:ext uri="{FF2B5EF4-FFF2-40B4-BE49-F238E27FC236}">
                <a16:creationId xmlns:a16="http://schemas.microsoft.com/office/drawing/2014/main" id="{3AAF5E81-07DB-2E23-DD2B-B4092546C0FE}"/>
              </a:ext>
            </a:extLst>
          </p:cNvPr>
          <p:cNvSpPr/>
          <p:nvPr/>
        </p:nvSpPr>
        <p:spPr>
          <a:xfrm>
            <a:off x="7730147" y="-1183"/>
            <a:ext cx="4463278" cy="686552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9FD0B919-78B1-A7A3-AA22-618BCE4CCC10}"/>
              </a:ext>
            </a:extLst>
          </p:cNvPr>
          <p:cNvSpPr txBox="1"/>
          <p:nvPr/>
        </p:nvSpPr>
        <p:spPr>
          <a:xfrm>
            <a:off x="8613056" y="110958"/>
            <a:ext cx="2985959" cy="369332"/>
          </a:xfrm>
          <a:prstGeom prst="rect">
            <a:avLst/>
          </a:prstGeom>
          <a:noFill/>
        </p:spPr>
        <p:txBody>
          <a:bodyPr wrap="square" lIns="91440" tIns="45720" rIns="91440" bIns="45720" rtlCol="0" anchor="t">
            <a:spAutoFit/>
          </a:bodyPr>
          <a:lstStyle/>
          <a:p>
            <a:r>
              <a:rPr lang="en-US" dirty="0"/>
              <a:t>Now speaking: Jen</a:t>
            </a:r>
          </a:p>
        </p:txBody>
      </p:sp>
    </p:spTree>
    <p:extLst>
      <p:ext uri="{BB962C8B-B14F-4D97-AF65-F5344CB8AC3E}">
        <p14:creationId xmlns:p14="http://schemas.microsoft.com/office/powerpoint/2010/main" val="1902304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D99B27-6C36-2412-F59F-8A5878C73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92AD8-96A7-A23D-0B5F-957FF7457AB7}"/>
              </a:ext>
            </a:extLst>
          </p:cNvPr>
          <p:cNvSpPr>
            <a:spLocks noGrp="1"/>
          </p:cNvSpPr>
          <p:nvPr>
            <p:ph type="title"/>
          </p:nvPr>
        </p:nvSpPr>
        <p:spPr>
          <a:xfrm>
            <a:off x="1163062" y="295624"/>
            <a:ext cx="5824643" cy="4064628"/>
          </a:xfrm>
        </p:spPr>
        <p:txBody>
          <a:bodyPr>
            <a:normAutofit/>
          </a:bodyPr>
          <a:lstStyle/>
          <a:p>
            <a:pPr>
              <a:lnSpc>
                <a:spcPct val="120000"/>
              </a:lnSpc>
              <a:spcBef>
                <a:spcPts val="1000"/>
              </a:spcBef>
            </a:pPr>
            <a:r>
              <a:rPr lang="en-US" dirty="0"/>
              <a:t>Current</a:t>
            </a:r>
            <a:r>
              <a:rPr lang="ko-KR" altLang="en-US" dirty="0"/>
              <a:t> </a:t>
            </a:r>
            <a:r>
              <a:rPr lang="en-US" dirty="0"/>
              <a:t>Project </a:t>
            </a:r>
            <a:r>
              <a:rPr lang="en-US" sz="4000" dirty="0"/>
              <a:t>Context</a:t>
            </a:r>
            <a:r>
              <a:rPr lang="ko-KR" altLang="en-US" dirty="0"/>
              <a:t> </a:t>
            </a:r>
            <a:br>
              <a:rPr lang="en-US" altLang="ko-KR" dirty="0"/>
            </a:br>
            <a:r>
              <a:rPr lang="en-US" altLang="ko-KR" sz="4000" dirty="0"/>
              <a:t>&amp;</a:t>
            </a:r>
            <a:r>
              <a:rPr lang="en-US" altLang="ko-KR" sz="4000" i="1" dirty="0"/>
              <a:t> </a:t>
            </a:r>
            <a:r>
              <a:rPr lang="en-US" altLang="ko-KR" sz="4400" i="1" dirty="0">
                <a:solidFill>
                  <a:schemeClr val="accent1">
                    <a:lumMod val="76000"/>
                  </a:schemeClr>
                </a:solidFill>
              </a:rPr>
              <a:t>Vision</a:t>
            </a:r>
            <a:br>
              <a:rPr lang="en-US" altLang="ko-KR" i="1" dirty="0"/>
            </a:br>
            <a:br>
              <a:rPr lang="en-US" altLang="ko-KR" dirty="0"/>
            </a:br>
            <a:r>
              <a:rPr lang="en-GB" sz="2000" b="0" dirty="0"/>
              <a:t>To build a </a:t>
            </a:r>
            <a:r>
              <a:rPr lang="en-GB" sz="2000" dirty="0">
                <a:solidFill>
                  <a:schemeClr val="accent2"/>
                </a:solidFill>
              </a:rPr>
              <a:t>trusted, playful marketplace </a:t>
            </a:r>
            <a:r>
              <a:rPr lang="en-GB" sz="2000" b="0" dirty="0"/>
              <a:t>where users </a:t>
            </a:r>
            <a:r>
              <a:rPr lang="en-GB" sz="2000" dirty="0">
                <a:solidFill>
                  <a:schemeClr val="accent2"/>
                </a:solidFill>
              </a:rPr>
              <a:t>trade confidently</a:t>
            </a:r>
            <a:r>
              <a:rPr lang="en-GB" sz="2000" b="0" dirty="0">
                <a:solidFill>
                  <a:schemeClr val="accent2"/>
                </a:solidFill>
              </a:rPr>
              <a:t> and </a:t>
            </a:r>
            <a:r>
              <a:rPr lang="en-GB" sz="2000" dirty="0">
                <a:solidFill>
                  <a:schemeClr val="accent2"/>
                </a:solidFill>
              </a:rPr>
              <a:t>build credibility</a:t>
            </a:r>
            <a:endParaRPr lang="en-US" sz="2000" b="0" dirty="0">
              <a:solidFill>
                <a:schemeClr val="accent2"/>
              </a:solidFill>
            </a:endParaRPr>
          </a:p>
        </p:txBody>
      </p:sp>
      <p:sp>
        <p:nvSpPr>
          <p:cNvPr id="3" name="직사각형 2">
            <a:extLst>
              <a:ext uri="{FF2B5EF4-FFF2-40B4-BE49-F238E27FC236}">
                <a16:creationId xmlns:a16="http://schemas.microsoft.com/office/drawing/2014/main" id="{D12280B1-A05F-5B72-754D-1B5FD4A395BE}"/>
              </a:ext>
            </a:extLst>
          </p:cNvPr>
          <p:cNvSpPr/>
          <p:nvPr/>
        </p:nvSpPr>
        <p:spPr>
          <a:xfrm>
            <a:off x="7730147" y="-1183"/>
            <a:ext cx="4463278" cy="686552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85EA9B8F-2CFA-B00E-66F6-26BFA086D31D}"/>
              </a:ext>
            </a:extLst>
          </p:cNvPr>
          <p:cNvSpPr txBox="1"/>
          <p:nvPr/>
        </p:nvSpPr>
        <p:spPr>
          <a:xfrm>
            <a:off x="8613056" y="110958"/>
            <a:ext cx="2985959" cy="369332"/>
          </a:xfrm>
          <a:prstGeom prst="rect">
            <a:avLst/>
          </a:prstGeom>
          <a:noFill/>
        </p:spPr>
        <p:txBody>
          <a:bodyPr wrap="square" lIns="91440" tIns="45720" rIns="91440" bIns="45720" rtlCol="0" anchor="t">
            <a:spAutoFit/>
          </a:bodyPr>
          <a:lstStyle/>
          <a:p>
            <a:r>
              <a:rPr lang="en-US" dirty="0"/>
              <a:t>Now speaking: Jen</a:t>
            </a:r>
          </a:p>
        </p:txBody>
      </p:sp>
    </p:spTree>
    <p:extLst>
      <p:ext uri="{BB962C8B-B14F-4D97-AF65-F5344CB8AC3E}">
        <p14:creationId xmlns:p14="http://schemas.microsoft.com/office/powerpoint/2010/main" val="2249370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D9C097-2D38-7C0B-BE5E-782C5D3E58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2072E7-7C21-FB71-0C2A-3476B4702A57}"/>
              </a:ext>
            </a:extLst>
          </p:cNvPr>
          <p:cNvSpPr>
            <a:spLocks noGrp="1"/>
          </p:cNvSpPr>
          <p:nvPr>
            <p:ph idx="4294967295"/>
          </p:nvPr>
        </p:nvSpPr>
        <p:spPr>
          <a:xfrm>
            <a:off x="838200" y="1801199"/>
            <a:ext cx="10699750" cy="3841750"/>
          </a:xfrm>
        </p:spPr>
        <p:txBody>
          <a:bodyPr vert="horz" lIns="91440" tIns="45720" rIns="91440" bIns="45720" rtlCol="0" anchor="t">
            <a:noAutofit/>
          </a:bodyPr>
          <a:lstStyle/>
          <a:p>
            <a:pPr marL="0" indent="0">
              <a:buNone/>
            </a:pPr>
            <a:r>
              <a:rPr lang="en-GB" sz="2400" b="1" dirty="0">
                <a:solidFill>
                  <a:schemeClr val="accent1">
                    <a:lumMod val="76000"/>
                  </a:schemeClr>
                </a:solidFill>
              </a:rPr>
              <a:t>Buyer</a:t>
            </a:r>
            <a:endParaRPr lang="en-GB" sz="2400" dirty="0">
              <a:solidFill>
                <a:schemeClr val="accent1">
                  <a:lumMod val="76000"/>
                </a:schemeClr>
              </a:solidFill>
            </a:endParaRPr>
          </a:p>
          <a:p>
            <a:pPr marL="0" indent="0">
              <a:buNone/>
            </a:pPr>
            <a:r>
              <a:rPr lang="en-GB" sz="2400" dirty="0"/>
              <a:t>Seek an engaging and interactive second-hand shopping experience with item recommendations and access to seller reviews</a:t>
            </a:r>
          </a:p>
          <a:p>
            <a:pPr marL="0" indent="0">
              <a:buNone/>
            </a:pPr>
            <a:r>
              <a:rPr lang="en-GB" sz="2000" dirty="0">
                <a:solidFill>
                  <a:schemeClr val="accent1">
                    <a:lumMod val="76000"/>
                  </a:schemeClr>
                </a:solidFill>
              </a:rPr>
              <a:t>Partially implemented: Marketplace UI &amp; Explore page (Tinder-style suggestions), Liked Items list</a:t>
            </a:r>
          </a:p>
          <a:p>
            <a:pPr marL="0" indent="0">
              <a:buNone/>
            </a:pPr>
            <a:br>
              <a:rPr lang="en-GB" sz="2400" dirty="0"/>
            </a:br>
            <a:r>
              <a:rPr lang="en-GB" sz="2400" b="1" dirty="0">
                <a:solidFill>
                  <a:schemeClr val="accent1">
                    <a:lumMod val="76000"/>
                  </a:schemeClr>
                </a:solidFill>
              </a:rPr>
              <a:t>Seller</a:t>
            </a:r>
          </a:p>
          <a:p>
            <a:pPr marL="0" indent="0">
              <a:buNone/>
            </a:pPr>
            <a:r>
              <a:rPr lang="en-GB" sz="2400" dirty="0"/>
              <a:t>Require a straightforward method to list items and reach the appropriate audience, encouraging community participation</a:t>
            </a:r>
          </a:p>
          <a:p>
            <a:pPr marL="0" indent="0">
              <a:buNone/>
            </a:pPr>
            <a:r>
              <a:rPr lang="en-GB" sz="2000" dirty="0">
                <a:solidFill>
                  <a:schemeClr val="accent1">
                    <a:lumMod val="76000"/>
                  </a:schemeClr>
                </a:solidFill>
              </a:rPr>
              <a:t>Partially implemented: Selling items functionality; My Listings page planned</a:t>
            </a:r>
          </a:p>
        </p:txBody>
      </p:sp>
      <p:sp>
        <p:nvSpPr>
          <p:cNvPr id="5" name="Title 1">
            <a:extLst>
              <a:ext uri="{FF2B5EF4-FFF2-40B4-BE49-F238E27FC236}">
                <a16:creationId xmlns:a16="http://schemas.microsoft.com/office/drawing/2014/main" id="{8F59EDD6-5288-13E9-ED1A-ABC142DA19CC}"/>
              </a:ext>
            </a:extLst>
          </p:cNvPr>
          <p:cNvSpPr txBox="1">
            <a:spLocks/>
          </p:cNvSpPr>
          <p:nvPr/>
        </p:nvSpPr>
        <p:spPr>
          <a:xfrm>
            <a:off x="838200" y="859158"/>
            <a:ext cx="10515600" cy="13255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gn="ctr"/>
            <a:r>
              <a:rPr lang="ko-KR" altLang="en-US" dirty="0"/>
              <a:t>User Stories</a:t>
            </a:r>
          </a:p>
        </p:txBody>
      </p:sp>
      <p:sp>
        <p:nvSpPr>
          <p:cNvPr id="4" name="TextBox 3">
            <a:extLst>
              <a:ext uri="{FF2B5EF4-FFF2-40B4-BE49-F238E27FC236}">
                <a16:creationId xmlns:a16="http://schemas.microsoft.com/office/drawing/2014/main" id="{1C0877C8-6DF3-EA4E-EC1C-175332528985}"/>
              </a:ext>
            </a:extLst>
          </p:cNvPr>
          <p:cNvSpPr txBox="1"/>
          <p:nvPr/>
        </p:nvSpPr>
        <p:spPr>
          <a:xfrm>
            <a:off x="8583560" y="86703"/>
            <a:ext cx="2985959" cy="369332"/>
          </a:xfrm>
          <a:prstGeom prst="rect">
            <a:avLst/>
          </a:prstGeom>
          <a:noFill/>
        </p:spPr>
        <p:txBody>
          <a:bodyPr wrap="square" lIns="91440" tIns="45720" rIns="91440" bIns="45720" rtlCol="0" anchor="t">
            <a:spAutoFit/>
          </a:bodyPr>
          <a:lstStyle/>
          <a:p>
            <a:r>
              <a:rPr lang="en-US" dirty="0"/>
              <a:t>Now speaking: Jen</a:t>
            </a:r>
          </a:p>
        </p:txBody>
      </p:sp>
    </p:spTree>
    <p:extLst>
      <p:ext uri="{BB962C8B-B14F-4D97-AF65-F5344CB8AC3E}">
        <p14:creationId xmlns:p14="http://schemas.microsoft.com/office/powerpoint/2010/main" val="1544731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0BD8CF-CBEE-459C-E118-4E5A41414EEC}"/>
            </a:ext>
          </a:extLst>
        </p:cNvPr>
        <p:cNvGrpSpPr/>
        <p:nvPr/>
      </p:nvGrpSpPr>
      <p:grpSpPr>
        <a:xfrm>
          <a:off x="0" y="0"/>
          <a:ext cx="0" cy="0"/>
          <a:chOff x="0" y="0"/>
          <a:chExt cx="0" cy="0"/>
        </a:xfrm>
      </p:grpSpPr>
      <p:graphicFrame>
        <p:nvGraphicFramePr>
          <p:cNvPr id="9" name="Content Placeholder 2">
            <a:extLst>
              <a:ext uri="{FF2B5EF4-FFF2-40B4-BE49-F238E27FC236}">
                <a16:creationId xmlns:a16="http://schemas.microsoft.com/office/drawing/2014/main" id="{E2E1D1C1-DD87-32F0-F0E0-A8A2FFEB14E5}"/>
              </a:ext>
            </a:extLst>
          </p:cNvPr>
          <p:cNvGraphicFramePr>
            <a:graphicFrameLocks noGrp="1"/>
          </p:cNvGraphicFramePr>
          <p:nvPr>
            <p:ph idx="1"/>
            <p:extLst>
              <p:ext uri="{D42A27DB-BD31-4B8C-83A1-F6EECF244321}">
                <p14:modId xmlns:p14="http://schemas.microsoft.com/office/powerpoint/2010/main" val="4138784222"/>
              </p:ext>
            </p:extLst>
          </p:nvPr>
        </p:nvGraphicFramePr>
        <p:xfrm>
          <a:off x="746219" y="1895605"/>
          <a:ext cx="10699561" cy="41434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D24FDE36-5118-8F28-EBD8-2FAEBB20F498}"/>
              </a:ext>
            </a:extLst>
          </p:cNvPr>
          <p:cNvSpPr txBox="1">
            <a:spLocks/>
          </p:cNvSpPr>
          <p:nvPr/>
        </p:nvSpPr>
        <p:spPr>
          <a:xfrm>
            <a:off x="838200" y="1123780"/>
            <a:ext cx="10515600" cy="13255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gn="ctr"/>
            <a:r>
              <a:rPr lang="en-US" altLang="ko-KR" dirty="0"/>
              <a:t>Stakeholders</a:t>
            </a:r>
            <a:endParaRPr lang="ko-KR" altLang="en-US" dirty="0"/>
          </a:p>
        </p:txBody>
      </p:sp>
      <p:sp>
        <p:nvSpPr>
          <p:cNvPr id="6" name="TextBox 5">
            <a:extLst>
              <a:ext uri="{FF2B5EF4-FFF2-40B4-BE49-F238E27FC236}">
                <a16:creationId xmlns:a16="http://schemas.microsoft.com/office/drawing/2014/main" id="{9C0FB1FA-725C-DB3E-7293-D437A7685EE7}"/>
              </a:ext>
            </a:extLst>
          </p:cNvPr>
          <p:cNvSpPr txBox="1"/>
          <p:nvPr/>
        </p:nvSpPr>
        <p:spPr>
          <a:xfrm>
            <a:off x="8583560" y="86703"/>
            <a:ext cx="2985959" cy="369332"/>
          </a:xfrm>
          <a:prstGeom prst="rect">
            <a:avLst/>
          </a:prstGeom>
          <a:noFill/>
        </p:spPr>
        <p:txBody>
          <a:bodyPr wrap="square" lIns="91440" tIns="45720" rIns="91440" bIns="45720" rtlCol="0" anchor="t">
            <a:spAutoFit/>
          </a:bodyPr>
          <a:lstStyle/>
          <a:p>
            <a:r>
              <a:rPr lang="en-US" dirty="0"/>
              <a:t>Now speaking: Jen</a:t>
            </a:r>
          </a:p>
        </p:txBody>
      </p:sp>
    </p:spTree>
    <p:extLst>
      <p:ext uri="{BB962C8B-B14F-4D97-AF65-F5344CB8AC3E}">
        <p14:creationId xmlns:p14="http://schemas.microsoft.com/office/powerpoint/2010/main" val="2683763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diagram of a software company&#10;&#10;AI-generated content may be incorrect.">
            <a:extLst>
              <a:ext uri="{FF2B5EF4-FFF2-40B4-BE49-F238E27FC236}">
                <a16:creationId xmlns:a16="http://schemas.microsoft.com/office/drawing/2014/main" id="{3FF4FDF4-F5B8-20B3-848F-FFE4477B1D9A}"/>
              </a:ext>
            </a:extLst>
          </p:cNvPr>
          <p:cNvPicPr>
            <a:picLocks noChangeAspect="1"/>
          </p:cNvPicPr>
          <p:nvPr/>
        </p:nvPicPr>
        <p:blipFill>
          <a:blip/>
          <a:srcRect t="3357" r="88"/>
          <a:stretch>
            <a:fillRect/>
          </a:stretch>
        </p:blipFill>
        <p:spPr>
          <a:xfrm>
            <a:off x="3333228" y="1258482"/>
            <a:ext cx="8236291" cy="5010081"/>
          </a:xfrm>
          <a:prstGeom prst="rect">
            <a:avLst/>
          </a:prstGeom>
        </p:spPr>
      </p:pic>
      <p:sp>
        <p:nvSpPr>
          <p:cNvPr id="10" name="Title 1">
            <a:extLst>
              <a:ext uri="{FF2B5EF4-FFF2-40B4-BE49-F238E27FC236}">
                <a16:creationId xmlns:a16="http://schemas.microsoft.com/office/drawing/2014/main" id="{6638C450-B6EA-13C3-06ED-CE4AE9BC6456}"/>
              </a:ext>
            </a:extLst>
          </p:cNvPr>
          <p:cNvSpPr txBox="1">
            <a:spLocks/>
          </p:cNvSpPr>
          <p:nvPr/>
        </p:nvSpPr>
        <p:spPr>
          <a:xfrm>
            <a:off x="1196440" y="496926"/>
            <a:ext cx="9799120" cy="846241"/>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a:t>Project Architecture</a:t>
            </a:r>
          </a:p>
        </p:txBody>
      </p:sp>
      <p:sp>
        <p:nvSpPr>
          <p:cNvPr id="11" name="TextBox 10">
            <a:extLst>
              <a:ext uri="{FF2B5EF4-FFF2-40B4-BE49-F238E27FC236}">
                <a16:creationId xmlns:a16="http://schemas.microsoft.com/office/drawing/2014/main" id="{CAD29FF0-DD38-A154-29F9-407FD1939AC0}"/>
              </a:ext>
            </a:extLst>
          </p:cNvPr>
          <p:cNvSpPr txBox="1"/>
          <p:nvPr/>
        </p:nvSpPr>
        <p:spPr>
          <a:xfrm>
            <a:off x="905316" y="283498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GB" dirty="0"/>
              <a:t>PostgreSQL Database</a:t>
            </a:r>
            <a:endParaRPr lang="en-US" dirty="0"/>
          </a:p>
        </p:txBody>
      </p:sp>
      <p:sp>
        <p:nvSpPr>
          <p:cNvPr id="12" name="TextBox 11">
            <a:extLst>
              <a:ext uri="{FF2B5EF4-FFF2-40B4-BE49-F238E27FC236}">
                <a16:creationId xmlns:a16="http://schemas.microsoft.com/office/drawing/2014/main" id="{48C04EDF-AF85-0A3D-B6DC-B6333682926C}"/>
              </a:ext>
            </a:extLst>
          </p:cNvPr>
          <p:cNvSpPr txBox="1"/>
          <p:nvPr/>
        </p:nvSpPr>
        <p:spPr>
          <a:xfrm>
            <a:off x="905315" y="339419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GB"/>
              <a:t>Flask &amp; Python</a:t>
            </a:r>
            <a:endParaRPr lang="en-US"/>
          </a:p>
        </p:txBody>
      </p:sp>
      <p:sp>
        <p:nvSpPr>
          <p:cNvPr id="13" name="TextBox 12">
            <a:extLst>
              <a:ext uri="{FF2B5EF4-FFF2-40B4-BE49-F238E27FC236}">
                <a16:creationId xmlns:a16="http://schemas.microsoft.com/office/drawing/2014/main" id="{C3FAD64D-7C06-0D30-0D6E-C613E8B0DD11}"/>
              </a:ext>
            </a:extLst>
          </p:cNvPr>
          <p:cNvSpPr txBox="1"/>
          <p:nvPr/>
        </p:nvSpPr>
        <p:spPr>
          <a:xfrm>
            <a:off x="905314" y="2054046"/>
            <a:ext cx="33449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GB"/>
              <a:t>React Native – Expo</a:t>
            </a:r>
            <a:endParaRPr lang="en-US"/>
          </a:p>
        </p:txBody>
      </p:sp>
      <p:sp>
        <p:nvSpPr>
          <p:cNvPr id="14" name="TextBox 13">
            <a:extLst>
              <a:ext uri="{FF2B5EF4-FFF2-40B4-BE49-F238E27FC236}">
                <a16:creationId xmlns:a16="http://schemas.microsoft.com/office/drawing/2014/main" id="{CC54D61D-5400-B57B-570A-1B0799D5FF86}"/>
              </a:ext>
            </a:extLst>
          </p:cNvPr>
          <p:cNvSpPr txBox="1"/>
          <p:nvPr/>
        </p:nvSpPr>
        <p:spPr>
          <a:xfrm>
            <a:off x="781137" y="246426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u="sng"/>
              <a:t>Backend</a:t>
            </a:r>
            <a:endParaRPr lang="en-US" b="1" u="sng"/>
          </a:p>
        </p:txBody>
      </p:sp>
      <p:sp>
        <p:nvSpPr>
          <p:cNvPr id="15" name="TextBox 14">
            <a:extLst>
              <a:ext uri="{FF2B5EF4-FFF2-40B4-BE49-F238E27FC236}">
                <a16:creationId xmlns:a16="http://schemas.microsoft.com/office/drawing/2014/main" id="{774F0105-1FAD-3EA1-7078-B15E0DADCAAD}"/>
              </a:ext>
            </a:extLst>
          </p:cNvPr>
          <p:cNvSpPr txBox="1"/>
          <p:nvPr/>
        </p:nvSpPr>
        <p:spPr>
          <a:xfrm>
            <a:off x="781137" y="167969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u="sng"/>
              <a:t>Frontend</a:t>
            </a:r>
            <a:endParaRPr lang="en-US" b="1" u="sng"/>
          </a:p>
        </p:txBody>
      </p:sp>
      <p:sp>
        <p:nvSpPr>
          <p:cNvPr id="16" name="TextBox 15">
            <a:extLst>
              <a:ext uri="{FF2B5EF4-FFF2-40B4-BE49-F238E27FC236}">
                <a16:creationId xmlns:a16="http://schemas.microsoft.com/office/drawing/2014/main" id="{E9182118-E847-2DF4-F068-BAF7F25CFD40}"/>
              </a:ext>
            </a:extLst>
          </p:cNvPr>
          <p:cNvSpPr txBox="1"/>
          <p:nvPr/>
        </p:nvSpPr>
        <p:spPr>
          <a:xfrm>
            <a:off x="905314" y="447467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GB"/>
              <a:t>Figma</a:t>
            </a:r>
          </a:p>
        </p:txBody>
      </p:sp>
      <p:sp>
        <p:nvSpPr>
          <p:cNvPr id="17" name="TextBox 16">
            <a:extLst>
              <a:ext uri="{FF2B5EF4-FFF2-40B4-BE49-F238E27FC236}">
                <a16:creationId xmlns:a16="http://schemas.microsoft.com/office/drawing/2014/main" id="{34547E30-89BC-0849-5102-217EAEB40D9F}"/>
              </a:ext>
            </a:extLst>
          </p:cNvPr>
          <p:cNvSpPr txBox="1"/>
          <p:nvPr/>
        </p:nvSpPr>
        <p:spPr>
          <a:xfrm>
            <a:off x="905313" y="484338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GB" err="1"/>
              <a:t>Github</a:t>
            </a:r>
            <a:r>
              <a:rPr lang="en-GB"/>
              <a:t> &amp; Git</a:t>
            </a:r>
            <a:endParaRPr lang="en-US"/>
          </a:p>
        </p:txBody>
      </p:sp>
      <p:sp>
        <p:nvSpPr>
          <p:cNvPr id="18" name="TextBox 17">
            <a:extLst>
              <a:ext uri="{FF2B5EF4-FFF2-40B4-BE49-F238E27FC236}">
                <a16:creationId xmlns:a16="http://schemas.microsoft.com/office/drawing/2014/main" id="{38C56E3B-1B3C-AB78-D4B6-BAC34FEB8637}"/>
              </a:ext>
            </a:extLst>
          </p:cNvPr>
          <p:cNvSpPr txBox="1"/>
          <p:nvPr/>
        </p:nvSpPr>
        <p:spPr>
          <a:xfrm>
            <a:off x="781137" y="3810452"/>
            <a:ext cx="320604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u="sng" dirty="0"/>
              <a:t>Version Control &amp; </a:t>
            </a:r>
          </a:p>
          <a:p>
            <a:r>
              <a:rPr lang="en-GB" b="1" u="sng" dirty="0"/>
              <a:t>Prototyping</a:t>
            </a:r>
            <a:endParaRPr lang="en-US" dirty="0"/>
          </a:p>
        </p:txBody>
      </p:sp>
      <p:sp>
        <p:nvSpPr>
          <p:cNvPr id="3" name="TextBox 2">
            <a:extLst>
              <a:ext uri="{FF2B5EF4-FFF2-40B4-BE49-F238E27FC236}">
                <a16:creationId xmlns:a16="http://schemas.microsoft.com/office/drawing/2014/main" id="{C78718F6-D8B9-35E2-4108-24557EBFD4A4}"/>
              </a:ext>
            </a:extLst>
          </p:cNvPr>
          <p:cNvSpPr txBox="1"/>
          <p:nvPr/>
        </p:nvSpPr>
        <p:spPr>
          <a:xfrm>
            <a:off x="8583560" y="86703"/>
            <a:ext cx="2985959" cy="369332"/>
          </a:xfrm>
          <a:prstGeom prst="rect">
            <a:avLst/>
          </a:prstGeom>
          <a:noFill/>
        </p:spPr>
        <p:txBody>
          <a:bodyPr wrap="square" lIns="91440" tIns="45720" rIns="91440" bIns="45720" rtlCol="0" anchor="t">
            <a:spAutoFit/>
          </a:bodyPr>
          <a:lstStyle/>
          <a:p>
            <a:r>
              <a:rPr lang="en-US" dirty="0"/>
              <a:t>Now speaking: Alex</a:t>
            </a:r>
          </a:p>
        </p:txBody>
      </p:sp>
    </p:spTree>
    <p:extLst>
      <p:ext uri="{BB962C8B-B14F-4D97-AF65-F5344CB8AC3E}">
        <p14:creationId xmlns:p14="http://schemas.microsoft.com/office/powerpoint/2010/main" val="109857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7E4B3E-960A-B2A2-CD81-68C9EBB6C261}"/>
              </a:ext>
            </a:extLst>
          </p:cNvPr>
          <p:cNvSpPr>
            <a:spLocks noGrp="1"/>
          </p:cNvSpPr>
          <p:nvPr>
            <p:ph type="title"/>
          </p:nvPr>
        </p:nvSpPr>
        <p:spPr>
          <a:xfrm>
            <a:off x="4054927" y="2669125"/>
            <a:ext cx="4082145" cy="1517563"/>
          </a:xfrm>
        </p:spPr>
        <p:txBody>
          <a:bodyPr>
            <a:noAutofit/>
          </a:bodyPr>
          <a:lstStyle/>
          <a:p>
            <a:pPr algn="ctr"/>
            <a:r>
              <a:rPr lang="ko-KR" altLang="en-US" sz="9600">
                <a:ea typeface="맑은 고딕"/>
              </a:rPr>
              <a:t>DEMO</a:t>
            </a:r>
            <a:endParaRPr lang="en-US" altLang="ko-KR"/>
          </a:p>
        </p:txBody>
      </p:sp>
      <p:sp>
        <p:nvSpPr>
          <p:cNvPr id="4" name="TextBox 3">
            <a:extLst>
              <a:ext uri="{FF2B5EF4-FFF2-40B4-BE49-F238E27FC236}">
                <a16:creationId xmlns:a16="http://schemas.microsoft.com/office/drawing/2014/main" id="{D954A1F3-F6B4-4404-7E7A-7FD163089DE9}"/>
              </a:ext>
            </a:extLst>
          </p:cNvPr>
          <p:cNvSpPr txBox="1"/>
          <p:nvPr/>
        </p:nvSpPr>
        <p:spPr>
          <a:xfrm>
            <a:off x="8583560" y="86703"/>
            <a:ext cx="2985959" cy="369332"/>
          </a:xfrm>
          <a:prstGeom prst="rect">
            <a:avLst/>
          </a:prstGeom>
          <a:noFill/>
        </p:spPr>
        <p:txBody>
          <a:bodyPr wrap="square" lIns="91440" tIns="45720" rIns="91440" bIns="45720" rtlCol="0" anchor="t">
            <a:spAutoFit/>
          </a:bodyPr>
          <a:lstStyle/>
          <a:p>
            <a:r>
              <a:rPr lang="en-US" dirty="0"/>
              <a:t>Now speaking: Freddie</a:t>
            </a:r>
          </a:p>
        </p:txBody>
      </p:sp>
    </p:spTree>
    <p:extLst>
      <p:ext uri="{BB962C8B-B14F-4D97-AF65-F5344CB8AC3E}">
        <p14:creationId xmlns:p14="http://schemas.microsoft.com/office/powerpoint/2010/main" val="3270387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12AE6-C146-5E57-739B-3C417089C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89719-CC77-596E-D02A-FC2D79D6D0B3}"/>
              </a:ext>
            </a:extLst>
          </p:cNvPr>
          <p:cNvSpPr>
            <a:spLocks noGrp="1"/>
          </p:cNvSpPr>
          <p:nvPr>
            <p:ph type="title"/>
          </p:nvPr>
        </p:nvSpPr>
        <p:spPr>
          <a:xfrm>
            <a:off x="558541" y="581386"/>
            <a:ext cx="3495600" cy="545563"/>
          </a:xfrm>
        </p:spPr>
        <p:txBody>
          <a:bodyPr>
            <a:normAutofit fontScale="90000"/>
          </a:bodyPr>
          <a:lstStyle/>
          <a:p>
            <a:r>
              <a:rPr lang="en-US" dirty="0"/>
              <a:t>Figma Designs</a:t>
            </a:r>
          </a:p>
        </p:txBody>
      </p:sp>
      <p:pic>
        <p:nvPicPr>
          <p:cNvPr id="8" name="Picture 7" descr="A screenshot of a phone&#10;&#10;AI-generated content may be incorrect.">
            <a:extLst>
              <a:ext uri="{FF2B5EF4-FFF2-40B4-BE49-F238E27FC236}">
                <a16:creationId xmlns:a16="http://schemas.microsoft.com/office/drawing/2014/main" id="{447946A2-07DC-2D52-D833-E0F8B666D536}"/>
              </a:ext>
            </a:extLst>
          </p:cNvPr>
          <p:cNvPicPr>
            <a:picLocks noChangeAspect="1"/>
          </p:cNvPicPr>
          <p:nvPr/>
        </p:nvPicPr>
        <p:blipFill>
          <a:blip/>
          <a:stretch>
            <a:fillRect/>
          </a:stretch>
        </p:blipFill>
        <p:spPr>
          <a:xfrm>
            <a:off x="995363" y="1517557"/>
            <a:ext cx="10201275" cy="4486275"/>
          </a:xfrm>
          <a:prstGeom prst="rect">
            <a:avLst/>
          </a:prstGeom>
        </p:spPr>
      </p:pic>
      <p:sp>
        <p:nvSpPr>
          <p:cNvPr id="4" name="TextBox 3">
            <a:extLst>
              <a:ext uri="{FF2B5EF4-FFF2-40B4-BE49-F238E27FC236}">
                <a16:creationId xmlns:a16="http://schemas.microsoft.com/office/drawing/2014/main" id="{285C11C4-614B-C72B-F674-64C9394774C9}"/>
              </a:ext>
            </a:extLst>
          </p:cNvPr>
          <p:cNvSpPr txBox="1"/>
          <p:nvPr/>
        </p:nvSpPr>
        <p:spPr>
          <a:xfrm>
            <a:off x="8583560" y="86703"/>
            <a:ext cx="2985959" cy="369332"/>
          </a:xfrm>
          <a:prstGeom prst="rect">
            <a:avLst/>
          </a:prstGeom>
          <a:noFill/>
        </p:spPr>
        <p:txBody>
          <a:bodyPr wrap="square" lIns="91440" tIns="45720" rIns="91440" bIns="45720" rtlCol="0" anchor="t">
            <a:spAutoFit/>
          </a:bodyPr>
          <a:lstStyle/>
          <a:p>
            <a:r>
              <a:rPr lang="en-US" dirty="0"/>
              <a:t>Now speaking: Alex</a:t>
            </a:r>
          </a:p>
        </p:txBody>
      </p:sp>
    </p:spTree>
    <p:extLst>
      <p:ext uri="{BB962C8B-B14F-4D97-AF65-F5344CB8AC3E}">
        <p14:creationId xmlns:p14="http://schemas.microsoft.com/office/powerpoint/2010/main" val="1306423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9A62E-7F38-357D-1B8B-DAF311272866}"/>
              </a:ext>
            </a:extLst>
          </p:cNvPr>
          <p:cNvSpPr>
            <a:spLocks noGrp="1"/>
          </p:cNvSpPr>
          <p:nvPr>
            <p:ph type="title"/>
          </p:nvPr>
        </p:nvSpPr>
        <p:spPr>
          <a:xfrm>
            <a:off x="338935" y="394088"/>
            <a:ext cx="10515600" cy="1325563"/>
          </a:xfrm>
        </p:spPr>
        <p:txBody>
          <a:bodyPr/>
          <a:lstStyle/>
          <a:p>
            <a:r>
              <a:rPr lang="en-US"/>
              <a:t>Architecture</a:t>
            </a:r>
          </a:p>
        </p:txBody>
      </p:sp>
      <p:pic>
        <p:nvPicPr>
          <p:cNvPr id="4" name="Content Placeholder 3" descr="A diagram of a software company&#10;&#10;AI-generated content may be incorrect.">
            <a:extLst>
              <a:ext uri="{FF2B5EF4-FFF2-40B4-BE49-F238E27FC236}">
                <a16:creationId xmlns:a16="http://schemas.microsoft.com/office/drawing/2014/main" id="{9084C598-8634-077E-66FF-B9F8A28D4406}"/>
              </a:ext>
            </a:extLst>
          </p:cNvPr>
          <p:cNvPicPr>
            <a:picLocks noGrp="1" noChangeAspect="1"/>
          </p:cNvPicPr>
          <p:nvPr>
            <p:ph idx="1"/>
          </p:nvPr>
        </p:nvPicPr>
        <p:blipFill>
          <a:blip/>
          <a:stretch>
            <a:fillRect/>
          </a:stretch>
        </p:blipFill>
        <p:spPr>
          <a:xfrm>
            <a:off x="2456330" y="1525051"/>
            <a:ext cx="7280030" cy="4591140"/>
          </a:xfrm>
          <a:prstGeom prst="rect">
            <a:avLst/>
          </a:prstGeom>
        </p:spPr>
      </p:pic>
      <p:sp>
        <p:nvSpPr>
          <p:cNvPr id="5" name="TextBox 4">
            <a:extLst>
              <a:ext uri="{FF2B5EF4-FFF2-40B4-BE49-F238E27FC236}">
                <a16:creationId xmlns:a16="http://schemas.microsoft.com/office/drawing/2014/main" id="{0EA534B5-6E3A-74D5-D4DC-0F33F259E6A9}"/>
              </a:ext>
            </a:extLst>
          </p:cNvPr>
          <p:cNvSpPr txBox="1"/>
          <p:nvPr/>
        </p:nvSpPr>
        <p:spPr>
          <a:xfrm>
            <a:off x="8583560" y="86703"/>
            <a:ext cx="2985959" cy="369332"/>
          </a:xfrm>
          <a:prstGeom prst="rect">
            <a:avLst/>
          </a:prstGeom>
          <a:noFill/>
        </p:spPr>
        <p:txBody>
          <a:bodyPr wrap="square" lIns="91440" tIns="45720" rIns="91440" bIns="45720" rtlCol="0" anchor="t">
            <a:spAutoFit/>
          </a:bodyPr>
          <a:lstStyle/>
          <a:p>
            <a:r>
              <a:rPr lang="en-US" dirty="0"/>
              <a:t>Now speaking: Alex</a:t>
            </a:r>
          </a:p>
        </p:txBody>
      </p:sp>
    </p:spTree>
    <p:extLst>
      <p:ext uri="{BB962C8B-B14F-4D97-AF65-F5344CB8AC3E}">
        <p14:creationId xmlns:p14="http://schemas.microsoft.com/office/powerpoint/2010/main" val="500022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8B1EE-8454-8314-55DB-AAA034F20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76444-9B19-264A-B3ED-E3296D4A3936}"/>
              </a:ext>
            </a:extLst>
          </p:cNvPr>
          <p:cNvSpPr>
            <a:spLocks noGrp="1"/>
          </p:cNvSpPr>
          <p:nvPr>
            <p:ph type="title" idx="4294967295"/>
          </p:nvPr>
        </p:nvSpPr>
        <p:spPr>
          <a:xfrm>
            <a:off x="837101" y="312845"/>
            <a:ext cx="10515600" cy="1325563"/>
          </a:xfrm>
        </p:spPr>
        <p:txBody>
          <a:bodyPr/>
          <a:lstStyle/>
          <a:p>
            <a:r>
              <a:rPr lang="en-US" dirty="0"/>
              <a:t>Cloud Architecture</a:t>
            </a:r>
          </a:p>
        </p:txBody>
      </p:sp>
      <p:sp>
        <p:nvSpPr>
          <p:cNvPr id="5" name="Content Placeholder 4">
            <a:extLst>
              <a:ext uri="{FF2B5EF4-FFF2-40B4-BE49-F238E27FC236}">
                <a16:creationId xmlns:a16="http://schemas.microsoft.com/office/drawing/2014/main" id="{9F0ACB02-73FA-7692-633C-C6C8A1124210}"/>
              </a:ext>
            </a:extLst>
          </p:cNvPr>
          <p:cNvSpPr>
            <a:spLocks noGrp="1"/>
          </p:cNvSpPr>
          <p:nvPr>
            <p:ph idx="4294967295"/>
          </p:nvPr>
        </p:nvSpPr>
        <p:spPr>
          <a:xfrm>
            <a:off x="6761651" y="1315930"/>
            <a:ext cx="4591050" cy="5229225"/>
          </a:xfrm>
        </p:spPr>
        <p:txBody>
          <a:bodyPr vert="horz" lIns="91440" tIns="45720" rIns="91440" bIns="45720" rtlCol="0" anchor="t">
            <a:normAutofit lnSpcReduction="10000"/>
          </a:bodyPr>
          <a:lstStyle/>
          <a:p>
            <a:pPr marL="0" indent="0">
              <a:buNone/>
            </a:pPr>
            <a:r>
              <a:rPr lang="en-US" b="1" dirty="0"/>
              <a:t>Amazon EC2 – Backend</a:t>
            </a:r>
          </a:p>
          <a:p>
            <a:pPr marL="457200" indent="-457200"/>
            <a:r>
              <a:rPr lang="en-US" sz="2000" dirty="0"/>
              <a:t>Our backend server runs on an Amazon EC2 instance using a Flask application served by </a:t>
            </a:r>
            <a:r>
              <a:rPr lang="en-US" sz="2000" dirty="0" err="1"/>
              <a:t>Gunicorn</a:t>
            </a:r>
            <a:endParaRPr lang="en-US" sz="2000" dirty="0"/>
          </a:p>
          <a:p>
            <a:pPr marL="457200" indent="-457200"/>
            <a:r>
              <a:rPr lang="en-US" sz="2000" dirty="0"/>
              <a:t>Nginx securely handles all incoming HTTP traffic and forwards them to our backend</a:t>
            </a:r>
            <a:endParaRPr lang="en-US" dirty="0"/>
          </a:p>
          <a:p>
            <a:pPr marL="0" indent="0">
              <a:buNone/>
            </a:pPr>
            <a:r>
              <a:rPr lang="en-US" b="1" dirty="0"/>
              <a:t>Amazon RDS – Database</a:t>
            </a:r>
          </a:p>
          <a:p>
            <a:pPr marL="342900" indent="-342900"/>
            <a:r>
              <a:rPr lang="en-US" sz="2000" dirty="0"/>
              <a:t>We use an Amazon RDS instance to host our PostgreSQL database</a:t>
            </a:r>
          </a:p>
          <a:p>
            <a:pPr marL="0" indent="0">
              <a:buNone/>
            </a:pPr>
            <a:r>
              <a:rPr lang="en-US" b="1" dirty="0"/>
              <a:t>Amazon S3 – Cloud Storage</a:t>
            </a:r>
            <a:endParaRPr lang="en-US" dirty="0"/>
          </a:p>
          <a:p>
            <a:pPr marL="342900" indent="-342900">
              <a:buFont typeface="Arial"/>
              <a:buChar char="•"/>
            </a:pPr>
            <a:r>
              <a:rPr lang="en-US" sz="2000" dirty="0"/>
              <a:t>Uploaded product images from the user are processed by the backend and sent to an Amazon S3 bucket</a:t>
            </a:r>
          </a:p>
          <a:p>
            <a:pPr marL="0" indent="0">
              <a:buNone/>
            </a:pPr>
            <a:endParaRPr lang="en-US" dirty="0"/>
          </a:p>
          <a:p>
            <a:pPr marL="342900" indent="-342900"/>
            <a:endParaRPr lang="en-US" dirty="0"/>
          </a:p>
          <a:p>
            <a:pPr marL="342900" indent="-342900"/>
            <a:endParaRPr lang="en-US" dirty="0"/>
          </a:p>
        </p:txBody>
      </p:sp>
      <p:pic>
        <p:nvPicPr>
          <p:cNvPr id="6" name="Picture 5" descr="A screenshot of a computer&#10;&#10;AI-generated content may be incorrect.">
            <a:extLst>
              <a:ext uri="{FF2B5EF4-FFF2-40B4-BE49-F238E27FC236}">
                <a16:creationId xmlns:a16="http://schemas.microsoft.com/office/drawing/2014/main" id="{0F64CDC7-DBAE-4247-4D2B-157058C01562}"/>
              </a:ext>
            </a:extLst>
          </p:cNvPr>
          <p:cNvPicPr>
            <a:picLocks noChangeAspect="1"/>
          </p:cNvPicPr>
          <p:nvPr/>
        </p:nvPicPr>
        <p:blipFill>
          <a:blip/>
          <a:stretch>
            <a:fillRect/>
          </a:stretch>
        </p:blipFill>
        <p:spPr>
          <a:xfrm>
            <a:off x="1005620" y="2341200"/>
            <a:ext cx="5589710" cy="2918313"/>
          </a:xfrm>
          <a:prstGeom prst="rect">
            <a:avLst/>
          </a:prstGeom>
        </p:spPr>
      </p:pic>
      <p:sp>
        <p:nvSpPr>
          <p:cNvPr id="4" name="TextBox 3">
            <a:extLst>
              <a:ext uri="{FF2B5EF4-FFF2-40B4-BE49-F238E27FC236}">
                <a16:creationId xmlns:a16="http://schemas.microsoft.com/office/drawing/2014/main" id="{FE7E28F5-66AA-D7AD-FE75-ACC2F9841450}"/>
              </a:ext>
            </a:extLst>
          </p:cNvPr>
          <p:cNvSpPr txBox="1"/>
          <p:nvPr/>
        </p:nvSpPr>
        <p:spPr>
          <a:xfrm>
            <a:off x="8583560" y="86703"/>
            <a:ext cx="2985959" cy="369332"/>
          </a:xfrm>
          <a:prstGeom prst="rect">
            <a:avLst/>
          </a:prstGeom>
          <a:noFill/>
        </p:spPr>
        <p:txBody>
          <a:bodyPr wrap="square" lIns="91440" tIns="45720" rIns="91440" bIns="45720" rtlCol="0" anchor="t">
            <a:spAutoFit/>
          </a:bodyPr>
          <a:lstStyle/>
          <a:p>
            <a:r>
              <a:rPr lang="en-US" dirty="0"/>
              <a:t>Now speaking: Alex</a:t>
            </a:r>
          </a:p>
        </p:txBody>
      </p:sp>
    </p:spTree>
    <p:extLst>
      <p:ext uri="{BB962C8B-B14F-4D97-AF65-F5344CB8AC3E}">
        <p14:creationId xmlns:p14="http://schemas.microsoft.com/office/powerpoint/2010/main" val="2824066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FCD18-8DF7-2BD6-D601-79E13E3AF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45713-2FE7-B670-E077-72121F057BBA}"/>
              </a:ext>
            </a:extLst>
          </p:cNvPr>
          <p:cNvSpPr>
            <a:spLocks noGrp="1"/>
          </p:cNvSpPr>
          <p:nvPr>
            <p:ph type="title" idx="4294967295"/>
          </p:nvPr>
        </p:nvSpPr>
        <p:spPr>
          <a:xfrm>
            <a:off x="838199" y="727997"/>
            <a:ext cx="10515600" cy="1325563"/>
          </a:xfrm>
        </p:spPr>
        <p:txBody>
          <a:bodyPr/>
          <a:lstStyle/>
          <a:p>
            <a:r>
              <a:rPr lang="en-US" dirty="0"/>
              <a:t>Continuous Integration and Deployment</a:t>
            </a:r>
          </a:p>
        </p:txBody>
      </p:sp>
      <p:pic>
        <p:nvPicPr>
          <p:cNvPr id="9" name="Picture 8">
            <a:extLst>
              <a:ext uri="{FF2B5EF4-FFF2-40B4-BE49-F238E27FC236}">
                <a16:creationId xmlns:a16="http://schemas.microsoft.com/office/drawing/2014/main" id="{BF124D28-1B09-28C1-FAAF-9B07EEF066CC}"/>
              </a:ext>
            </a:extLst>
          </p:cNvPr>
          <p:cNvPicPr>
            <a:picLocks noChangeAspect="1"/>
          </p:cNvPicPr>
          <p:nvPr/>
        </p:nvPicPr>
        <p:blipFill>
          <a:blip/>
          <a:stretch>
            <a:fillRect/>
          </a:stretch>
        </p:blipFill>
        <p:spPr>
          <a:xfrm>
            <a:off x="901287" y="2337510"/>
            <a:ext cx="10389423" cy="3220047"/>
          </a:xfrm>
          <a:prstGeom prst="rect">
            <a:avLst/>
          </a:prstGeom>
        </p:spPr>
      </p:pic>
      <p:sp>
        <p:nvSpPr>
          <p:cNvPr id="3" name="TextBox 2">
            <a:extLst>
              <a:ext uri="{FF2B5EF4-FFF2-40B4-BE49-F238E27FC236}">
                <a16:creationId xmlns:a16="http://schemas.microsoft.com/office/drawing/2014/main" id="{01A41424-EB9C-2C13-EE4A-AEA30015C9C0}"/>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3982535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31FAA-18E9-1279-DD17-0415973DF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624D9-1A8C-26CB-152F-DCFEAFD02198}"/>
              </a:ext>
            </a:extLst>
          </p:cNvPr>
          <p:cNvSpPr>
            <a:spLocks noGrp="1"/>
          </p:cNvSpPr>
          <p:nvPr>
            <p:ph type="title"/>
          </p:nvPr>
        </p:nvSpPr>
        <p:spPr>
          <a:xfrm>
            <a:off x="838200" y="623396"/>
            <a:ext cx="10515600" cy="1325563"/>
          </a:xfrm>
        </p:spPr>
        <p:txBody>
          <a:bodyPr/>
          <a:lstStyle/>
          <a:p>
            <a:r>
              <a:rPr lang="en-US" dirty="0"/>
              <a:t>Continuous Integration</a:t>
            </a:r>
          </a:p>
        </p:txBody>
      </p:sp>
      <p:sp>
        <p:nvSpPr>
          <p:cNvPr id="5" name="Content Placeholder 4">
            <a:extLst>
              <a:ext uri="{FF2B5EF4-FFF2-40B4-BE49-F238E27FC236}">
                <a16:creationId xmlns:a16="http://schemas.microsoft.com/office/drawing/2014/main" id="{F728D234-FBEF-6606-2FD8-BE5C858C54EA}"/>
              </a:ext>
            </a:extLst>
          </p:cNvPr>
          <p:cNvSpPr>
            <a:spLocks noGrp="1"/>
          </p:cNvSpPr>
          <p:nvPr>
            <p:ph idx="1"/>
          </p:nvPr>
        </p:nvSpPr>
        <p:spPr>
          <a:xfrm>
            <a:off x="1068897" y="4560421"/>
            <a:ext cx="4964129" cy="1328639"/>
          </a:xfrm>
        </p:spPr>
        <p:txBody>
          <a:bodyPr vert="horz" lIns="91440" tIns="45720" rIns="91440" bIns="45720" rtlCol="0" anchor="t">
            <a:normAutofit/>
          </a:bodyPr>
          <a:lstStyle/>
          <a:p>
            <a:pPr marL="0" indent="0" algn="ctr">
              <a:buNone/>
            </a:pPr>
            <a:r>
              <a:rPr lang="en-US" sz="2400" b="1" dirty="0"/>
              <a:t>Linting Scripts</a:t>
            </a:r>
          </a:p>
          <a:p>
            <a:pPr marL="0" indent="0" algn="ctr">
              <a:buNone/>
            </a:pPr>
            <a:r>
              <a:rPr lang="en-US" sz="2400" dirty="0"/>
              <a:t>Ensure python code is consistent</a:t>
            </a:r>
          </a:p>
          <a:p>
            <a:pPr marL="0" indent="0" algn="ctr">
              <a:buNone/>
            </a:pPr>
            <a:endParaRPr lang="en-US" b="1" dirty="0"/>
          </a:p>
        </p:txBody>
      </p:sp>
      <p:pic>
        <p:nvPicPr>
          <p:cNvPr id="3" name="Picture 2" descr="Code Linter Check Icon 67204560 Vector Art at Vecteezy">
            <a:extLst>
              <a:ext uri="{FF2B5EF4-FFF2-40B4-BE49-F238E27FC236}">
                <a16:creationId xmlns:a16="http://schemas.microsoft.com/office/drawing/2014/main" id="{C2F79488-47ED-1CA5-6D73-F4C2D9281DB9}"/>
              </a:ext>
            </a:extLst>
          </p:cNvPr>
          <p:cNvPicPr>
            <a:picLocks noChangeAspect="1"/>
          </p:cNvPicPr>
          <p:nvPr/>
        </p:nvPicPr>
        <p:blipFill>
          <a:blip/>
          <a:stretch>
            <a:fillRect/>
          </a:stretch>
        </p:blipFill>
        <p:spPr>
          <a:xfrm>
            <a:off x="2399912" y="2642852"/>
            <a:ext cx="2302101" cy="1730190"/>
          </a:xfrm>
          <a:prstGeom prst="rect">
            <a:avLst/>
          </a:prstGeom>
        </p:spPr>
      </p:pic>
      <p:pic>
        <p:nvPicPr>
          <p:cNvPr id="4" name="Picture 3" descr="Testing - Free computer icons">
            <a:extLst>
              <a:ext uri="{FF2B5EF4-FFF2-40B4-BE49-F238E27FC236}">
                <a16:creationId xmlns:a16="http://schemas.microsoft.com/office/drawing/2014/main" id="{7BF25C00-0819-44EA-D4BE-D969B8A4E00C}"/>
              </a:ext>
            </a:extLst>
          </p:cNvPr>
          <p:cNvPicPr>
            <a:picLocks noChangeAspect="1"/>
          </p:cNvPicPr>
          <p:nvPr/>
        </p:nvPicPr>
        <p:blipFill>
          <a:blip/>
          <a:stretch>
            <a:fillRect/>
          </a:stretch>
        </p:blipFill>
        <p:spPr>
          <a:xfrm>
            <a:off x="7407424" y="2642853"/>
            <a:ext cx="2194524" cy="1730189"/>
          </a:xfrm>
          <a:prstGeom prst="rect">
            <a:avLst/>
          </a:prstGeom>
        </p:spPr>
      </p:pic>
      <p:sp>
        <p:nvSpPr>
          <p:cNvPr id="7" name="Content Placeholder 4">
            <a:extLst>
              <a:ext uri="{FF2B5EF4-FFF2-40B4-BE49-F238E27FC236}">
                <a16:creationId xmlns:a16="http://schemas.microsoft.com/office/drawing/2014/main" id="{1E0B04B9-0A6E-1474-8AE5-4A9365D2BE59}"/>
              </a:ext>
            </a:extLst>
          </p:cNvPr>
          <p:cNvSpPr txBox="1">
            <a:spLocks/>
          </p:cNvSpPr>
          <p:nvPr/>
        </p:nvSpPr>
        <p:spPr>
          <a:xfrm>
            <a:off x="5950621" y="4560421"/>
            <a:ext cx="5108129" cy="133463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dirty="0"/>
              <a:t>Testing</a:t>
            </a:r>
          </a:p>
          <a:p>
            <a:pPr marL="0" indent="0" algn="ctr">
              <a:buNone/>
            </a:pPr>
            <a:r>
              <a:rPr lang="en-US" sz="2400" dirty="0"/>
              <a:t>Run tests on the frontend</a:t>
            </a:r>
          </a:p>
          <a:p>
            <a:pPr marL="0" indent="0" algn="ctr">
              <a:buFont typeface="Arial" panose="020B0604020202020204" pitchFamily="34" charset="0"/>
              <a:buNone/>
            </a:pPr>
            <a:endParaRPr lang="en-US" b="1" dirty="0"/>
          </a:p>
        </p:txBody>
      </p:sp>
      <p:sp>
        <p:nvSpPr>
          <p:cNvPr id="8" name="TextBox 7">
            <a:extLst>
              <a:ext uri="{FF2B5EF4-FFF2-40B4-BE49-F238E27FC236}">
                <a16:creationId xmlns:a16="http://schemas.microsoft.com/office/drawing/2014/main" id="{219FB08A-6928-1BA6-86DB-04DDBF6F11FE}"/>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841051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6DB49-6875-9719-2266-496F12248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0D385-9EC1-6E30-9324-3B49AC3E3547}"/>
              </a:ext>
            </a:extLst>
          </p:cNvPr>
          <p:cNvSpPr>
            <a:spLocks noGrp="1"/>
          </p:cNvSpPr>
          <p:nvPr>
            <p:ph type="title" idx="4294967295"/>
          </p:nvPr>
        </p:nvSpPr>
        <p:spPr>
          <a:xfrm>
            <a:off x="838200" y="336261"/>
            <a:ext cx="10515600" cy="1325563"/>
          </a:xfrm>
        </p:spPr>
        <p:txBody>
          <a:bodyPr/>
          <a:lstStyle/>
          <a:p>
            <a:r>
              <a:rPr lang="en-US" dirty="0"/>
              <a:t>Continuous Deployment</a:t>
            </a:r>
          </a:p>
        </p:txBody>
      </p:sp>
      <p:sp>
        <p:nvSpPr>
          <p:cNvPr id="3" name="TextBox 2">
            <a:extLst>
              <a:ext uri="{FF2B5EF4-FFF2-40B4-BE49-F238E27FC236}">
                <a16:creationId xmlns:a16="http://schemas.microsoft.com/office/drawing/2014/main" id="{C848E629-048B-BDB8-421F-842CBF180DC7}"/>
              </a:ext>
            </a:extLst>
          </p:cNvPr>
          <p:cNvSpPr txBox="1"/>
          <p:nvPr/>
        </p:nvSpPr>
        <p:spPr>
          <a:xfrm>
            <a:off x="873884" y="3429000"/>
            <a:ext cx="5031709" cy="19479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On a push to dev the workflow does the following:</a:t>
            </a:r>
          </a:p>
          <a:p>
            <a:pPr marL="285750" indent="-285750">
              <a:buFont typeface="Arial"/>
              <a:buChar char="•"/>
            </a:pPr>
            <a:r>
              <a:rPr lang="en-US" sz="2400" dirty="0"/>
              <a:t>SSH into the EC2 instance</a:t>
            </a:r>
          </a:p>
          <a:p>
            <a:pPr marL="285750" indent="-285750">
              <a:buFont typeface="Arial"/>
              <a:buChar char="•"/>
            </a:pPr>
            <a:r>
              <a:rPr lang="en-US" sz="2400" dirty="0"/>
              <a:t>Pull the latest code from dev</a:t>
            </a:r>
          </a:p>
          <a:p>
            <a:pPr marL="285750" indent="-285750">
              <a:buFont typeface="Arial"/>
              <a:buChar char="•"/>
            </a:pPr>
            <a:r>
              <a:rPr lang="en-US" sz="2400" dirty="0"/>
              <a:t>Restart the flask server</a:t>
            </a:r>
          </a:p>
        </p:txBody>
      </p:sp>
      <p:pic>
        <p:nvPicPr>
          <p:cNvPr id="5" name="Picture 4" descr="Cloud computing - Free networking icons">
            <a:extLst>
              <a:ext uri="{FF2B5EF4-FFF2-40B4-BE49-F238E27FC236}">
                <a16:creationId xmlns:a16="http://schemas.microsoft.com/office/drawing/2014/main" id="{367E6E61-7A6B-64E5-FD57-74206100671A}"/>
              </a:ext>
            </a:extLst>
          </p:cNvPr>
          <p:cNvPicPr>
            <a:picLocks noChangeAspect="1"/>
          </p:cNvPicPr>
          <p:nvPr/>
        </p:nvPicPr>
        <p:blipFill>
          <a:blip/>
          <a:stretch>
            <a:fillRect/>
          </a:stretch>
        </p:blipFill>
        <p:spPr>
          <a:xfrm>
            <a:off x="5128846" y="1331014"/>
            <a:ext cx="1934308" cy="1934308"/>
          </a:xfrm>
          <a:prstGeom prst="rect">
            <a:avLst/>
          </a:prstGeom>
        </p:spPr>
      </p:pic>
      <p:sp>
        <p:nvSpPr>
          <p:cNvPr id="4" name="TextBox 3">
            <a:extLst>
              <a:ext uri="{FF2B5EF4-FFF2-40B4-BE49-F238E27FC236}">
                <a16:creationId xmlns:a16="http://schemas.microsoft.com/office/drawing/2014/main" id="{B50C2DBC-2F34-99D7-6DAA-F3F795B2FDBE}"/>
              </a:ext>
            </a:extLst>
          </p:cNvPr>
          <p:cNvSpPr txBox="1"/>
          <p:nvPr/>
        </p:nvSpPr>
        <p:spPr>
          <a:xfrm>
            <a:off x="5849004" y="3265322"/>
            <a:ext cx="546911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Next steps:</a:t>
            </a:r>
          </a:p>
          <a:p>
            <a:pPr marL="342900" indent="-342900">
              <a:buFont typeface="Arial"/>
              <a:buChar char="•"/>
            </a:pPr>
            <a:r>
              <a:rPr lang="en-US" sz="2400" dirty="0">
                <a:latin typeface="Aptos"/>
              </a:rPr>
              <a:t>Have two flask servers running on the EC2 instance, a main on that updates when merging into dev, and a testing one that updates when a pull request is made so we can spot issues before merging into dev</a:t>
            </a:r>
          </a:p>
        </p:txBody>
      </p:sp>
      <p:sp>
        <p:nvSpPr>
          <p:cNvPr id="7" name="TextBox 6">
            <a:extLst>
              <a:ext uri="{FF2B5EF4-FFF2-40B4-BE49-F238E27FC236}">
                <a16:creationId xmlns:a16="http://schemas.microsoft.com/office/drawing/2014/main" id="{5A725A8B-3D4D-6F13-2B0F-416209C26137}"/>
              </a:ext>
            </a:extLst>
          </p:cNvPr>
          <p:cNvSpPr txBox="1"/>
          <p:nvPr/>
        </p:nvSpPr>
        <p:spPr>
          <a:xfrm>
            <a:off x="8583560" y="86703"/>
            <a:ext cx="2985959" cy="369332"/>
          </a:xfrm>
          <a:prstGeom prst="rect">
            <a:avLst/>
          </a:prstGeom>
          <a:noFill/>
        </p:spPr>
        <p:txBody>
          <a:bodyPr wrap="square" lIns="91440" tIns="45720" rIns="91440" bIns="45720" rtlCol="0" anchor="t">
            <a:spAutoFit/>
          </a:bodyPr>
          <a:lstStyle/>
          <a:p>
            <a:r>
              <a:rPr lang="en-US" dirty="0"/>
              <a:t>Now speaking: Alex</a:t>
            </a:r>
          </a:p>
        </p:txBody>
      </p:sp>
    </p:spTree>
    <p:extLst>
      <p:ext uri="{BB962C8B-B14F-4D97-AF65-F5344CB8AC3E}">
        <p14:creationId xmlns:p14="http://schemas.microsoft.com/office/powerpoint/2010/main" val="265128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49AB7-B225-D3D5-331F-074A9DFCAA36}"/>
              </a:ext>
            </a:extLst>
          </p:cNvPr>
          <p:cNvSpPr>
            <a:spLocks noGrp="1"/>
          </p:cNvSpPr>
          <p:nvPr>
            <p:ph type="title"/>
          </p:nvPr>
        </p:nvSpPr>
        <p:spPr/>
        <p:txBody>
          <a:bodyPr vert="horz" lIns="91440" tIns="45720" rIns="91440" bIns="45720" rtlCol="0" anchor="ctr">
            <a:noAutofit/>
          </a:bodyPr>
          <a:lstStyle/>
          <a:p>
            <a:r>
              <a:rPr lang="en-US" sz="3200">
                <a:solidFill>
                  <a:srgbClr val="000000"/>
                </a:solidFill>
                <a:ea typeface="+mj-lt"/>
                <a:cs typeface="+mj-lt"/>
              </a:rPr>
              <a:t>Client feedback</a:t>
            </a:r>
            <a:endParaRPr lang="en-US" sz="3200"/>
          </a:p>
        </p:txBody>
      </p:sp>
      <p:sp>
        <p:nvSpPr>
          <p:cNvPr id="3" name="Content Placeholder 2">
            <a:extLst>
              <a:ext uri="{FF2B5EF4-FFF2-40B4-BE49-F238E27FC236}">
                <a16:creationId xmlns:a16="http://schemas.microsoft.com/office/drawing/2014/main" id="{BA0C66DE-A0EB-E23C-7B28-0B9A2195DF50}"/>
              </a:ext>
            </a:extLst>
          </p:cNvPr>
          <p:cNvSpPr>
            <a:spLocks noGrp="1"/>
          </p:cNvSpPr>
          <p:nvPr>
            <p:ph idx="1"/>
          </p:nvPr>
        </p:nvSpPr>
        <p:spPr>
          <a:xfrm>
            <a:off x="895336" y="2061600"/>
            <a:ext cx="3302698" cy="4351338"/>
          </a:xfrm>
        </p:spPr>
        <p:txBody>
          <a:bodyPr vert="horz" lIns="91440" tIns="45720" rIns="91440" bIns="45720" rtlCol="0" anchor="t">
            <a:normAutofit/>
          </a:bodyPr>
          <a:lstStyle/>
          <a:p>
            <a:pPr marL="0" indent="0">
              <a:buNone/>
            </a:pPr>
            <a:r>
              <a:rPr lang="en-US" u="sng" dirty="0">
                <a:solidFill>
                  <a:srgbClr val="000000"/>
                </a:solidFill>
                <a:ea typeface="+mn-lt"/>
                <a:cs typeface="+mn-lt"/>
              </a:rPr>
              <a:t>Latest feedback:</a:t>
            </a:r>
            <a:endParaRPr lang="en-US" u="sng" dirty="0">
              <a:solidFill>
                <a:srgbClr val="000000"/>
              </a:solidFill>
            </a:endParaRPr>
          </a:p>
          <a:p>
            <a:r>
              <a:rPr lang="en-US" dirty="0">
                <a:solidFill>
                  <a:srgbClr val="000000"/>
                </a:solidFill>
                <a:ea typeface="+mn-lt"/>
                <a:cs typeface="+mn-lt"/>
              </a:rPr>
              <a:t>Generally happy and thinks we know what we are doing </a:t>
            </a:r>
            <a:endParaRPr lang="en-US" dirty="0"/>
          </a:p>
          <a:p>
            <a:r>
              <a:rPr lang="en-US" dirty="0">
                <a:solidFill>
                  <a:srgbClr val="000000"/>
                </a:solidFill>
                <a:ea typeface="+mn-lt"/>
                <a:cs typeface="+mn-lt"/>
              </a:rPr>
              <a:t>Propose new ideas for gamification  </a:t>
            </a:r>
            <a:endParaRPr lang="en-US" dirty="0"/>
          </a:p>
          <a:p>
            <a:r>
              <a:rPr lang="en-US" dirty="0">
                <a:solidFill>
                  <a:srgbClr val="000000"/>
                </a:solidFill>
                <a:ea typeface="+mn-lt"/>
                <a:cs typeface="+mn-lt"/>
              </a:rPr>
              <a:t>Pointed out some areas of improvement</a:t>
            </a:r>
            <a:endParaRPr lang="en-US" dirty="0"/>
          </a:p>
          <a:p>
            <a:endParaRPr lang="en-US" dirty="0"/>
          </a:p>
        </p:txBody>
      </p:sp>
      <p:pic>
        <p:nvPicPr>
          <p:cNvPr id="7" name="Picture 6" descr="A screenshot of a computer&#10;&#10;AI-generated content may be incorrect.">
            <a:extLst>
              <a:ext uri="{FF2B5EF4-FFF2-40B4-BE49-F238E27FC236}">
                <a16:creationId xmlns:a16="http://schemas.microsoft.com/office/drawing/2014/main" id="{C18047BB-63F8-7E10-F640-536891BBC218}"/>
              </a:ext>
            </a:extLst>
          </p:cNvPr>
          <p:cNvPicPr>
            <a:picLocks noChangeAspect="1"/>
          </p:cNvPicPr>
          <p:nvPr/>
        </p:nvPicPr>
        <p:blipFill>
          <a:blip/>
          <a:stretch>
            <a:fillRect/>
          </a:stretch>
        </p:blipFill>
        <p:spPr>
          <a:xfrm>
            <a:off x="4126412" y="1983287"/>
            <a:ext cx="8062326" cy="2891424"/>
          </a:xfrm>
          <a:prstGeom prst="rect">
            <a:avLst/>
          </a:prstGeom>
        </p:spPr>
      </p:pic>
      <p:sp>
        <p:nvSpPr>
          <p:cNvPr id="6" name="TextBox 5">
            <a:extLst>
              <a:ext uri="{FF2B5EF4-FFF2-40B4-BE49-F238E27FC236}">
                <a16:creationId xmlns:a16="http://schemas.microsoft.com/office/drawing/2014/main" id="{4A47EC15-6DA1-FDD7-FBF0-56E654EBEFCF}"/>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706691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52243-81FC-4C98-C369-3465F72B55BC}"/>
              </a:ext>
            </a:extLst>
          </p:cNvPr>
          <p:cNvSpPr>
            <a:spLocks noGrp="1"/>
          </p:cNvSpPr>
          <p:nvPr>
            <p:ph type="title" idx="4294967295"/>
          </p:nvPr>
        </p:nvSpPr>
        <p:spPr>
          <a:xfrm>
            <a:off x="1295400" y="530564"/>
            <a:ext cx="9601200" cy="1303337"/>
          </a:xfrm>
        </p:spPr>
        <p:txBody>
          <a:bodyPr vert="horz" lIns="91440" tIns="45720" rIns="91440" bIns="45720" rtlCol="0" anchor="ctr">
            <a:noAutofit/>
          </a:bodyPr>
          <a:lstStyle/>
          <a:p>
            <a:r>
              <a:rPr lang="en-US" sz="3200" dirty="0">
                <a:solidFill>
                  <a:srgbClr val="000000"/>
                </a:solidFill>
                <a:ea typeface="+mj-lt"/>
                <a:cs typeface="+mj-lt"/>
              </a:rPr>
              <a:t>User feedback of testing day - General trend</a:t>
            </a:r>
            <a:endParaRPr lang="en-US" sz="3200" dirty="0"/>
          </a:p>
        </p:txBody>
      </p:sp>
      <p:sp>
        <p:nvSpPr>
          <p:cNvPr id="3" name="Content Placeholder 2">
            <a:extLst>
              <a:ext uri="{FF2B5EF4-FFF2-40B4-BE49-F238E27FC236}">
                <a16:creationId xmlns:a16="http://schemas.microsoft.com/office/drawing/2014/main" id="{9204F3D7-2520-D6B6-5A8C-56603ED8B5B8}"/>
              </a:ext>
            </a:extLst>
          </p:cNvPr>
          <p:cNvSpPr>
            <a:spLocks noGrp="1"/>
          </p:cNvSpPr>
          <p:nvPr>
            <p:ph idx="4294967295"/>
          </p:nvPr>
        </p:nvSpPr>
        <p:spPr>
          <a:xfrm>
            <a:off x="993058" y="1802416"/>
            <a:ext cx="4200525" cy="4351338"/>
          </a:xfrm>
        </p:spPr>
        <p:txBody>
          <a:bodyPr vert="horz" lIns="91440" tIns="45720" rIns="91440" bIns="45720" rtlCol="0" anchor="t">
            <a:normAutofit fontScale="92500" lnSpcReduction="10000"/>
          </a:bodyPr>
          <a:lstStyle/>
          <a:p>
            <a:pPr marL="0" indent="0">
              <a:buNone/>
            </a:pPr>
            <a:r>
              <a:rPr lang="en-US" dirty="0">
                <a:solidFill>
                  <a:srgbClr val="000000"/>
                </a:solidFill>
                <a:ea typeface="+mn-lt"/>
                <a:cs typeface="+mn-lt"/>
              </a:rPr>
              <a:t>Method: Give user the app from home screen and let them explore it freely, then voice recorded interview is held. </a:t>
            </a:r>
            <a:endParaRPr lang="en-US" dirty="0">
              <a:solidFill>
                <a:srgbClr val="000000"/>
              </a:solidFill>
            </a:endParaRPr>
          </a:p>
          <a:p>
            <a:pPr marL="0" indent="0">
              <a:buNone/>
            </a:pPr>
            <a:r>
              <a:rPr lang="en-US" u="sng" dirty="0">
                <a:solidFill>
                  <a:srgbClr val="000000"/>
                </a:solidFill>
                <a:ea typeface="+mn-lt"/>
                <a:cs typeface="+mn-lt"/>
              </a:rPr>
              <a:t>Feedback of 10 total users: </a:t>
            </a:r>
            <a:endParaRPr lang="en-US" u="sng" dirty="0"/>
          </a:p>
          <a:p>
            <a:r>
              <a:rPr lang="en-US" dirty="0">
                <a:solidFill>
                  <a:srgbClr val="000000"/>
                </a:solidFill>
                <a:ea typeface="+mn-lt"/>
                <a:cs typeface="+mn-lt"/>
              </a:rPr>
              <a:t>80% complimented our UI and interface </a:t>
            </a:r>
            <a:endParaRPr lang="en-US" dirty="0"/>
          </a:p>
          <a:p>
            <a:r>
              <a:rPr lang="en-US" dirty="0">
                <a:solidFill>
                  <a:srgbClr val="000000"/>
                </a:solidFill>
                <a:ea typeface="+mn-lt"/>
                <a:cs typeface="+mn-lt"/>
              </a:rPr>
              <a:t>50% complimented swiping feature </a:t>
            </a:r>
            <a:endParaRPr lang="en-US" dirty="0"/>
          </a:p>
          <a:p>
            <a:r>
              <a:rPr lang="en-US" dirty="0">
                <a:solidFill>
                  <a:srgbClr val="000000"/>
                </a:solidFill>
                <a:ea typeface="+mn-lt"/>
                <a:cs typeface="+mn-lt"/>
              </a:rPr>
              <a:t> Average 2.67/5 score on “how different from others”</a:t>
            </a:r>
            <a:endParaRPr lang="en-US" dirty="0"/>
          </a:p>
          <a:p>
            <a:endParaRPr lang="en-US" dirty="0"/>
          </a:p>
        </p:txBody>
      </p:sp>
      <p:pic>
        <p:nvPicPr>
          <p:cNvPr id="4" name="Picture 3" descr="A screenshot of a computer screen&#10;&#10;AI-generated content may be incorrect.">
            <a:extLst>
              <a:ext uri="{FF2B5EF4-FFF2-40B4-BE49-F238E27FC236}">
                <a16:creationId xmlns:a16="http://schemas.microsoft.com/office/drawing/2014/main" id="{E9E6894C-7F3B-0441-EEE5-2A2E015E5674}"/>
              </a:ext>
            </a:extLst>
          </p:cNvPr>
          <p:cNvPicPr>
            <a:picLocks noChangeAspect="1"/>
          </p:cNvPicPr>
          <p:nvPr/>
        </p:nvPicPr>
        <p:blipFill>
          <a:blip/>
          <a:stretch>
            <a:fillRect/>
          </a:stretch>
        </p:blipFill>
        <p:spPr>
          <a:xfrm>
            <a:off x="5456729" y="1510998"/>
            <a:ext cx="5742213" cy="4642756"/>
          </a:xfrm>
          <a:prstGeom prst="rect">
            <a:avLst/>
          </a:prstGeom>
        </p:spPr>
      </p:pic>
      <p:sp>
        <p:nvSpPr>
          <p:cNvPr id="6" name="TextBox 5">
            <a:extLst>
              <a:ext uri="{FF2B5EF4-FFF2-40B4-BE49-F238E27FC236}">
                <a16:creationId xmlns:a16="http://schemas.microsoft.com/office/drawing/2014/main" id="{58EA6AE8-216A-E93D-9942-C12A26B1CD11}"/>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Jen</a:t>
            </a:r>
            <a:endParaRPr lang="en-SG" dirty="0"/>
          </a:p>
        </p:txBody>
      </p:sp>
    </p:spTree>
    <p:extLst>
      <p:ext uri="{BB962C8B-B14F-4D97-AF65-F5344CB8AC3E}">
        <p14:creationId xmlns:p14="http://schemas.microsoft.com/office/powerpoint/2010/main" val="1119764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D1ABC-E4E9-0605-E8A5-252A34C7BD8C}"/>
              </a:ext>
            </a:extLst>
          </p:cNvPr>
          <p:cNvSpPr>
            <a:spLocks noGrp="1"/>
          </p:cNvSpPr>
          <p:nvPr>
            <p:ph type="title" idx="4294967295"/>
          </p:nvPr>
        </p:nvSpPr>
        <p:spPr>
          <a:xfrm>
            <a:off x="1295400" y="308494"/>
            <a:ext cx="9601200" cy="1303337"/>
          </a:xfrm>
        </p:spPr>
        <p:txBody>
          <a:bodyPr vert="horz" lIns="91440" tIns="45720" rIns="91440" bIns="45720" rtlCol="0" anchor="ctr">
            <a:noAutofit/>
          </a:bodyPr>
          <a:lstStyle/>
          <a:p>
            <a:r>
              <a:rPr lang="en-US" sz="3200" dirty="0">
                <a:solidFill>
                  <a:srgbClr val="000000"/>
                </a:solidFill>
                <a:ea typeface="+mj-lt"/>
                <a:cs typeface="+mj-lt"/>
              </a:rPr>
              <a:t>User feedback of testing day - Liked items page</a:t>
            </a:r>
            <a:endParaRPr lang="en-US" sz="3200" dirty="0"/>
          </a:p>
        </p:txBody>
      </p:sp>
      <p:sp>
        <p:nvSpPr>
          <p:cNvPr id="3" name="Content Placeholder 2">
            <a:extLst>
              <a:ext uri="{FF2B5EF4-FFF2-40B4-BE49-F238E27FC236}">
                <a16:creationId xmlns:a16="http://schemas.microsoft.com/office/drawing/2014/main" id="{A1DB8E09-9572-E335-2717-0EB11B70C18F}"/>
              </a:ext>
            </a:extLst>
          </p:cNvPr>
          <p:cNvSpPr>
            <a:spLocks noGrp="1"/>
          </p:cNvSpPr>
          <p:nvPr>
            <p:ph idx="4294967295"/>
          </p:nvPr>
        </p:nvSpPr>
        <p:spPr>
          <a:xfrm>
            <a:off x="936957" y="1683758"/>
            <a:ext cx="3867150" cy="4497388"/>
          </a:xfrm>
        </p:spPr>
        <p:txBody>
          <a:bodyPr vert="horz" lIns="91440" tIns="45720" rIns="91440" bIns="45720" rtlCol="0" anchor="t">
            <a:normAutofit/>
          </a:bodyPr>
          <a:lstStyle/>
          <a:p>
            <a:pPr marL="0" indent="0">
              <a:buNone/>
            </a:pPr>
            <a:r>
              <a:rPr lang="en-US" dirty="0">
                <a:solidFill>
                  <a:srgbClr val="000000"/>
                </a:solidFill>
                <a:ea typeface="+mn-lt"/>
                <a:cs typeface="+mn-lt"/>
              </a:rPr>
              <a:t>User mentioned about should be able to have a liked items page to check the items they liked during swiping or exploring.  </a:t>
            </a:r>
            <a:endParaRPr lang="en-US" dirty="0">
              <a:solidFill>
                <a:srgbClr val="000000"/>
              </a:solidFill>
            </a:endParaRPr>
          </a:p>
          <a:p>
            <a:pPr marL="0" indent="0">
              <a:buNone/>
            </a:pPr>
            <a:r>
              <a:rPr lang="en-US" dirty="0">
                <a:solidFill>
                  <a:srgbClr val="000000"/>
                </a:solidFill>
                <a:ea typeface="+mn-lt"/>
                <a:cs typeface="+mn-lt"/>
              </a:rPr>
              <a:t>This enable them to check items they liked and increase chance of buying. </a:t>
            </a:r>
            <a:endParaRPr lang="en-US" dirty="0"/>
          </a:p>
          <a:p>
            <a:pPr marL="0" indent="0">
              <a:buNone/>
            </a:pPr>
            <a:r>
              <a:rPr lang="en-US" dirty="0">
                <a:solidFill>
                  <a:srgbClr val="000000"/>
                </a:solidFill>
                <a:ea typeface="+mn-lt"/>
                <a:cs typeface="+mn-lt"/>
              </a:rPr>
              <a:t>Currently frontend done, backend in progress. </a:t>
            </a:r>
            <a:br>
              <a:rPr lang="en-US" dirty="0"/>
            </a:br>
            <a:endParaRPr lang="en-US" dirty="0"/>
          </a:p>
        </p:txBody>
      </p:sp>
      <p:pic>
        <p:nvPicPr>
          <p:cNvPr id="4" name="Picture 3" descr="A black rectangle with white dots&#10;&#10;AI-generated content may be incorrect.">
            <a:extLst>
              <a:ext uri="{FF2B5EF4-FFF2-40B4-BE49-F238E27FC236}">
                <a16:creationId xmlns:a16="http://schemas.microsoft.com/office/drawing/2014/main" id="{648ABF65-B04F-0389-A324-ADFA50F41BA1}"/>
              </a:ext>
            </a:extLst>
          </p:cNvPr>
          <p:cNvPicPr>
            <a:picLocks noChangeAspect="1"/>
          </p:cNvPicPr>
          <p:nvPr/>
        </p:nvPicPr>
        <p:blipFill>
          <a:blip/>
          <a:stretch>
            <a:fillRect/>
          </a:stretch>
        </p:blipFill>
        <p:spPr>
          <a:xfrm>
            <a:off x="4759365" y="1716950"/>
            <a:ext cx="2223630" cy="4907723"/>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2FDA8FA0-9E26-BE81-6BF6-E1E39B5CCAE5}"/>
              </a:ext>
            </a:extLst>
          </p:cNvPr>
          <p:cNvPicPr>
            <a:picLocks noChangeAspect="1"/>
          </p:cNvPicPr>
          <p:nvPr/>
        </p:nvPicPr>
        <p:blipFill>
          <a:blip/>
          <a:stretch>
            <a:fillRect/>
          </a:stretch>
        </p:blipFill>
        <p:spPr>
          <a:xfrm>
            <a:off x="7302297" y="1702784"/>
            <a:ext cx="2234813" cy="492188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87126F6-7696-C796-6109-BBB87007ED82}"/>
              </a:ext>
            </a:extLst>
          </p:cNvPr>
          <p:cNvPicPr>
            <a:picLocks noChangeAspect="1"/>
          </p:cNvPicPr>
          <p:nvPr/>
        </p:nvPicPr>
        <p:blipFill>
          <a:blip/>
          <a:stretch>
            <a:fillRect/>
          </a:stretch>
        </p:blipFill>
        <p:spPr>
          <a:xfrm>
            <a:off x="9560711" y="1692347"/>
            <a:ext cx="2245699" cy="4921889"/>
          </a:xfrm>
          <a:prstGeom prst="rect">
            <a:avLst/>
          </a:prstGeom>
        </p:spPr>
      </p:pic>
      <p:sp>
        <p:nvSpPr>
          <p:cNvPr id="8" name="TextBox 7">
            <a:extLst>
              <a:ext uri="{FF2B5EF4-FFF2-40B4-BE49-F238E27FC236}">
                <a16:creationId xmlns:a16="http://schemas.microsoft.com/office/drawing/2014/main" id="{8E4E0D69-B62C-22B8-553B-E8BA33B25234}"/>
              </a:ext>
            </a:extLst>
          </p:cNvPr>
          <p:cNvSpPr txBox="1"/>
          <p:nvPr/>
        </p:nvSpPr>
        <p:spPr>
          <a:xfrm>
            <a:off x="5188427" y="1236884"/>
            <a:ext cx="13564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Before</a:t>
            </a:r>
          </a:p>
        </p:txBody>
      </p:sp>
      <p:sp>
        <p:nvSpPr>
          <p:cNvPr id="9" name="TextBox 8">
            <a:extLst>
              <a:ext uri="{FF2B5EF4-FFF2-40B4-BE49-F238E27FC236}">
                <a16:creationId xmlns:a16="http://schemas.microsoft.com/office/drawing/2014/main" id="{7974D40C-97CA-2CB8-4226-DB8259CBEC1B}"/>
              </a:ext>
            </a:extLst>
          </p:cNvPr>
          <p:cNvSpPr txBox="1"/>
          <p:nvPr/>
        </p:nvSpPr>
        <p:spPr>
          <a:xfrm>
            <a:off x="8862727" y="1247321"/>
            <a:ext cx="13564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After</a:t>
            </a:r>
          </a:p>
        </p:txBody>
      </p:sp>
      <p:sp>
        <p:nvSpPr>
          <p:cNvPr id="11" name="TextBox 10">
            <a:extLst>
              <a:ext uri="{FF2B5EF4-FFF2-40B4-BE49-F238E27FC236}">
                <a16:creationId xmlns:a16="http://schemas.microsoft.com/office/drawing/2014/main" id="{1AA8AB53-0AE9-34DF-CE91-9441B407998F}"/>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Jen</a:t>
            </a:r>
            <a:endParaRPr lang="en-SG" dirty="0"/>
          </a:p>
        </p:txBody>
      </p:sp>
    </p:spTree>
    <p:extLst>
      <p:ext uri="{BB962C8B-B14F-4D97-AF65-F5344CB8AC3E}">
        <p14:creationId xmlns:p14="http://schemas.microsoft.com/office/powerpoint/2010/main" val="2276721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417BD-15E0-C43F-09FA-B5CA8D2F9E93}"/>
              </a:ext>
            </a:extLst>
          </p:cNvPr>
          <p:cNvSpPr>
            <a:spLocks noGrp="1"/>
          </p:cNvSpPr>
          <p:nvPr>
            <p:ph type="title" idx="4294967295"/>
          </p:nvPr>
        </p:nvSpPr>
        <p:spPr>
          <a:xfrm>
            <a:off x="1295400" y="221584"/>
            <a:ext cx="9601200" cy="1303337"/>
          </a:xfrm>
        </p:spPr>
        <p:txBody>
          <a:bodyPr vert="horz" lIns="91440" tIns="45720" rIns="91440" bIns="45720" rtlCol="0" anchor="ctr">
            <a:noAutofit/>
          </a:bodyPr>
          <a:lstStyle/>
          <a:p>
            <a:r>
              <a:rPr lang="en-US" sz="3200" dirty="0">
                <a:solidFill>
                  <a:srgbClr val="000000"/>
                </a:solidFill>
                <a:ea typeface="+mj-lt"/>
                <a:cs typeface="+mj-lt"/>
              </a:rPr>
              <a:t>User feedback of testing day - Explore page enhancement</a:t>
            </a:r>
            <a:endParaRPr lang="en-US" dirty="0"/>
          </a:p>
        </p:txBody>
      </p:sp>
      <p:sp>
        <p:nvSpPr>
          <p:cNvPr id="3" name="Content Placeholder 2">
            <a:extLst>
              <a:ext uri="{FF2B5EF4-FFF2-40B4-BE49-F238E27FC236}">
                <a16:creationId xmlns:a16="http://schemas.microsoft.com/office/drawing/2014/main" id="{C1C4513B-6AFA-19BD-5340-2D78E936888F}"/>
              </a:ext>
            </a:extLst>
          </p:cNvPr>
          <p:cNvSpPr>
            <a:spLocks noGrp="1"/>
          </p:cNvSpPr>
          <p:nvPr>
            <p:ph idx="4294967295"/>
          </p:nvPr>
        </p:nvSpPr>
        <p:spPr>
          <a:xfrm>
            <a:off x="1079810" y="1671790"/>
            <a:ext cx="4784725" cy="4351338"/>
          </a:xfrm>
        </p:spPr>
        <p:txBody>
          <a:bodyPr vert="horz" lIns="91440" tIns="45720" rIns="91440" bIns="45720" rtlCol="0" anchor="t">
            <a:normAutofit/>
          </a:bodyPr>
          <a:lstStyle/>
          <a:p>
            <a:pPr marL="0" indent="0">
              <a:buNone/>
            </a:pPr>
            <a:r>
              <a:rPr lang="en-US" dirty="0">
                <a:solidFill>
                  <a:srgbClr val="000000"/>
                </a:solidFill>
                <a:ea typeface="+mn-lt"/>
                <a:cs typeface="+mn-lt"/>
              </a:rPr>
              <a:t>User mentioned about having buy / skip feature for swiping. Some needed help for explaining what is this for. </a:t>
            </a:r>
            <a:endParaRPr lang="en-US" dirty="0">
              <a:solidFill>
                <a:srgbClr val="000000"/>
              </a:solidFill>
            </a:endParaRPr>
          </a:p>
          <a:p>
            <a:pPr marL="0" indent="0">
              <a:buNone/>
            </a:pPr>
            <a:r>
              <a:rPr lang="en-US" dirty="0">
                <a:solidFill>
                  <a:srgbClr val="000000"/>
                </a:solidFill>
                <a:ea typeface="+mn-lt"/>
                <a:cs typeface="+mn-lt"/>
              </a:rPr>
              <a:t>We updated the buttons and text annotation for swiping. The buttons allow users to directly like or skip, while the text, can be hidden, provides instruction on how to use for swiping. </a:t>
            </a:r>
            <a:endParaRPr lang="en-US" dirty="0"/>
          </a:p>
        </p:txBody>
      </p:sp>
      <p:pic>
        <p:nvPicPr>
          <p:cNvPr id="4" name="Picture 3" descr="A blender with fruit in it&#10;&#10;AI-generated content may be incorrect.">
            <a:extLst>
              <a:ext uri="{FF2B5EF4-FFF2-40B4-BE49-F238E27FC236}">
                <a16:creationId xmlns:a16="http://schemas.microsoft.com/office/drawing/2014/main" id="{2ADBD211-5049-957D-C3C6-85793D1D51D9}"/>
              </a:ext>
            </a:extLst>
          </p:cNvPr>
          <p:cNvPicPr>
            <a:picLocks noChangeAspect="1"/>
          </p:cNvPicPr>
          <p:nvPr/>
        </p:nvPicPr>
        <p:blipFill>
          <a:blip/>
          <a:stretch>
            <a:fillRect/>
          </a:stretch>
        </p:blipFill>
        <p:spPr>
          <a:xfrm>
            <a:off x="6096000" y="1467416"/>
            <a:ext cx="2446564" cy="5143500"/>
          </a:xfrm>
          <a:prstGeom prst="rect">
            <a:avLst/>
          </a:prstGeom>
        </p:spPr>
      </p:pic>
      <p:pic>
        <p:nvPicPr>
          <p:cNvPr id="5" name="Picture 4" descr="A screenshot of a blender&#10;&#10;AI-generated content may be incorrect.">
            <a:extLst>
              <a:ext uri="{FF2B5EF4-FFF2-40B4-BE49-F238E27FC236}">
                <a16:creationId xmlns:a16="http://schemas.microsoft.com/office/drawing/2014/main" id="{68E25B2F-09A2-912F-D3DD-5E2627D6DC4E}"/>
              </a:ext>
            </a:extLst>
          </p:cNvPr>
          <p:cNvPicPr>
            <a:picLocks noChangeAspect="1"/>
          </p:cNvPicPr>
          <p:nvPr/>
        </p:nvPicPr>
        <p:blipFill>
          <a:blip/>
          <a:stretch>
            <a:fillRect/>
          </a:stretch>
        </p:blipFill>
        <p:spPr>
          <a:xfrm>
            <a:off x="8798937" y="1503802"/>
            <a:ext cx="2435678" cy="5132614"/>
          </a:xfrm>
          <a:prstGeom prst="rect">
            <a:avLst/>
          </a:prstGeom>
        </p:spPr>
      </p:pic>
      <p:sp>
        <p:nvSpPr>
          <p:cNvPr id="7" name="TextBox 6">
            <a:extLst>
              <a:ext uri="{FF2B5EF4-FFF2-40B4-BE49-F238E27FC236}">
                <a16:creationId xmlns:a16="http://schemas.microsoft.com/office/drawing/2014/main" id="{D0B16AD0-7C85-7791-E965-3EDACDDDCB12}"/>
              </a:ext>
            </a:extLst>
          </p:cNvPr>
          <p:cNvSpPr txBox="1"/>
          <p:nvPr/>
        </p:nvSpPr>
        <p:spPr>
          <a:xfrm>
            <a:off x="6635485" y="1038210"/>
            <a:ext cx="13564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Before</a:t>
            </a:r>
          </a:p>
        </p:txBody>
      </p:sp>
      <p:sp>
        <p:nvSpPr>
          <p:cNvPr id="9" name="TextBox 8">
            <a:extLst>
              <a:ext uri="{FF2B5EF4-FFF2-40B4-BE49-F238E27FC236}">
                <a16:creationId xmlns:a16="http://schemas.microsoft.com/office/drawing/2014/main" id="{32ED3F9B-176D-3BA2-9A86-A8E78F9837D7}"/>
              </a:ext>
            </a:extLst>
          </p:cNvPr>
          <p:cNvSpPr txBox="1"/>
          <p:nvPr/>
        </p:nvSpPr>
        <p:spPr>
          <a:xfrm>
            <a:off x="9339018" y="1038209"/>
            <a:ext cx="13564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After</a:t>
            </a:r>
          </a:p>
        </p:txBody>
      </p:sp>
      <p:sp>
        <p:nvSpPr>
          <p:cNvPr id="8" name="TextBox 7">
            <a:extLst>
              <a:ext uri="{FF2B5EF4-FFF2-40B4-BE49-F238E27FC236}">
                <a16:creationId xmlns:a16="http://schemas.microsoft.com/office/drawing/2014/main" id="{D8ED97B5-B15C-1392-F0EC-5C661B76FF75}"/>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Jen</a:t>
            </a:r>
            <a:endParaRPr lang="en-SG" dirty="0"/>
          </a:p>
        </p:txBody>
      </p:sp>
    </p:spTree>
    <p:extLst>
      <p:ext uri="{BB962C8B-B14F-4D97-AF65-F5344CB8AC3E}">
        <p14:creationId xmlns:p14="http://schemas.microsoft.com/office/powerpoint/2010/main" val="2396536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A2A3-5E1D-8702-59EE-7958C1F95A73}"/>
              </a:ext>
            </a:extLst>
          </p:cNvPr>
          <p:cNvSpPr>
            <a:spLocks noGrp="1"/>
          </p:cNvSpPr>
          <p:nvPr>
            <p:ph type="title" idx="4294967295"/>
          </p:nvPr>
        </p:nvSpPr>
        <p:spPr>
          <a:xfrm>
            <a:off x="1569546" y="172941"/>
            <a:ext cx="9601200" cy="1303337"/>
          </a:xfrm>
        </p:spPr>
        <p:txBody>
          <a:bodyPr vert="horz" lIns="91440" tIns="45720" rIns="91440" bIns="45720" rtlCol="0" anchor="ctr">
            <a:noAutofit/>
          </a:bodyPr>
          <a:lstStyle/>
          <a:p>
            <a:r>
              <a:rPr lang="en-US" sz="3200" dirty="0">
                <a:solidFill>
                  <a:srgbClr val="000000"/>
                </a:solidFill>
                <a:ea typeface="+mj-lt"/>
                <a:cs typeface="+mj-lt"/>
              </a:rPr>
              <a:t>User feedback of testing day - Navigation improvement</a:t>
            </a:r>
            <a:endParaRPr lang="en-US" dirty="0"/>
          </a:p>
        </p:txBody>
      </p:sp>
      <p:sp>
        <p:nvSpPr>
          <p:cNvPr id="3" name="Content Placeholder 2">
            <a:extLst>
              <a:ext uri="{FF2B5EF4-FFF2-40B4-BE49-F238E27FC236}">
                <a16:creationId xmlns:a16="http://schemas.microsoft.com/office/drawing/2014/main" id="{05706C08-6DCF-71E0-5DD6-F43C45B942D2}"/>
              </a:ext>
            </a:extLst>
          </p:cNvPr>
          <p:cNvSpPr>
            <a:spLocks noGrp="1"/>
          </p:cNvSpPr>
          <p:nvPr>
            <p:ph idx="4294967295"/>
          </p:nvPr>
        </p:nvSpPr>
        <p:spPr>
          <a:xfrm>
            <a:off x="762651" y="1574504"/>
            <a:ext cx="3774368" cy="4351338"/>
          </a:xfrm>
        </p:spPr>
        <p:txBody>
          <a:bodyPr vert="horz" lIns="91440" tIns="45720" rIns="91440" bIns="45720" rtlCol="0" anchor="t">
            <a:normAutofit/>
          </a:bodyPr>
          <a:lstStyle/>
          <a:p>
            <a:pPr marL="0" indent="0">
              <a:buNone/>
            </a:pPr>
            <a:r>
              <a:rPr lang="en-US" dirty="0">
                <a:solidFill>
                  <a:srgbClr val="000000"/>
                </a:solidFill>
                <a:ea typeface="+mn-lt"/>
                <a:cs typeface="+mn-lt"/>
              </a:rPr>
              <a:t>Users mentioned about having an empty landing screen does not make sense. </a:t>
            </a:r>
          </a:p>
          <a:p>
            <a:pPr marL="0" indent="0">
              <a:buNone/>
            </a:pPr>
            <a:r>
              <a:rPr lang="en-US" dirty="0">
                <a:solidFill>
                  <a:srgbClr val="000000"/>
                </a:solidFill>
                <a:ea typeface="+mn-lt"/>
                <a:cs typeface="+mn-lt"/>
              </a:rPr>
              <a:t>Client also had feedback on this to let us simplify more. </a:t>
            </a:r>
            <a:endParaRPr lang="en-US" dirty="0">
              <a:solidFill>
                <a:srgbClr val="000000"/>
              </a:solidFill>
            </a:endParaRPr>
          </a:p>
          <a:p>
            <a:pPr marL="0" indent="0">
              <a:buNone/>
            </a:pPr>
            <a:r>
              <a:rPr lang="en-US" dirty="0">
                <a:solidFill>
                  <a:srgbClr val="000000"/>
                </a:solidFill>
                <a:ea typeface="+mn-lt"/>
                <a:cs typeface="+mn-lt"/>
              </a:rPr>
              <a:t>Marketplace being the default screen with simplified navigation provides simpler and more direct use.</a:t>
            </a:r>
            <a:endParaRPr lang="en-US" dirty="0"/>
          </a:p>
        </p:txBody>
      </p:sp>
      <p:pic>
        <p:nvPicPr>
          <p:cNvPr id="4" name="Picture 3" descr="A black rectangle with white dots&#10;&#10;AI-generated content may be incorrect.">
            <a:extLst>
              <a:ext uri="{FF2B5EF4-FFF2-40B4-BE49-F238E27FC236}">
                <a16:creationId xmlns:a16="http://schemas.microsoft.com/office/drawing/2014/main" id="{666A7FDA-D910-AF3E-058A-17A05FF8139C}"/>
              </a:ext>
            </a:extLst>
          </p:cNvPr>
          <p:cNvPicPr>
            <a:picLocks noChangeAspect="1"/>
          </p:cNvPicPr>
          <p:nvPr/>
        </p:nvPicPr>
        <p:blipFill>
          <a:blip/>
          <a:stretch>
            <a:fillRect/>
          </a:stretch>
        </p:blipFill>
        <p:spPr>
          <a:xfrm>
            <a:off x="4537019" y="1273360"/>
            <a:ext cx="2307137" cy="5022545"/>
          </a:xfrm>
          <a:prstGeom prst="rect">
            <a:avLst/>
          </a:prstGeom>
        </p:spPr>
      </p:pic>
      <p:pic>
        <p:nvPicPr>
          <p:cNvPr id="5" name="Picture 4" descr="A screenshot of a login screen&#10;&#10;AI-generated content may be incorrect.">
            <a:extLst>
              <a:ext uri="{FF2B5EF4-FFF2-40B4-BE49-F238E27FC236}">
                <a16:creationId xmlns:a16="http://schemas.microsoft.com/office/drawing/2014/main" id="{62F6070C-C95E-F778-1855-B0FB1DB7C71E}"/>
              </a:ext>
            </a:extLst>
          </p:cNvPr>
          <p:cNvPicPr>
            <a:picLocks noChangeAspect="1"/>
          </p:cNvPicPr>
          <p:nvPr/>
        </p:nvPicPr>
        <p:blipFill>
          <a:blip/>
          <a:stretch>
            <a:fillRect/>
          </a:stretch>
        </p:blipFill>
        <p:spPr>
          <a:xfrm>
            <a:off x="6855228" y="1290211"/>
            <a:ext cx="2296699" cy="4991230"/>
          </a:xfrm>
          <a:prstGeom prst="rect">
            <a:avLst/>
          </a:prstGeom>
        </p:spPr>
      </p:pic>
      <p:pic>
        <p:nvPicPr>
          <p:cNvPr id="6" name="Picture 5" descr="A screenshot of a phone&#10;&#10;AI-generated content may be incorrect.">
            <a:extLst>
              <a:ext uri="{FF2B5EF4-FFF2-40B4-BE49-F238E27FC236}">
                <a16:creationId xmlns:a16="http://schemas.microsoft.com/office/drawing/2014/main" id="{A255BB50-31A3-4551-D776-0654ADC4F775}"/>
              </a:ext>
            </a:extLst>
          </p:cNvPr>
          <p:cNvPicPr>
            <a:picLocks noChangeAspect="1"/>
          </p:cNvPicPr>
          <p:nvPr/>
        </p:nvPicPr>
        <p:blipFill>
          <a:blip/>
          <a:stretch>
            <a:fillRect/>
          </a:stretch>
        </p:blipFill>
        <p:spPr>
          <a:xfrm>
            <a:off x="9599622" y="1295280"/>
            <a:ext cx="2294164" cy="4978854"/>
          </a:xfrm>
          <a:prstGeom prst="rect">
            <a:avLst/>
          </a:prstGeom>
        </p:spPr>
      </p:pic>
      <p:sp>
        <p:nvSpPr>
          <p:cNvPr id="8" name="TextBox 7">
            <a:extLst>
              <a:ext uri="{FF2B5EF4-FFF2-40B4-BE49-F238E27FC236}">
                <a16:creationId xmlns:a16="http://schemas.microsoft.com/office/drawing/2014/main" id="{4FD3BF64-4C4C-8A0E-D7FF-E5D8837829F7}"/>
              </a:ext>
            </a:extLst>
          </p:cNvPr>
          <p:cNvSpPr txBox="1"/>
          <p:nvPr/>
        </p:nvSpPr>
        <p:spPr>
          <a:xfrm>
            <a:off x="6173501" y="824609"/>
            <a:ext cx="13564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Before</a:t>
            </a:r>
          </a:p>
        </p:txBody>
      </p:sp>
      <p:sp>
        <p:nvSpPr>
          <p:cNvPr id="10" name="TextBox 9">
            <a:extLst>
              <a:ext uri="{FF2B5EF4-FFF2-40B4-BE49-F238E27FC236}">
                <a16:creationId xmlns:a16="http://schemas.microsoft.com/office/drawing/2014/main" id="{F86B6B09-A193-8274-55A8-3890436406F2}"/>
              </a:ext>
            </a:extLst>
          </p:cNvPr>
          <p:cNvSpPr txBox="1"/>
          <p:nvPr/>
        </p:nvSpPr>
        <p:spPr>
          <a:xfrm>
            <a:off x="10067007" y="897677"/>
            <a:ext cx="13564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After</a:t>
            </a:r>
          </a:p>
        </p:txBody>
      </p:sp>
      <p:sp>
        <p:nvSpPr>
          <p:cNvPr id="11" name="TextBox 10">
            <a:extLst>
              <a:ext uri="{FF2B5EF4-FFF2-40B4-BE49-F238E27FC236}">
                <a16:creationId xmlns:a16="http://schemas.microsoft.com/office/drawing/2014/main" id="{9051324C-C61B-1884-9B32-894760F0F475}"/>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Jen</a:t>
            </a:r>
            <a:endParaRPr lang="en-SG" dirty="0"/>
          </a:p>
        </p:txBody>
      </p:sp>
    </p:spTree>
    <p:extLst>
      <p:ext uri="{BB962C8B-B14F-4D97-AF65-F5344CB8AC3E}">
        <p14:creationId xmlns:p14="http://schemas.microsoft.com/office/powerpoint/2010/main" val="2888651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4C3BC-02A2-3274-52D7-38D07869287C}"/>
              </a:ext>
            </a:extLst>
          </p:cNvPr>
          <p:cNvSpPr>
            <a:spLocks noGrp="1"/>
          </p:cNvSpPr>
          <p:nvPr>
            <p:ph type="title" idx="4294967295"/>
          </p:nvPr>
        </p:nvSpPr>
        <p:spPr>
          <a:xfrm>
            <a:off x="1295400" y="193672"/>
            <a:ext cx="9601200" cy="1303337"/>
          </a:xfrm>
        </p:spPr>
        <p:txBody>
          <a:bodyPr>
            <a:normAutofit/>
          </a:bodyPr>
          <a:lstStyle/>
          <a:p>
            <a:r>
              <a:rPr lang="en-US" sz="3200" dirty="0">
                <a:solidFill>
                  <a:srgbClr val="000000"/>
                </a:solidFill>
                <a:ea typeface="+mj-lt"/>
                <a:cs typeface="+mj-lt"/>
              </a:rPr>
              <a:t>Client feedback - Profile page simplification </a:t>
            </a:r>
            <a:endParaRPr lang="en-US" sz="3200" dirty="0"/>
          </a:p>
        </p:txBody>
      </p:sp>
      <p:sp>
        <p:nvSpPr>
          <p:cNvPr id="3" name="Content Placeholder 2">
            <a:extLst>
              <a:ext uri="{FF2B5EF4-FFF2-40B4-BE49-F238E27FC236}">
                <a16:creationId xmlns:a16="http://schemas.microsoft.com/office/drawing/2014/main" id="{A7A5D704-19C9-8D8C-556C-B3FF24C3C111}"/>
              </a:ext>
            </a:extLst>
          </p:cNvPr>
          <p:cNvSpPr>
            <a:spLocks noGrp="1"/>
          </p:cNvSpPr>
          <p:nvPr>
            <p:ph idx="4294967295"/>
          </p:nvPr>
        </p:nvSpPr>
        <p:spPr>
          <a:xfrm>
            <a:off x="973541" y="1497009"/>
            <a:ext cx="4430713" cy="4351337"/>
          </a:xfrm>
        </p:spPr>
        <p:txBody>
          <a:bodyPr vert="horz" lIns="91440" tIns="45720" rIns="91440" bIns="45720" rtlCol="0" anchor="t">
            <a:normAutofit/>
          </a:bodyPr>
          <a:lstStyle/>
          <a:p>
            <a:pPr marL="0" indent="0">
              <a:buNone/>
            </a:pPr>
            <a:r>
              <a:rPr lang="en-US" dirty="0">
                <a:solidFill>
                  <a:srgbClr val="000000"/>
                </a:solidFill>
                <a:ea typeface="+mn-lt"/>
                <a:cs typeface="+mn-lt"/>
              </a:rPr>
              <a:t>Client was concerned about profile page might be overloading for users.  </a:t>
            </a:r>
            <a:endParaRPr lang="en-US" dirty="0">
              <a:solidFill>
                <a:srgbClr val="000000"/>
              </a:solidFill>
            </a:endParaRPr>
          </a:p>
          <a:p>
            <a:pPr marL="0" indent="0">
              <a:buNone/>
            </a:pPr>
            <a:r>
              <a:rPr lang="en-US" dirty="0">
                <a:solidFill>
                  <a:srgbClr val="000000"/>
                </a:solidFill>
                <a:ea typeface="+mn-lt"/>
                <a:cs typeface="+mn-lt"/>
              </a:rPr>
              <a:t>We have simplified this page to be left with only needed functionalities and adjusted the reviews and row gap to make it remain minimal but functional. </a:t>
            </a:r>
            <a:br>
              <a:rPr lang="en-US" dirty="0"/>
            </a:br>
            <a:endParaRPr lang="en-US" dirty="0"/>
          </a:p>
        </p:txBody>
      </p:sp>
      <p:pic>
        <p:nvPicPr>
          <p:cNvPr id="4" name="Picture 3" descr="A screenshot of a phone&#10;&#10;AI-generated content may be incorrect.">
            <a:extLst>
              <a:ext uri="{FF2B5EF4-FFF2-40B4-BE49-F238E27FC236}">
                <a16:creationId xmlns:a16="http://schemas.microsoft.com/office/drawing/2014/main" id="{48730F17-D716-3FE4-B0A3-778420E9224F}"/>
              </a:ext>
            </a:extLst>
          </p:cNvPr>
          <p:cNvPicPr>
            <a:picLocks noChangeAspect="1"/>
          </p:cNvPicPr>
          <p:nvPr/>
        </p:nvPicPr>
        <p:blipFill>
          <a:blip/>
          <a:stretch>
            <a:fillRect/>
          </a:stretch>
        </p:blipFill>
        <p:spPr>
          <a:xfrm>
            <a:off x="5726113" y="1467761"/>
            <a:ext cx="2392135" cy="5196567"/>
          </a:xfrm>
          <a:prstGeom prst="rect">
            <a:avLst/>
          </a:prstGeom>
        </p:spPr>
      </p:pic>
      <p:pic>
        <p:nvPicPr>
          <p:cNvPr id="5" name="Picture 4" descr="A screenshot of a phone&#10;&#10;AI-generated content may be incorrect.">
            <a:extLst>
              <a:ext uri="{FF2B5EF4-FFF2-40B4-BE49-F238E27FC236}">
                <a16:creationId xmlns:a16="http://schemas.microsoft.com/office/drawing/2014/main" id="{E4C37E37-B1E0-B544-2555-F1D42488B754}"/>
              </a:ext>
            </a:extLst>
          </p:cNvPr>
          <p:cNvPicPr>
            <a:picLocks noChangeAspect="1"/>
          </p:cNvPicPr>
          <p:nvPr/>
        </p:nvPicPr>
        <p:blipFill>
          <a:blip/>
          <a:stretch>
            <a:fillRect/>
          </a:stretch>
        </p:blipFill>
        <p:spPr>
          <a:xfrm>
            <a:off x="8818483" y="1466380"/>
            <a:ext cx="2392135" cy="5185682"/>
          </a:xfrm>
          <a:prstGeom prst="rect">
            <a:avLst/>
          </a:prstGeom>
        </p:spPr>
      </p:pic>
      <p:sp>
        <p:nvSpPr>
          <p:cNvPr id="8" name="TextBox 7">
            <a:extLst>
              <a:ext uri="{FF2B5EF4-FFF2-40B4-BE49-F238E27FC236}">
                <a16:creationId xmlns:a16="http://schemas.microsoft.com/office/drawing/2014/main" id="{0B5AAAE9-F343-5E5C-653E-C9C23472AD22}"/>
              </a:ext>
            </a:extLst>
          </p:cNvPr>
          <p:cNvSpPr txBox="1"/>
          <p:nvPr/>
        </p:nvSpPr>
        <p:spPr>
          <a:xfrm>
            <a:off x="6239509" y="1049541"/>
            <a:ext cx="13564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Before</a:t>
            </a:r>
          </a:p>
        </p:txBody>
      </p:sp>
      <p:sp>
        <p:nvSpPr>
          <p:cNvPr id="10" name="TextBox 9">
            <a:extLst>
              <a:ext uri="{FF2B5EF4-FFF2-40B4-BE49-F238E27FC236}">
                <a16:creationId xmlns:a16="http://schemas.microsoft.com/office/drawing/2014/main" id="{B1C9AECA-6D35-C4B1-84E9-20A52A15FDD0}"/>
              </a:ext>
            </a:extLst>
          </p:cNvPr>
          <p:cNvSpPr txBox="1"/>
          <p:nvPr/>
        </p:nvSpPr>
        <p:spPr>
          <a:xfrm>
            <a:off x="9339700" y="1049541"/>
            <a:ext cx="13564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After</a:t>
            </a:r>
          </a:p>
        </p:txBody>
      </p:sp>
      <p:sp>
        <p:nvSpPr>
          <p:cNvPr id="7" name="TextBox 6">
            <a:extLst>
              <a:ext uri="{FF2B5EF4-FFF2-40B4-BE49-F238E27FC236}">
                <a16:creationId xmlns:a16="http://schemas.microsoft.com/office/drawing/2014/main" id="{59A1728C-B206-8652-884B-E90C25B6CB9B}"/>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653524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C60D8-54D4-91AC-E9B3-1E15AEE43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3945A-80B5-5E8C-51AE-96ED4C552BA0}"/>
              </a:ext>
            </a:extLst>
          </p:cNvPr>
          <p:cNvSpPr>
            <a:spLocks noGrp="1"/>
          </p:cNvSpPr>
          <p:nvPr>
            <p:ph type="title" idx="4294967295"/>
          </p:nvPr>
        </p:nvSpPr>
        <p:spPr>
          <a:xfrm>
            <a:off x="1295400" y="386648"/>
            <a:ext cx="9601200" cy="1303337"/>
          </a:xfrm>
        </p:spPr>
        <p:txBody>
          <a:bodyPr>
            <a:normAutofit/>
          </a:bodyPr>
          <a:lstStyle/>
          <a:p>
            <a:r>
              <a:rPr lang="en-US" sz="3200" dirty="0">
                <a:solidFill>
                  <a:srgbClr val="000000"/>
                </a:solidFill>
                <a:ea typeface="+mj-lt"/>
                <a:cs typeface="+mj-lt"/>
              </a:rPr>
              <a:t>MVP feedback - Choose areas to be focused on</a:t>
            </a:r>
            <a:endParaRPr lang="en-US" sz="3200" dirty="0"/>
          </a:p>
        </p:txBody>
      </p:sp>
      <p:sp>
        <p:nvSpPr>
          <p:cNvPr id="3" name="Content Placeholder 2">
            <a:extLst>
              <a:ext uri="{FF2B5EF4-FFF2-40B4-BE49-F238E27FC236}">
                <a16:creationId xmlns:a16="http://schemas.microsoft.com/office/drawing/2014/main" id="{193967CF-6FC4-A780-03C7-B956BB095FF1}"/>
              </a:ext>
            </a:extLst>
          </p:cNvPr>
          <p:cNvSpPr>
            <a:spLocks noGrp="1"/>
          </p:cNvSpPr>
          <p:nvPr>
            <p:ph idx="4294967295"/>
          </p:nvPr>
        </p:nvSpPr>
        <p:spPr>
          <a:xfrm>
            <a:off x="1061884" y="1464860"/>
            <a:ext cx="3854245" cy="4351337"/>
          </a:xfrm>
        </p:spPr>
        <p:txBody>
          <a:bodyPr vert="horz" lIns="91440" tIns="45720" rIns="91440" bIns="45720" rtlCol="0" anchor="t">
            <a:normAutofit/>
          </a:bodyPr>
          <a:lstStyle/>
          <a:p>
            <a:pPr marL="0" indent="0">
              <a:buNone/>
            </a:pPr>
            <a:r>
              <a:rPr lang="en-US" dirty="0"/>
              <a:t>MVP feedback pointed out it is impossible to obtain all 4 areas. </a:t>
            </a:r>
          </a:p>
          <a:p>
            <a:pPr marL="0" indent="0">
              <a:buNone/>
            </a:pPr>
            <a:r>
              <a:rPr lang="en-US" dirty="0"/>
              <a:t>We currently focus only on UI/UX and gamification and it is communicated with client to finalize this too. Roadmap has been adjusted accordingly. </a:t>
            </a:r>
          </a:p>
        </p:txBody>
      </p:sp>
      <p:pic>
        <p:nvPicPr>
          <p:cNvPr id="1026" name="Picture 2">
            <a:extLst>
              <a:ext uri="{FF2B5EF4-FFF2-40B4-BE49-F238E27FC236}">
                <a16:creationId xmlns:a16="http://schemas.microsoft.com/office/drawing/2014/main" id="{ADB4422F-3562-7106-8B80-DE21C93A9B29}"/>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844981" y="1784910"/>
            <a:ext cx="6559233" cy="32881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4E3F1E2-F66E-DC26-32D1-2A9C72CB414E}"/>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4241888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A0141-8ED2-A738-4F92-A6ED5366D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BFD01-098B-5914-267C-1300C386E0D5}"/>
              </a:ext>
            </a:extLst>
          </p:cNvPr>
          <p:cNvSpPr>
            <a:spLocks noGrp="1"/>
          </p:cNvSpPr>
          <p:nvPr>
            <p:ph type="title" idx="4294967295"/>
          </p:nvPr>
        </p:nvSpPr>
        <p:spPr>
          <a:xfrm>
            <a:off x="1295400" y="284480"/>
            <a:ext cx="9601200" cy="1303337"/>
          </a:xfrm>
        </p:spPr>
        <p:txBody>
          <a:bodyPr>
            <a:normAutofit/>
          </a:bodyPr>
          <a:lstStyle/>
          <a:p>
            <a:r>
              <a:rPr lang="en-US" sz="3200" dirty="0">
                <a:solidFill>
                  <a:srgbClr val="000000"/>
                </a:solidFill>
                <a:ea typeface="+mj-lt"/>
                <a:cs typeface="+mj-lt"/>
              </a:rPr>
              <a:t>MVP feedback - Effect of chosen gamification on app</a:t>
            </a:r>
          </a:p>
        </p:txBody>
      </p:sp>
      <p:sp>
        <p:nvSpPr>
          <p:cNvPr id="3" name="Content Placeholder 2">
            <a:extLst>
              <a:ext uri="{FF2B5EF4-FFF2-40B4-BE49-F238E27FC236}">
                <a16:creationId xmlns:a16="http://schemas.microsoft.com/office/drawing/2014/main" id="{C2D7FE57-0594-02B4-5C27-99B994D9F305}"/>
              </a:ext>
            </a:extLst>
          </p:cNvPr>
          <p:cNvSpPr>
            <a:spLocks noGrp="1"/>
          </p:cNvSpPr>
          <p:nvPr>
            <p:ph idx="4294967295"/>
          </p:nvPr>
        </p:nvSpPr>
        <p:spPr>
          <a:xfrm>
            <a:off x="819989" y="1441923"/>
            <a:ext cx="4471988" cy="4310062"/>
          </a:xfrm>
        </p:spPr>
        <p:txBody>
          <a:bodyPr vert="horz" lIns="91440" tIns="45720" rIns="91440" bIns="45720" rtlCol="0" anchor="t">
            <a:normAutofit/>
          </a:bodyPr>
          <a:lstStyle/>
          <a:p>
            <a:pPr marL="0" indent="0">
              <a:buNone/>
            </a:pPr>
            <a:r>
              <a:rPr lang="en-US" dirty="0"/>
              <a:t>MVP feedback pointed out we need to consider about effects of chosen design (haptics and swiping) on user and how does it affect the app. </a:t>
            </a:r>
          </a:p>
          <a:p>
            <a:pPr marL="0" indent="0">
              <a:buNone/>
            </a:pPr>
            <a:r>
              <a:rPr lang="en-US" dirty="0"/>
              <a:t>We have done some research which explains the effect and also helped to provide ideas for future gamification enhancement for a marketing app. </a:t>
            </a:r>
            <a:br>
              <a:rPr lang="en-US" dirty="0"/>
            </a:br>
            <a:endParaRPr lang="en-US" dirty="0"/>
          </a:p>
        </p:txBody>
      </p:sp>
      <p:pic>
        <p:nvPicPr>
          <p:cNvPr id="2050" name="Picture 2">
            <a:extLst>
              <a:ext uri="{FF2B5EF4-FFF2-40B4-BE49-F238E27FC236}">
                <a16:creationId xmlns:a16="http://schemas.microsoft.com/office/drawing/2014/main" id="{386D79A2-47F3-40AB-46F0-E333F408392D}"/>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5293360" y="1276707"/>
            <a:ext cx="6522720" cy="365374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6CAC8B0-B2C0-7D6D-8C93-7520922EF201}"/>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5296127" y="4930450"/>
            <a:ext cx="6519953" cy="164307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E647256-3D40-7BEC-B143-06F2101780FD}"/>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3384523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E3959-BD3C-8F34-D661-63411C77E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D83A8-6448-DBEE-4508-FC19F811A2A5}"/>
              </a:ext>
            </a:extLst>
          </p:cNvPr>
          <p:cNvSpPr>
            <a:spLocks noGrp="1"/>
          </p:cNvSpPr>
          <p:nvPr>
            <p:ph type="title" idx="4294967295"/>
          </p:nvPr>
        </p:nvSpPr>
        <p:spPr>
          <a:xfrm>
            <a:off x="1479284" y="524899"/>
            <a:ext cx="9601200" cy="1303338"/>
          </a:xfrm>
        </p:spPr>
        <p:txBody>
          <a:bodyPr>
            <a:normAutofit/>
          </a:bodyPr>
          <a:lstStyle/>
          <a:p>
            <a:r>
              <a:rPr lang="en-SG" dirty="0"/>
              <a:t>Project Management / Agile development </a:t>
            </a:r>
            <a:br>
              <a:rPr lang="en-SG" sz="3200" dirty="0"/>
            </a:br>
            <a:endParaRPr lang="en-US" sz="3200" dirty="0">
              <a:solidFill>
                <a:srgbClr val="000000"/>
              </a:solidFill>
              <a:ea typeface="+mj-lt"/>
              <a:cs typeface="+mj-lt"/>
            </a:endParaRPr>
          </a:p>
        </p:txBody>
      </p:sp>
      <p:sp>
        <p:nvSpPr>
          <p:cNvPr id="3" name="Content Placeholder 2">
            <a:extLst>
              <a:ext uri="{FF2B5EF4-FFF2-40B4-BE49-F238E27FC236}">
                <a16:creationId xmlns:a16="http://schemas.microsoft.com/office/drawing/2014/main" id="{FB4B856E-3C1B-4F21-88C9-7B3687E696F9}"/>
              </a:ext>
            </a:extLst>
          </p:cNvPr>
          <p:cNvSpPr>
            <a:spLocks noGrp="1"/>
          </p:cNvSpPr>
          <p:nvPr>
            <p:ph idx="4294967295"/>
          </p:nvPr>
        </p:nvSpPr>
        <p:spPr>
          <a:xfrm>
            <a:off x="1238865" y="1621759"/>
            <a:ext cx="4430713" cy="4454576"/>
          </a:xfrm>
        </p:spPr>
        <p:txBody>
          <a:bodyPr vert="horz" lIns="91440" tIns="45720" rIns="91440" bIns="45720" rtlCol="0" anchor="t">
            <a:normAutofit/>
          </a:bodyPr>
          <a:lstStyle/>
          <a:p>
            <a:pPr marL="0" indent="0">
              <a:buNone/>
            </a:pPr>
            <a:r>
              <a:rPr lang="en-US" u="sng" dirty="0"/>
              <a:t>Past:</a:t>
            </a:r>
            <a:r>
              <a:rPr lang="en-US" dirty="0"/>
              <a:t> In TB1, we have weekly meetings and constant communication within our team and between client, to discuss workload and what to be done. </a:t>
            </a:r>
          </a:p>
          <a:p>
            <a:pPr marL="0" indent="0">
              <a:buNone/>
            </a:pPr>
            <a:r>
              <a:rPr lang="en-US" dirty="0"/>
              <a:t>However, it can be quite chaotic sometimes to decide what to do next or not knowing priority of features. There are few times we are rushing deadline to implement features. </a:t>
            </a:r>
          </a:p>
        </p:txBody>
      </p:sp>
      <p:sp>
        <p:nvSpPr>
          <p:cNvPr id="4" name="Content Placeholder 2">
            <a:extLst>
              <a:ext uri="{FF2B5EF4-FFF2-40B4-BE49-F238E27FC236}">
                <a16:creationId xmlns:a16="http://schemas.microsoft.com/office/drawing/2014/main" id="{CF65AB98-F779-659E-1585-24E77BF11B89}"/>
              </a:ext>
            </a:extLst>
          </p:cNvPr>
          <p:cNvSpPr txBox="1">
            <a:spLocks/>
          </p:cNvSpPr>
          <p:nvPr/>
        </p:nvSpPr>
        <p:spPr>
          <a:xfrm>
            <a:off x="6523096" y="1573161"/>
            <a:ext cx="4430039" cy="462173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u="sng" dirty="0"/>
              <a:t>Now: </a:t>
            </a:r>
            <a:r>
              <a:rPr lang="en-US" sz="2400" dirty="0"/>
              <a:t>TB2 so far we have implemented following strategies to improve the process.  </a:t>
            </a:r>
          </a:p>
          <a:p>
            <a:r>
              <a:rPr lang="en-US" sz="2400" dirty="0"/>
              <a:t>More organized (tasks to do) </a:t>
            </a:r>
          </a:p>
          <a:p>
            <a:r>
              <a:rPr lang="en-US" sz="2400" dirty="0"/>
              <a:t>Rotating PM </a:t>
            </a:r>
          </a:p>
          <a:p>
            <a:r>
              <a:rPr lang="en-US" sz="2400" dirty="0"/>
              <a:t>Roadmap improved </a:t>
            </a:r>
          </a:p>
          <a:p>
            <a:r>
              <a:rPr lang="en-US" sz="2400" dirty="0"/>
              <a:t>Sprints used</a:t>
            </a:r>
          </a:p>
          <a:p>
            <a:r>
              <a:rPr lang="en-US" sz="2400" dirty="0"/>
              <a:t>Better issues and PRs </a:t>
            </a:r>
          </a:p>
          <a:p>
            <a:r>
              <a:rPr lang="en-US" sz="2400" dirty="0"/>
              <a:t>Kanban</a:t>
            </a:r>
          </a:p>
        </p:txBody>
      </p:sp>
      <p:sp>
        <p:nvSpPr>
          <p:cNvPr id="6" name="TextBox 5">
            <a:extLst>
              <a:ext uri="{FF2B5EF4-FFF2-40B4-BE49-F238E27FC236}">
                <a16:creationId xmlns:a16="http://schemas.microsoft.com/office/drawing/2014/main" id="{F8837F41-E2D9-85C8-A429-72CAFC5E51D1}"/>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3398357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ACF6-1C2F-4D1C-901E-D4410D78F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0941C-B70E-B952-75B6-0C9881C488C5}"/>
              </a:ext>
            </a:extLst>
          </p:cNvPr>
          <p:cNvSpPr>
            <a:spLocks noGrp="1"/>
          </p:cNvSpPr>
          <p:nvPr>
            <p:ph type="title" idx="4294967295"/>
          </p:nvPr>
        </p:nvSpPr>
        <p:spPr>
          <a:xfrm>
            <a:off x="1295400" y="259381"/>
            <a:ext cx="9601200" cy="1303337"/>
          </a:xfrm>
        </p:spPr>
        <p:txBody>
          <a:bodyPr>
            <a:normAutofit fontScale="90000"/>
          </a:bodyPr>
          <a:lstStyle/>
          <a:p>
            <a:r>
              <a:rPr lang="en-SG" dirty="0"/>
              <a:t>Project Management - Sprint 1, PM: Freddie </a:t>
            </a:r>
            <a:endParaRPr lang="en-US" sz="3200" dirty="0">
              <a:solidFill>
                <a:srgbClr val="000000"/>
              </a:solidFill>
              <a:ea typeface="+mj-lt"/>
              <a:cs typeface="+mj-lt"/>
            </a:endParaRPr>
          </a:p>
        </p:txBody>
      </p:sp>
      <p:pic>
        <p:nvPicPr>
          <p:cNvPr id="5122" name="Picture 2">
            <a:extLst>
              <a:ext uri="{FF2B5EF4-FFF2-40B4-BE49-F238E27FC236}">
                <a16:creationId xmlns:a16="http://schemas.microsoft.com/office/drawing/2014/main" id="{A70C7C9E-B91F-3647-C7DE-F63993DA97AB}"/>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949607" y="1897657"/>
            <a:ext cx="4705350" cy="37814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B25C27AC-8F63-5169-C6B5-70C3006DB49F}"/>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252565" y="1897657"/>
            <a:ext cx="5105400" cy="40671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EEE582B-6F8C-397C-7F90-E027D7788744}"/>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Freddie</a:t>
            </a:r>
            <a:endParaRPr lang="en-SG" dirty="0"/>
          </a:p>
        </p:txBody>
      </p:sp>
    </p:spTree>
    <p:extLst>
      <p:ext uri="{BB962C8B-B14F-4D97-AF65-F5344CB8AC3E}">
        <p14:creationId xmlns:p14="http://schemas.microsoft.com/office/powerpoint/2010/main" val="3852068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1BC36-983C-5719-B807-884FB6E22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237EC-5EBC-4DAC-88F4-6FC756E1B7EF}"/>
              </a:ext>
            </a:extLst>
          </p:cNvPr>
          <p:cNvSpPr>
            <a:spLocks noGrp="1"/>
          </p:cNvSpPr>
          <p:nvPr>
            <p:ph type="title" idx="4294967295"/>
          </p:nvPr>
        </p:nvSpPr>
        <p:spPr>
          <a:xfrm>
            <a:off x="1295400" y="239534"/>
            <a:ext cx="9601200" cy="1303337"/>
          </a:xfrm>
        </p:spPr>
        <p:txBody>
          <a:bodyPr>
            <a:normAutofit/>
          </a:bodyPr>
          <a:lstStyle/>
          <a:p>
            <a:r>
              <a:rPr lang="en-SG" dirty="0"/>
              <a:t>Project Management - Sprint 2, PM: Euan</a:t>
            </a:r>
          </a:p>
        </p:txBody>
      </p:sp>
      <p:pic>
        <p:nvPicPr>
          <p:cNvPr id="7170" name="Picture 2">
            <a:extLst>
              <a:ext uri="{FF2B5EF4-FFF2-40B4-BE49-F238E27FC236}">
                <a16:creationId xmlns:a16="http://schemas.microsoft.com/office/drawing/2014/main" id="{6CF34761-990A-92F7-FCF7-1C91E7AC6BE4}"/>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12648" y="1255170"/>
            <a:ext cx="4715863" cy="523886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FD9F8C52-6378-853E-0136-99C681A201B5}"/>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890453" y="1541035"/>
            <a:ext cx="4294187" cy="531696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189DE81A-8E4B-13A4-4883-EE6EDD3AFF8A}"/>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734211" y="2055179"/>
            <a:ext cx="5744210" cy="10186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682EC57-7DE3-FA46-76E7-75800217C269}"/>
              </a:ext>
            </a:extLst>
          </p:cNvPr>
          <p:cNvSpPr txBox="1"/>
          <p:nvPr/>
        </p:nvSpPr>
        <p:spPr>
          <a:xfrm>
            <a:off x="9408793" y="3963862"/>
            <a:ext cx="2259048" cy="1200329"/>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Issue / PR linked to each feature / task</a:t>
            </a:r>
          </a:p>
        </p:txBody>
      </p:sp>
      <p:sp>
        <p:nvSpPr>
          <p:cNvPr id="6" name="Arrow: Right 5">
            <a:extLst>
              <a:ext uri="{FF2B5EF4-FFF2-40B4-BE49-F238E27FC236}">
                <a16:creationId xmlns:a16="http://schemas.microsoft.com/office/drawing/2014/main" id="{955684DB-F307-4AB1-7D23-A3C18C1E7934}"/>
              </a:ext>
            </a:extLst>
          </p:cNvPr>
          <p:cNvSpPr/>
          <p:nvPr/>
        </p:nvSpPr>
        <p:spPr>
          <a:xfrm rot="12056335">
            <a:off x="8066394" y="3818927"/>
            <a:ext cx="1396180" cy="6001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7609F70B-D786-8662-4514-62DA3B009E3B}"/>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1358973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6E5E3-FF84-FA8B-8019-BD826BEB9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515FD-E3AB-9ADC-5CD4-710D127B94B2}"/>
              </a:ext>
            </a:extLst>
          </p:cNvPr>
          <p:cNvSpPr>
            <a:spLocks noGrp="1"/>
          </p:cNvSpPr>
          <p:nvPr>
            <p:ph type="title" idx="4294967295"/>
          </p:nvPr>
        </p:nvSpPr>
        <p:spPr>
          <a:xfrm>
            <a:off x="1021080" y="511176"/>
            <a:ext cx="9601200" cy="1303337"/>
          </a:xfrm>
        </p:spPr>
        <p:txBody>
          <a:bodyPr>
            <a:normAutofit fontScale="90000"/>
          </a:bodyPr>
          <a:lstStyle/>
          <a:p>
            <a:r>
              <a:rPr lang="en-SG" dirty="0"/>
              <a:t>Project Management - Sprint 3 (future plan), PM: Alex</a:t>
            </a:r>
          </a:p>
        </p:txBody>
      </p:sp>
      <p:sp>
        <p:nvSpPr>
          <p:cNvPr id="3" name="Content Placeholder 2">
            <a:extLst>
              <a:ext uri="{FF2B5EF4-FFF2-40B4-BE49-F238E27FC236}">
                <a16:creationId xmlns:a16="http://schemas.microsoft.com/office/drawing/2014/main" id="{09590EA6-E899-319F-BD28-5F31D900EECA}"/>
              </a:ext>
            </a:extLst>
          </p:cNvPr>
          <p:cNvSpPr>
            <a:spLocks noGrp="1"/>
          </p:cNvSpPr>
          <p:nvPr>
            <p:ph idx="4294967295"/>
          </p:nvPr>
        </p:nvSpPr>
        <p:spPr>
          <a:xfrm>
            <a:off x="1221932" y="1814513"/>
            <a:ext cx="4430713" cy="4351337"/>
          </a:xfrm>
        </p:spPr>
        <p:txBody>
          <a:bodyPr vert="horz" lIns="91440" tIns="45720" rIns="91440" bIns="45720" rtlCol="0" anchor="t">
            <a:normAutofit fontScale="92500" lnSpcReduction="10000"/>
          </a:bodyPr>
          <a:lstStyle/>
          <a:p>
            <a:pPr fontAlgn="base"/>
            <a:r>
              <a:rPr lang="en-US" dirty="0"/>
              <a:t>To-do-list considered about priority and categorized in features and repos. </a:t>
            </a:r>
          </a:p>
          <a:p>
            <a:pPr fontAlgn="base"/>
            <a:r>
              <a:rPr lang="en-US" dirty="0"/>
              <a:t>Having better vision and knowledge of what to do next. </a:t>
            </a:r>
          </a:p>
          <a:p>
            <a:pPr fontAlgn="base"/>
            <a:r>
              <a:rPr lang="en-US" dirty="0"/>
              <a:t>This is discussed right after the end of sprint 2, and also who to do what. </a:t>
            </a:r>
          </a:p>
          <a:p>
            <a:pPr fontAlgn="base"/>
            <a:r>
              <a:rPr lang="en-US" dirty="0"/>
              <a:t>Might try using story points for distributing workload and also burndown chart to monitor progress during a sprint. </a:t>
            </a:r>
          </a:p>
        </p:txBody>
      </p:sp>
      <p:pic>
        <p:nvPicPr>
          <p:cNvPr id="8194" name="Picture 2">
            <a:extLst>
              <a:ext uri="{FF2B5EF4-FFF2-40B4-BE49-F238E27FC236}">
                <a16:creationId xmlns:a16="http://schemas.microsoft.com/office/drawing/2014/main" id="{F0A45B8A-029E-D43B-8114-68ED2E70F710}"/>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539356" y="1663527"/>
            <a:ext cx="4631564" cy="46533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274DEAF-2620-D00D-D23F-F1FA0DEB56F5}"/>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Alex</a:t>
            </a:r>
            <a:endParaRPr lang="en-SG" dirty="0"/>
          </a:p>
        </p:txBody>
      </p:sp>
    </p:spTree>
    <p:extLst>
      <p:ext uri="{BB962C8B-B14F-4D97-AF65-F5344CB8AC3E}">
        <p14:creationId xmlns:p14="http://schemas.microsoft.com/office/powerpoint/2010/main" val="3527642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915C3-B950-BD56-228E-B85DD6B36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FB70A-4BFF-BC01-CF5D-53979A83BDBC}"/>
              </a:ext>
            </a:extLst>
          </p:cNvPr>
          <p:cNvSpPr>
            <a:spLocks noGrp="1"/>
          </p:cNvSpPr>
          <p:nvPr>
            <p:ph type="title" idx="4294967295"/>
          </p:nvPr>
        </p:nvSpPr>
        <p:spPr>
          <a:xfrm>
            <a:off x="1295399" y="351213"/>
            <a:ext cx="9601200" cy="1303337"/>
          </a:xfrm>
        </p:spPr>
        <p:txBody>
          <a:bodyPr>
            <a:normAutofit/>
          </a:bodyPr>
          <a:lstStyle/>
          <a:p>
            <a:r>
              <a:rPr lang="en-SG" dirty="0"/>
              <a:t>Project Management - Kanban </a:t>
            </a:r>
          </a:p>
        </p:txBody>
      </p:sp>
      <p:pic>
        <p:nvPicPr>
          <p:cNvPr id="10242" name="Picture 2">
            <a:extLst>
              <a:ext uri="{FF2B5EF4-FFF2-40B4-BE49-F238E27FC236}">
                <a16:creationId xmlns:a16="http://schemas.microsoft.com/office/drawing/2014/main" id="{C458A203-D203-6C5E-4336-DCBC50C7D66A}"/>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06323" y="1750412"/>
            <a:ext cx="11579353" cy="36773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384469-461A-B136-B484-70A4120A4A60}"/>
              </a:ext>
            </a:extLst>
          </p:cNvPr>
          <p:cNvSpPr txBox="1"/>
          <p:nvPr/>
        </p:nvSpPr>
        <p:spPr>
          <a:xfrm>
            <a:off x="9472820" y="898629"/>
            <a:ext cx="2684206" cy="830997"/>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Different Categories for status tracking</a:t>
            </a:r>
          </a:p>
        </p:txBody>
      </p:sp>
      <p:sp>
        <p:nvSpPr>
          <p:cNvPr id="7" name="TextBox 6">
            <a:extLst>
              <a:ext uri="{FF2B5EF4-FFF2-40B4-BE49-F238E27FC236}">
                <a16:creationId xmlns:a16="http://schemas.microsoft.com/office/drawing/2014/main" id="{2A5CFA9B-4ADC-25BE-8D78-ACDE4BAA8277}"/>
              </a:ext>
            </a:extLst>
          </p:cNvPr>
          <p:cNvSpPr txBox="1"/>
          <p:nvPr/>
        </p:nvSpPr>
        <p:spPr>
          <a:xfrm>
            <a:off x="2330443" y="5427762"/>
            <a:ext cx="2831491" cy="830997"/>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Different labels for issues to organize</a:t>
            </a:r>
          </a:p>
        </p:txBody>
      </p:sp>
      <p:sp>
        <p:nvSpPr>
          <p:cNvPr id="8" name="Arrow: Right 7">
            <a:extLst>
              <a:ext uri="{FF2B5EF4-FFF2-40B4-BE49-F238E27FC236}">
                <a16:creationId xmlns:a16="http://schemas.microsoft.com/office/drawing/2014/main" id="{B6B57C3C-6E10-26A7-DC61-356435313D14}"/>
              </a:ext>
            </a:extLst>
          </p:cNvPr>
          <p:cNvSpPr/>
          <p:nvPr/>
        </p:nvSpPr>
        <p:spPr>
          <a:xfrm rot="17513955">
            <a:off x="4087003" y="4849595"/>
            <a:ext cx="801228" cy="4403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80ECB69D-17A8-7222-3FCF-A18F821D6CD6}"/>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Freddie</a:t>
            </a:r>
            <a:endParaRPr lang="en-SG" dirty="0"/>
          </a:p>
        </p:txBody>
      </p:sp>
      <p:sp>
        <p:nvSpPr>
          <p:cNvPr id="12" name="Arrow: Bent 11">
            <a:extLst>
              <a:ext uri="{FF2B5EF4-FFF2-40B4-BE49-F238E27FC236}">
                <a16:creationId xmlns:a16="http://schemas.microsoft.com/office/drawing/2014/main" id="{CC90917F-67DD-49AC-DF63-82124DDE0491}"/>
              </a:ext>
            </a:extLst>
          </p:cNvPr>
          <p:cNvSpPr/>
          <p:nvPr/>
        </p:nvSpPr>
        <p:spPr>
          <a:xfrm rot="11015189">
            <a:off x="10833623" y="1747911"/>
            <a:ext cx="603901" cy="616788"/>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Tree>
    <p:extLst>
      <p:ext uri="{BB962C8B-B14F-4D97-AF65-F5344CB8AC3E}">
        <p14:creationId xmlns:p14="http://schemas.microsoft.com/office/powerpoint/2010/main" val="1954232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F1A48-5802-BD4A-C4A0-DCEECC7CC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EF2DD-924A-EF20-75F1-810E5C759F1B}"/>
              </a:ext>
            </a:extLst>
          </p:cNvPr>
          <p:cNvSpPr>
            <a:spLocks noGrp="1"/>
          </p:cNvSpPr>
          <p:nvPr>
            <p:ph type="title" idx="4294967295"/>
          </p:nvPr>
        </p:nvSpPr>
        <p:spPr>
          <a:xfrm>
            <a:off x="1295400" y="259381"/>
            <a:ext cx="9601200" cy="1303337"/>
          </a:xfrm>
        </p:spPr>
        <p:txBody>
          <a:bodyPr>
            <a:normAutofit/>
          </a:bodyPr>
          <a:lstStyle/>
          <a:p>
            <a:r>
              <a:rPr lang="en-SG" dirty="0"/>
              <a:t>Project Management - Kanban </a:t>
            </a:r>
          </a:p>
        </p:txBody>
      </p:sp>
      <p:pic>
        <p:nvPicPr>
          <p:cNvPr id="11266" name="Picture 2">
            <a:extLst>
              <a:ext uri="{FF2B5EF4-FFF2-40B4-BE49-F238E27FC236}">
                <a16:creationId xmlns:a16="http://schemas.microsoft.com/office/drawing/2014/main" id="{5CB8344D-4E15-48F7-7CBB-EEBE09615D1E}"/>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65471" y="1530282"/>
            <a:ext cx="11661058" cy="37974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2F4B82A-366D-7904-6BD8-B9A3D199B9D6}"/>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Freddie</a:t>
            </a:r>
            <a:endParaRPr lang="en-SG" dirty="0"/>
          </a:p>
        </p:txBody>
      </p:sp>
    </p:spTree>
    <p:extLst>
      <p:ext uri="{BB962C8B-B14F-4D97-AF65-F5344CB8AC3E}">
        <p14:creationId xmlns:p14="http://schemas.microsoft.com/office/powerpoint/2010/main" val="4027089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40090-5414-2894-AFFE-97D6795E2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200D3-E64C-E041-F245-B3048437E0F0}"/>
              </a:ext>
            </a:extLst>
          </p:cNvPr>
          <p:cNvSpPr>
            <a:spLocks noGrp="1"/>
          </p:cNvSpPr>
          <p:nvPr>
            <p:ph type="title" idx="4294967295"/>
          </p:nvPr>
        </p:nvSpPr>
        <p:spPr>
          <a:xfrm>
            <a:off x="1295400" y="283350"/>
            <a:ext cx="9601200" cy="1303337"/>
          </a:xfrm>
        </p:spPr>
        <p:txBody>
          <a:bodyPr>
            <a:normAutofit/>
          </a:bodyPr>
          <a:lstStyle/>
          <a:p>
            <a:r>
              <a:rPr lang="en-SG" dirty="0"/>
              <a:t>Project Management - Issues before</a:t>
            </a:r>
          </a:p>
        </p:txBody>
      </p:sp>
      <p:sp>
        <p:nvSpPr>
          <p:cNvPr id="5" name="Content Placeholder 4">
            <a:extLst>
              <a:ext uri="{FF2B5EF4-FFF2-40B4-BE49-F238E27FC236}">
                <a16:creationId xmlns:a16="http://schemas.microsoft.com/office/drawing/2014/main" id="{D286B166-8B1B-D21D-3915-3E9EEC7AFA5B}"/>
              </a:ext>
            </a:extLst>
          </p:cNvPr>
          <p:cNvSpPr>
            <a:spLocks noGrp="1"/>
          </p:cNvSpPr>
          <p:nvPr>
            <p:ph idx="4294967295"/>
          </p:nvPr>
        </p:nvSpPr>
        <p:spPr>
          <a:xfrm>
            <a:off x="884903" y="1448930"/>
            <a:ext cx="3835400" cy="4883150"/>
          </a:xfrm>
        </p:spPr>
        <p:txBody>
          <a:bodyPr/>
          <a:lstStyle/>
          <a:p>
            <a:r>
              <a:rPr lang="en-US" dirty="0"/>
              <a:t>Brief summary, with tags but not enough details </a:t>
            </a:r>
          </a:p>
        </p:txBody>
      </p:sp>
      <p:pic>
        <p:nvPicPr>
          <p:cNvPr id="13314" name="Picture 2">
            <a:extLst>
              <a:ext uri="{FF2B5EF4-FFF2-40B4-BE49-F238E27FC236}">
                <a16:creationId xmlns:a16="http://schemas.microsoft.com/office/drawing/2014/main" id="{7370747C-0C9C-B69C-B249-A29FF34C2759}"/>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448858" y="1425677"/>
            <a:ext cx="7295364" cy="476864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970B5D-2C0C-95F4-1F83-8DF0C154998A}"/>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Freddie</a:t>
            </a:r>
            <a:endParaRPr lang="en-SG" dirty="0"/>
          </a:p>
        </p:txBody>
      </p:sp>
    </p:spTree>
    <p:extLst>
      <p:ext uri="{BB962C8B-B14F-4D97-AF65-F5344CB8AC3E}">
        <p14:creationId xmlns:p14="http://schemas.microsoft.com/office/powerpoint/2010/main" val="365524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1188E-CF84-94BB-53B6-2DA174C84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CC8757-A7E6-59B1-FBCA-DC226DADF8A3}"/>
              </a:ext>
            </a:extLst>
          </p:cNvPr>
          <p:cNvSpPr>
            <a:spLocks noGrp="1"/>
          </p:cNvSpPr>
          <p:nvPr>
            <p:ph type="title" idx="4294967295"/>
          </p:nvPr>
        </p:nvSpPr>
        <p:spPr>
          <a:xfrm>
            <a:off x="1295400" y="259381"/>
            <a:ext cx="9601200" cy="1303337"/>
          </a:xfrm>
        </p:spPr>
        <p:txBody>
          <a:bodyPr>
            <a:normAutofit/>
          </a:bodyPr>
          <a:lstStyle/>
          <a:p>
            <a:r>
              <a:rPr lang="en-SG" dirty="0"/>
              <a:t>Project Management - Issues after </a:t>
            </a:r>
          </a:p>
        </p:txBody>
      </p:sp>
      <p:pic>
        <p:nvPicPr>
          <p:cNvPr id="12290" name="Picture 2">
            <a:extLst>
              <a:ext uri="{FF2B5EF4-FFF2-40B4-BE49-F238E27FC236}">
                <a16:creationId xmlns:a16="http://schemas.microsoft.com/office/drawing/2014/main" id="{94626BA8-5A8E-CE50-5DC7-29D6B9F698CF}"/>
              </a:ext>
            </a:extLst>
          </p:cNvPr>
          <p:cNvPicPr>
            <a:picLocks noGrp="1" noChangeAspect="1" noChangeArrowheads="1"/>
          </p:cNvPicPr>
          <p:nvPr>
            <p:ph idx="4294967295"/>
          </p:nvPr>
        </p:nvPicPr>
        <p:blipFill>
          <a:blip>
            <a:extLst>
              <a:ext uri="{28A0092B-C50C-407E-A947-70E740481C1C}">
                <a14:useLocalDpi xmlns:a14="http://schemas.microsoft.com/office/drawing/2010/main" val="0"/>
              </a:ext>
            </a:extLst>
          </a:blip>
          <a:srcRect/>
          <a:stretch>
            <a:fillRect/>
          </a:stretch>
        </p:blipFill>
        <p:spPr bwMode="auto">
          <a:xfrm>
            <a:off x="4168878" y="1425677"/>
            <a:ext cx="7677150" cy="459263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4">
            <a:extLst>
              <a:ext uri="{FF2B5EF4-FFF2-40B4-BE49-F238E27FC236}">
                <a16:creationId xmlns:a16="http://schemas.microsoft.com/office/drawing/2014/main" id="{37E79932-B70C-27D7-25BE-CA4DDC2F6726}"/>
              </a:ext>
            </a:extLst>
          </p:cNvPr>
          <p:cNvSpPr txBox="1">
            <a:spLocks/>
          </p:cNvSpPr>
          <p:nvPr/>
        </p:nvSpPr>
        <p:spPr>
          <a:xfrm>
            <a:off x="954024" y="1425677"/>
            <a:ext cx="3106699" cy="45130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Summary has more details: </a:t>
            </a:r>
          </a:p>
          <a:p>
            <a:pPr fontAlgn="base"/>
            <a:r>
              <a:rPr lang="en-US" dirty="0" err="1"/>
              <a:t>Filepath</a:t>
            </a:r>
            <a:r>
              <a:rPr lang="en-US" dirty="0"/>
              <a:t> </a:t>
            </a:r>
          </a:p>
          <a:p>
            <a:pPr fontAlgn="base"/>
            <a:r>
              <a:rPr lang="en-US" dirty="0"/>
              <a:t>Requirements clearer </a:t>
            </a:r>
          </a:p>
          <a:p>
            <a:pPr fontAlgn="base"/>
            <a:r>
              <a:rPr lang="en-US" dirty="0"/>
              <a:t>Explain issues better</a:t>
            </a:r>
          </a:p>
          <a:p>
            <a:r>
              <a:rPr lang="en-US" dirty="0"/>
              <a:t>Enable other people to pick this issue up without asking for basic info</a:t>
            </a:r>
          </a:p>
        </p:txBody>
      </p:sp>
      <p:sp>
        <p:nvSpPr>
          <p:cNvPr id="6" name="TextBox 5">
            <a:extLst>
              <a:ext uri="{FF2B5EF4-FFF2-40B4-BE49-F238E27FC236}">
                <a16:creationId xmlns:a16="http://schemas.microsoft.com/office/drawing/2014/main" id="{23CD5514-0A10-7FE7-5C6D-E791817D18DD}"/>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Freddie</a:t>
            </a:r>
            <a:endParaRPr lang="en-SG" dirty="0"/>
          </a:p>
        </p:txBody>
      </p:sp>
    </p:spTree>
    <p:extLst>
      <p:ext uri="{BB962C8B-B14F-4D97-AF65-F5344CB8AC3E}">
        <p14:creationId xmlns:p14="http://schemas.microsoft.com/office/powerpoint/2010/main" val="1147833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44E36-624F-3657-873C-1A770128B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76FFD-AD29-C5A1-6EC2-942294235E3C}"/>
              </a:ext>
            </a:extLst>
          </p:cNvPr>
          <p:cNvSpPr>
            <a:spLocks noGrp="1"/>
          </p:cNvSpPr>
          <p:nvPr>
            <p:ph type="title" idx="4294967295"/>
          </p:nvPr>
        </p:nvSpPr>
        <p:spPr>
          <a:xfrm>
            <a:off x="1295400" y="252484"/>
            <a:ext cx="9601200" cy="1303337"/>
          </a:xfrm>
        </p:spPr>
        <p:txBody>
          <a:bodyPr>
            <a:normAutofit/>
          </a:bodyPr>
          <a:lstStyle/>
          <a:p>
            <a:r>
              <a:rPr lang="en-SG" dirty="0"/>
              <a:t>Project Management - PRs </a:t>
            </a:r>
          </a:p>
        </p:txBody>
      </p:sp>
      <p:pic>
        <p:nvPicPr>
          <p:cNvPr id="14338" name="Picture 2">
            <a:extLst>
              <a:ext uri="{FF2B5EF4-FFF2-40B4-BE49-F238E27FC236}">
                <a16:creationId xmlns:a16="http://schemas.microsoft.com/office/drawing/2014/main" id="{4B850145-85B3-9786-EFED-C8405E5C264B}"/>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62887" y="1364258"/>
            <a:ext cx="11266226" cy="41294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5507522-C1D1-301A-47B9-DC57B093853C}"/>
              </a:ext>
            </a:extLst>
          </p:cNvPr>
          <p:cNvSpPr txBox="1"/>
          <p:nvPr/>
        </p:nvSpPr>
        <p:spPr>
          <a:xfrm>
            <a:off x="7698658" y="5493741"/>
            <a:ext cx="224175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t>Well commented and reviewed</a:t>
            </a:r>
          </a:p>
        </p:txBody>
      </p:sp>
      <p:sp>
        <p:nvSpPr>
          <p:cNvPr id="9" name="TextBox 8">
            <a:extLst>
              <a:ext uri="{FF2B5EF4-FFF2-40B4-BE49-F238E27FC236}">
                <a16:creationId xmlns:a16="http://schemas.microsoft.com/office/drawing/2014/main" id="{5C15CA83-39C1-9686-20E0-72B31728C98F}"/>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Alex</a:t>
            </a:r>
            <a:endParaRPr lang="en-SG" dirty="0"/>
          </a:p>
        </p:txBody>
      </p:sp>
    </p:spTree>
    <p:extLst>
      <p:ext uri="{BB962C8B-B14F-4D97-AF65-F5344CB8AC3E}">
        <p14:creationId xmlns:p14="http://schemas.microsoft.com/office/powerpoint/2010/main" val="136015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959A-32AA-B088-3D3C-625592BDC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3117E-D8CB-75A2-0B1D-3A7B1E9BAC5F}"/>
              </a:ext>
            </a:extLst>
          </p:cNvPr>
          <p:cNvSpPr>
            <a:spLocks noGrp="1"/>
          </p:cNvSpPr>
          <p:nvPr>
            <p:ph type="title" idx="4294967295"/>
          </p:nvPr>
        </p:nvSpPr>
        <p:spPr>
          <a:xfrm>
            <a:off x="1295400" y="283445"/>
            <a:ext cx="9601200" cy="1303337"/>
          </a:xfrm>
        </p:spPr>
        <p:txBody>
          <a:bodyPr>
            <a:normAutofit fontScale="90000"/>
          </a:bodyPr>
          <a:lstStyle/>
          <a:p>
            <a:r>
              <a:rPr lang="en-SG" dirty="0"/>
              <a:t>Project Management - PRs example comments </a:t>
            </a:r>
          </a:p>
        </p:txBody>
      </p:sp>
      <p:pic>
        <p:nvPicPr>
          <p:cNvPr id="16386" name="Picture 2">
            <a:extLst>
              <a:ext uri="{FF2B5EF4-FFF2-40B4-BE49-F238E27FC236}">
                <a16:creationId xmlns:a16="http://schemas.microsoft.com/office/drawing/2014/main" id="{BC5D64C0-B13A-C596-4004-C4E0FFEE61F4}"/>
              </a:ext>
            </a:extLst>
          </p:cNvPr>
          <p:cNvPicPr>
            <a:picLocks noGrp="1" noChangeAspect="1" noChangeArrowheads="1"/>
          </p:cNvPicPr>
          <p:nvPr>
            <p:ph idx="4294967295"/>
          </p:nvPr>
        </p:nvPicPr>
        <p:blipFill>
          <a:blip>
            <a:extLst>
              <a:ext uri="{28A0092B-C50C-407E-A947-70E740481C1C}">
                <a14:useLocalDpi xmlns:a14="http://schemas.microsoft.com/office/drawing/2010/main" val="0"/>
              </a:ext>
            </a:extLst>
          </a:blip>
          <a:srcRect/>
          <a:stretch>
            <a:fillRect/>
          </a:stretch>
        </p:blipFill>
        <p:spPr bwMode="auto">
          <a:xfrm>
            <a:off x="693045" y="1586782"/>
            <a:ext cx="4044950" cy="4592637"/>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a:extLst>
              <a:ext uri="{FF2B5EF4-FFF2-40B4-BE49-F238E27FC236}">
                <a16:creationId xmlns:a16="http://schemas.microsoft.com/office/drawing/2014/main" id="{F1995E2B-48C4-13D3-2455-7A47A0307F4A}"/>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855982" y="1586782"/>
            <a:ext cx="6991350" cy="44958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D758CCD-65C2-8089-EAD3-18629C79245E}"/>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Alex</a:t>
            </a:r>
            <a:endParaRPr lang="en-SG" dirty="0"/>
          </a:p>
        </p:txBody>
      </p:sp>
    </p:spTree>
    <p:extLst>
      <p:ext uri="{BB962C8B-B14F-4D97-AF65-F5344CB8AC3E}">
        <p14:creationId xmlns:p14="http://schemas.microsoft.com/office/powerpoint/2010/main" val="3119379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573A5-F3B1-7B35-9DDA-43CDEBD1D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D282C-5E33-600F-17E4-5EC3EB923655}"/>
              </a:ext>
            </a:extLst>
          </p:cNvPr>
          <p:cNvSpPr>
            <a:spLocks noGrp="1"/>
          </p:cNvSpPr>
          <p:nvPr>
            <p:ph type="title" idx="4294967295"/>
          </p:nvPr>
        </p:nvSpPr>
        <p:spPr>
          <a:xfrm>
            <a:off x="1295400" y="329213"/>
            <a:ext cx="9601200" cy="1303337"/>
          </a:xfrm>
        </p:spPr>
        <p:txBody>
          <a:bodyPr>
            <a:normAutofit fontScale="90000"/>
          </a:bodyPr>
          <a:lstStyle/>
          <a:p>
            <a:r>
              <a:rPr lang="en-SG" dirty="0"/>
              <a:t>Project Management - PRs example comments </a:t>
            </a:r>
          </a:p>
        </p:txBody>
      </p:sp>
      <p:pic>
        <p:nvPicPr>
          <p:cNvPr id="15362" name="Picture 2">
            <a:extLst>
              <a:ext uri="{FF2B5EF4-FFF2-40B4-BE49-F238E27FC236}">
                <a16:creationId xmlns:a16="http://schemas.microsoft.com/office/drawing/2014/main" id="{1E79C1CF-3667-485C-C356-B208CE11A784}"/>
              </a:ext>
            </a:extLst>
          </p:cNvPr>
          <p:cNvPicPr>
            <a:picLocks noGrp="1" noChangeAspect="1" noChangeArrowheads="1"/>
          </p:cNvPicPr>
          <p:nvPr>
            <p:ph idx="4294967295"/>
          </p:nvPr>
        </p:nvPicPr>
        <p:blipFill>
          <a:blip>
            <a:extLst>
              <a:ext uri="{28A0092B-C50C-407E-A947-70E740481C1C}">
                <a14:useLocalDpi xmlns:a14="http://schemas.microsoft.com/office/drawing/2010/main" val="0"/>
              </a:ext>
            </a:extLst>
          </a:blip>
          <a:srcRect/>
          <a:stretch>
            <a:fillRect/>
          </a:stretch>
        </p:blipFill>
        <p:spPr bwMode="auto">
          <a:xfrm>
            <a:off x="843280" y="1417802"/>
            <a:ext cx="6513513" cy="4592637"/>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E8D3EFEB-AA7C-20BF-8C0D-9633540D3F2E}"/>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475726" y="1417802"/>
            <a:ext cx="4411833" cy="44593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9BE84B-47C6-C69A-4E63-866682E7F1CD}"/>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Alex</a:t>
            </a:r>
            <a:endParaRPr lang="en-SG" dirty="0"/>
          </a:p>
        </p:txBody>
      </p:sp>
    </p:spTree>
    <p:extLst>
      <p:ext uri="{BB962C8B-B14F-4D97-AF65-F5344CB8AC3E}">
        <p14:creationId xmlns:p14="http://schemas.microsoft.com/office/powerpoint/2010/main" val="25094711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F46F-5A29-EA93-0290-EA1DE523C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2C104-3EA3-E5C6-51A8-DA480A0717F9}"/>
              </a:ext>
            </a:extLst>
          </p:cNvPr>
          <p:cNvSpPr>
            <a:spLocks noGrp="1"/>
          </p:cNvSpPr>
          <p:nvPr>
            <p:ph type="title"/>
          </p:nvPr>
        </p:nvSpPr>
        <p:spPr/>
        <p:txBody>
          <a:bodyPr>
            <a:normAutofit fontScale="90000"/>
          </a:bodyPr>
          <a:lstStyle/>
          <a:p>
            <a:r>
              <a:rPr lang="en-SG" dirty="0"/>
              <a:t>Project Management - PRs example comments </a:t>
            </a:r>
          </a:p>
        </p:txBody>
      </p:sp>
      <p:pic>
        <p:nvPicPr>
          <p:cNvPr id="17410" name="Picture 2">
            <a:extLst>
              <a:ext uri="{FF2B5EF4-FFF2-40B4-BE49-F238E27FC236}">
                <a16:creationId xmlns:a16="http://schemas.microsoft.com/office/drawing/2014/main" id="{E0AF6277-F129-17B2-A20F-700E527441FE}"/>
              </a:ext>
            </a:extLst>
          </p:cNvPr>
          <p:cNvPicPr>
            <a:picLocks noGrp="1" noChangeAspect="1" noChangeArrowheads="1"/>
          </p:cNvPicPr>
          <p:nvPr>
            <p:ph idx="1"/>
          </p:nvPr>
        </p:nvPicPr>
        <p:blipFill>
          <a:blip>
            <a:extLst>
              <a:ext uri="{28A0092B-C50C-407E-A947-70E740481C1C}">
                <a14:useLocalDpi xmlns:a14="http://schemas.microsoft.com/office/drawing/2010/main" val="0"/>
              </a:ext>
            </a:extLst>
          </a:blip>
          <a:stretch>
            <a:fillRect/>
          </a:stretch>
        </p:blipFill>
        <p:spPr bwMode="auto">
          <a:xfrm>
            <a:off x="2877603" y="2557463"/>
            <a:ext cx="6436794" cy="33178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94ACF10-8309-0EEF-E32D-4929AFAEDA69}"/>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Alex</a:t>
            </a:r>
            <a:endParaRPr lang="en-SG" dirty="0"/>
          </a:p>
        </p:txBody>
      </p:sp>
    </p:spTree>
    <p:extLst>
      <p:ext uri="{BB962C8B-B14F-4D97-AF65-F5344CB8AC3E}">
        <p14:creationId xmlns:p14="http://schemas.microsoft.com/office/powerpoint/2010/main" val="2038554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A179-497F-F705-C69C-8F94E823C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22F54-8CB2-8AD6-3272-52FA2BC9C367}"/>
              </a:ext>
            </a:extLst>
          </p:cNvPr>
          <p:cNvSpPr>
            <a:spLocks noGrp="1"/>
          </p:cNvSpPr>
          <p:nvPr>
            <p:ph type="title"/>
          </p:nvPr>
        </p:nvSpPr>
        <p:spPr/>
        <p:txBody>
          <a:bodyPr>
            <a:normAutofit/>
          </a:bodyPr>
          <a:lstStyle/>
          <a:p>
            <a:r>
              <a:rPr lang="en-US" dirty="0"/>
              <a:t>Challenges faced: PR review stuck</a:t>
            </a:r>
          </a:p>
        </p:txBody>
      </p:sp>
      <p:sp>
        <p:nvSpPr>
          <p:cNvPr id="3" name="Content Placeholder 2">
            <a:extLst>
              <a:ext uri="{FF2B5EF4-FFF2-40B4-BE49-F238E27FC236}">
                <a16:creationId xmlns:a16="http://schemas.microsoft.com/office/drawing/2014/main" id="{2D60BAE1-42B0-7C19-0B83-EE8114F96E71}"/>
              </a:ext>
            </a:extLst>
          </p:cNvPr>
          <p:cNvSpPr>
            <a:spLocks noGrp="1"/>
          </p:cNvSpPr>
          <p:nvPr>
            <p:ph idx="1"/>
          </p:nvPr>
        </p:nvSpPr>
        <p:spPr/>
        <p:txBody>
          <a:bodyPr>
            <a:normAutofit fontScale="92500" lnSpcReduction="20000"/>
          </a:bodyPr>
          <a:lstStyle/>
          <a:p>
            <a:r>
              <a:rPr lang="en-US" dirty="0"/>
              <a:t>We only had 3 person in TB1 and currently 4 in TB2 in our team </a:t>
            </a:r>
          </a:p>
          <a:p>
            <a:r>
              <a:rPr lang="en-US" dirty="0"/>
              <a:t>PR can get stuck / hanging for more than 1 week without people reviewing </a:t>
            </a:r>
          </a:p>
          <a:p>
            <a:r>
              <a:rPr lang="en-US" dirty="0"/>
              <a:t>Delay future feature implementation and does not show commits in dev </a:t>
            </a:r>
          </a:p>
          <a:p>
            <a:pPr marL="0" indent="0">
              <a:buNone/>
            </a:pPr>
            <a:endParaRPr lang="en-US" dirty="0"/>
          </a:p>
          <a:p>
            <a:pPr marL="0" indent="0">
              <a:buNone/>
            </a:pPr>
            <a:r>
              <a:rPr lang="en-US" u="sng" dirty="0"/>
              <a:t>Solution: </a:t>
            </a:r>
          </a:p>
          <a:p>
            <a:r>
              <a:rPr lang="en-US" dirty="0"/>
              <a:t>More communication on </a:t>
            </a:r>
            <a:r>
              <a:rPr lang="en-US" dirty="0" err="1"/>
              <a:t>Github</a:t>
            </a:r>
            <a:r>
              <a:rPr lang="en-US" dirty="0"/>
              <a:t> and other apps about reviewing </a:t>
            </a:r>
          </a:p>
          <a:p>
            <a:r>
              <a:rPr lang="en-US" dirty="0"/>
              <a:t>Mention about PR review in weekly meetings </a:t>
            </a:r>
          </a:p>
          <a:p>
            <a:r>
              <a:rPr lang="en-US" dirty="0"/>
              <a:t>Update in group chat about PR has been created</a:t>
            </a:r>
          </a:p>
          <a:p>
            <a:endParaRPr lang="en-SG" dirty="0"/>
          </a:p>
        </p:txBody>
      </p:sp>
      <p:sp>
        <p:nvSpPr>
          <p:cNvPr id="5" name="TextBox 4">
            <a:extLst>
              <a:ext uri="{FF2B5EF4-FFF2-40B4-BE49-F238E27FC236}">
                <a16:creationId xmlns:a16="http://schemas.microsoft.com/office/drawing/2014/main" id="{59D2D434-8861-D9FB-DCF7-B67CEE38BD93}"/>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Jen</a:t>
            </a:r>
            <a:endParaRPr lang="en-SG" dirty="0"/>
          </a:p>
        </p:txBody>
      </p:sp>
    </p:spTree>
    <p:extLst>
      <p:ext uri="{BB962C8B-B14F-4D97-AF65-F5344CB8AC3E}">
        <p14:creationId xmlns:p14="http://schemas.microsoft.com/office/powerpoint/2010/main" val="155675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A1D4A-79C0-83B3-5104-96055EBC5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10FD4-FCA0-8894-C3A7-6A5AA0134149}"/>
              </a:ext>
            </a:extLst>
          </p:cNvPr>
          <p:cNvSpPr>
            <a:spLocks noGrp="1"/>
          </p:cNvSpPr>
          <p:nvPr>
            <p:ph type="title"/>
          </p:nvPr>
        </p:nvSpPr>
        <p:spPr/>
        <p:txBody>
          <a:bodyPr>
            <a:normAutofit fontScale="90000"/>
          </a:bodyPr>
          <a:lstStyle/>
          <a:p>
            <a:r>
              <a:rPr lang="en-US" dirty="0"/>
              <a:t>Challenges faced:  Facing ‘up-to-us’ client requirements</a:t>
            </a:r>
          </a:p>
        </p:txBody>
      </p:sp>
      <p:sp>
        <p:nvSpPr>
          <p:cNvPr id="3" name="Content Placeholder 2">
            <a:extLst>
              <a:ext uri="{FF2B5EF4-FFF2-40B4-BE49-F238E27FC236}">
                <a16:creationId xmlns:a16="http://schemas.microsoft.com/office/drawing/2014/main" id="{7372ED5A-67EC-8489-AAB7-AD1777457486}"/>
              </a:ext>
            </a:extLst>
          </p:cNvPr>
          <p:cNvSpPr>
            <a:spLocks noGrp="1"/>
          </p:cNvSpPr>
          <p:nvPr>
            <p:ph idx="1"/>
          </p:nvPr>
        </p:nvSpPr>
        <p:spPr>
          <a:xfrm>
            <a:off x="1295401" y="2488105"/>
            <a:ext cx="9601196" cy="3853701"/>
          </a:xfrm>
        </p:spPr>
        <p:txBody>
          <a:bodyPr>
            <a:normAutofit fontScale="85000" lnSpcReduction="20000"/>
          </a:bodyPr>
          <a:lstStyle/>
          <a:p>
            <a:pPr fontAlgn="base"/>
            <a:r>
              <a:rPr lang="en-US" dirty="0"/>
              <a:t>Our current client is open to any ideas, as long as we can explain why</a:t>
            </a:r>
          </a:p>
          <a:p>
            <a:pPr fontAlgn="base"/>
            <a:r>
              <a:rPr lang="en-US" dirty="0"/>
              <a:t>Proposes idea but is up to us to decide if we want to implement it</a:t>
            </a:r>
          </a:p>
          <a:p>
            <a:pPr fontAlgn="base"/>
            <a:r>
              <a:rPr lang="en-US" dirty="0"/>
              <a:t>Letting us to explore ideas in a broad perspective (gamification) to work on</a:t>
            </a:r>
          </a:p>
          <a:p>
            <a:pPr fontAlgn="base"/>
            <a:r>
              <a:rPr lang="en-US" dirty="0"/>
              <a:t>Can be quite difficult to think of what features to actually do</a:t>
            </a:r>
          </a:p>
          <a:p>
            <a:pPr marL="0" indent="0" fontAlgn="base">
              <a:buNone/>
            </a:pPr>
            <a:endParaRPr lang="en-US" dirty="0"/>
          </a:p>
          <a:p>
            <a:pPr marL="0" indent="0">
              <a:buNone/>
            </a:pPr>
            <a:r>
              <a:rPr lang="en-US" u="sng" dirty="0"/>
              <a:t>Solution: </a:t>
            </a:r>
            <a:endParaRPr lang="en-US" dirty="0"/>
          </a:p>
          <a:p>
            <a:pPr fontAlgn="base"/>
            <a:r>
              <a:rPr lang="en-US" dirty="0"/>
              <a:t>Discuss with client about wanted effects and rough ideas</a:t>
            </a:r>
          </a:p>
          <a:p>
            <a:pPr fontAlgn="base"/>
            <a:r>
              <a:rPr lang="en-US" dirty="0"/>
              <a:t>Discuss with team about what could be done and research about effects </a:t>
            </a:r>
          </a:p>
          <a:p>
            <a:pPr fontAlgn="base"/>
            <a:r>
              <a:rPr lang="en-US" dirty="0"/>
              <a:t>Showing prototype of idea to client and discuss if it reached the requirements (e.g. swiping feature) </a:t>
            </a:r>
          </a:p>
        </p:txBody>
      </p:sp>
      <p:sp>
        <p:nvSpPr>
          <p:cNvPr id="5" name="TextBox 4">
            <a:extLst>
              <a:ext uri="{FF2B5EF4-FFF2-40B4-BE49-F238E27FC236}">
                <a16:creationId xmlns:a16="http://schemas.microsoft.com/office/drawing/2014/main" id="{7C427FA0-1E85-4071-793A-EEEEDDA3B3E9}"/>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Freddie</a:t>
            </a:r>
            <a:endParaRPr lang="en-SG" dirty="0"/>
          </a:p>
        </p:txBody>
      </p:sp>
    </p:spTree>
    <p:extLst>
      <p:ext uri="{BB962C8B-B14F-4D97-AF65-F5344CB8AC3E}">
        <p14:creationId xmlns:p14="http://schemas.microsoft.com/office/powerpoint/2010/main" val="4276158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CE692-6BD3-CEFB-F343-770E96E32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D314E-677D-35A2-EB7A-A50F41EBA7C6}"/>
              </a:ext>
            </a:extLst>
          </p:cNvPr>
          <p:cNvSpPr>
            <a:spLocks noGrp="1"/>
          </p:cNvSpPr>
          <p:nvPr>
            <p:ph type="title"/>
          </p:nvPr>
        </p:nvSpPr>
        <p:spPr/>
        <p:txBody>
          <a:bodyPr>
            <a:normAutofit fontScale="90000"/>
          </a:bodyPr>
          <a:lstStyle/>
          <a:p>
            <a:r>
              <a:rPr lang="en-US" dirty="0"/>
              <a:t>Challenges faced: Facing new project and new member</a:t>
            </a:r>
          </a:p>
        </p:txBody>
      </p:sp>
      <p:sp>
        <p:nvSpPr>
          <p:cNvPr id="3" name="Content Placeholder 2">
            <a:extLst>
              <a:ext uri="{FF2B5EF4-FFF2-40B4-BE49-F238E27FC236}">
                <a16:creationId xmlns:a16="http://schemas.microsoft.com/office/drawing/2014/main" id="{EE9EBA10-B9CC-87B5-1FFF-8F74E4372FAB}"/>
              </a:ext>
            </a:extLst>
          </p:cNvPr>
          <p:cNvSpPr>
            <a:spLocks noGrp="1"/>
          </p:cNvSpPr>
          <p:nvPr>
            <p:ph idx="1"/>
          </p:nvPr>
        </p:nvSpPr>
        <p:spPr/>
        <p:txBody>
          <a:bodyPr>
            <a:normAutofit fontScale="92500" lnSpcReduction="20000"/>
          </a:bodyPr>
          <a:lstStyle/>
          <a:p>
            <a:r>
              <a:rPr lang="en-US" dirty="0"/>
              <a:t>New project, new framework and tech stack -&gt; delayed start requiring more effort at a time to achieve same progress (e.g. CI facing dependency issues till recent) </a:t>
            </a:r>
          </a:p>
          <a:p>
            <a:r>
              <a:rPr lang="en-US" dirty="0"/>
              <a:t>New member to integrate in Jan (TB2), working online for 2 weeks</a:t>
            </a:r>
          </a:p>
          <a:p>
            <a:pPr marL="0" indent="0">
              <a:buNone/>
            </a:pPr>
            <a:endParaRPr lang="en-US" dirty="0"/>
          </a:p>
          <a:p>
            <a:pPr marL="0" indent="0">
              <a:buNone/>
            </a:pPr>
            <a:r>
              <a:rPr lang="en-US" u="sng" dirty="0"/>
              <a:t>Solution: </a:t>
            </a:r>
          </a:p>
          <a:p>
            <a:r>
              <a:rPr lang="en-SG" dirty="0"/>
              <a:t>Get up the new member, multiple online meetings within 2 weeks, repo and code run through, introducing with client</a:t>
            </a:r>
          </a:p>
          <a:p>
            <a:r>
              <a:rPr lang="en-SG" dirty="0"/>
              <a:t>Use of AI to summarize documentation and debug, break down features / ideas into smaller issues and schedule to achieve one at a time  </a:t>
            </a:r>
          </a:p>
        </p:txBody>
      </p:sp>
      <p:sp>
        <p:nvSpPr>
          <p:cNvPr id="5" name="TextBox 4">
            <a:extLst>
              <a:ext uri="{FF2B5EF4-FFF2-40B4-BE49-F238E27FC236}">
                <a16:creationId xmlns:a16="http://schemas.microsoft.com/office/drawing/2014/main" id="{31820EB6-09AF-0EE7-54F2-D6E5BED71E86}"/>
              </a:ext>
            </a:extLst>
          </p:cNvPr>
          <p:cNvSpPr txBox="1"/>
          <p:nvPr/>
        </p:nvSpPr>
        <p:spPr>
          <a:xfrm>
            <a:off x="8681882" y="74715"/>
            <a:ext cx="2985959" cy="369332"/>
          </a:xfrm>
          <a:prstGeom prst="rect">
            <a:avLst/>
          </a:prstGeom>
          <a:noFill/>
        </p:spPr>
        <p:txBody>
          <a:bodyPr wrap="square" lIns="91440" tIns="45720" rIns="91440" bIns="45720" rtlCol="0" anchor="t">
            <a:spAutoFit/>
          </a:bodyPr>
          <a:lstStyle/>
          <a:p>
            <a:r>
              <a:rPr lang="en-US" dirty="0"/>
              <a:t>Now speaking: Euan</a:t>
            </a:r>
            <a:endParaRPr lang="en-SG" dirty="0"/>
          </a:p>
        </p:txBody>
      </p:sp>
    </p:spTree>
    <p:extLst>
      <p:ext uri="{BB962C8B-B14F-4D97-AF65-F5344CB8AC3E}">
        <p14:creationId xmlns:p14="http://schemas.microsoft.com/office/powerpoint/2010/main" val="3825324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6265-615E-5C5F-ECDF-4AB87284F11B}"/>
              </a:ext>
            </a:extLst>
          </p:cNvPr>
          <p:cNvSpPr>
            <a:spLocks noGrp="1"/>
          </p:cNvSpPr>
          <p:nvPr>
            <p:ph type="ctrTitle"/>
          </p:nvPr>
        </p:nvSpPr>
        <p:spPr/>
        <p:txBody>
          <a:bodyPr/>
          <a:lstStyle/>
          <a:p>
            <a:r>
              <a:rPr lang="en-US" dirty="0"/>
              <a:t>Thank you!</a:t>
            </a:r>
            <a:endParaRPr lang="en-SG" dirty="0"/>
          </a:p>
        </p:txBody>
      </p:sp>
      <p:sp>
        <p:nvSpPr>
          <p:cNvPr id="3" name="Subtitle 2">
            <a:extLst>
              <a:ext uri="{FF2B5EF4-FFF2-40B4-BE49-F238E27FC236}">
                <a16:creationId xmlns:a16="http://schemas.microsoft.com/office/drawing/2014/main" id="{FB3A1208-4400-336F-4D91-C45BFD1D985B}"/>
              </a:ext>
            </a:extLst>
          </p:cNvPr>
          <p:cNvSpPr>
            <a:spLocks noGrp="1"/>
          </p:cNvSpPr>
          <p:nvPr>
            <p:ph type="subTitle" idx="1"/>
          </p:nvPr>
        </p:nvSpPr>
        <p:spPr/>
        <p:txBody>
          <a:bodyPr/>
          <a:lstStyle/>
          <a:p>
            <a:endParaRPr lang="en-SG"/>
          </a:p>
        </p:txBody>
      </p:sp>
      <p:sp>
        <p:nvSpPr>
          <p:cNvPr id="4" name="Date Placeholder 3">
            <a:extLst>
              <a:ext uri="{FF2B5EF4-FFF2-40B4-BE49-F238E27FC236}">
                <a16:creationId xmlns:a16="http://schemas.microsoft.com/office/drawing/2014/main" id="{569E8C23-78ED-08BA-10BE-8602D961C024}"/>
              </a:ext>
            </a:extLst>
          </p:cNvPr>
          <p:cNvSpPr>
            <a:spLocks noGrp="1"/>
          </p:cNvSpPr>
          <p:nvPr>
            <p:ph type="dt" sz="half" idx="10"/>
          </p:nvPr>
        </p:nvSpPr>
        <p:spPr/>
        <p:txBody>
          <a:bodyPr/>
          <a:lstStyle/>
          <a:p>
            <a:fld id="{ACE431C1-AA61-45A4-810D-C7BDC82D163A}" type="datetime1">
              <a:rPr lang="en-US" smtClean="0"/>
              <a:t>3/2/26</a:t>
            </a:fld>
            <a:endParaRPr lang="en-US"/>
          </a:p>
        </p:txBody>
      </p:sp>
      <p:sp>
        <p:nvSpPr>
          <p:cNvPr id="5" name="Footer Placeholder 4">
            <a:extLst>
              <a:ext uri="{FF2B5EF4-FFF2-40B4-BE49-F238E27FC236}">
                <a16:creationId xmlns:a16="http://schemas.microsoft.com/office/drawing/2014/main" id="{7761E863-E35A-EFEF-2E91-39EEBCFB870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2781C87-3BE2-5ED9-4492-B808723C2E30}"/>
              </a:ext>
            </a:extLst>
          </p:cNvPr>
          <p:cNvSpPr>
            <a:spLocks noGrp="1"/>
          </p:cNvSpPr>
          <p:nvPr>
            <p:ph type="sldNum" sz="quarter" idx="12"/>
          </p:nvPr>
        </p:nvSpPr>
        <p:spPr/>
        <p:txBody>
          <a:bodyPr/>
          <a:lstStyle/>
          <a:p>
            <a:fld id="{CC057153-B650-4DEB-B370-79DDCFDCE934}" type="slidenum">
              <a:rPr lang="en-US" smtClean="0"/>
              <a:t>40</a:t>
            </a:fld>
            <a:endParaRPr lang="en-US"/>
          </a:p>
        </p:txBody>
      </p:sp>
    </p:spTree>
    <p:extLst>
      <p:ext uri="{BB962C8B-B14F-4D97-AF65-F5344CB8AC3E}">
        <p14:creationId xmlns:p14="http://schemas.microsoft.com/office/powerpoint/2010/main" val="3651548738"/>
      </p:ext>
    </p:extLst>
  </p:cSld>
  <p:clrMapOvr>
    <a:masterClrMapping/>
  </p:clrMapOvr>
</p:sld>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896</TotalTime>
  <Words>1798</Words>
  <Application>Microsoft Macintosh PowerPoint</Application>
  <PresentationFormat>Widescreen</PresentationFormat>
  <Paragraphs>247</Paragraphs>
  <Slides>40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맑은 고딕</vt:lpstr>
      <vt:lpstr>Aptos</vt:lpstr>
      <vt:lpstr>Arial</vt:lpstr>
      <vt:lpstr>Calibri</vt:lpstr>
      <vt:lpstr>Garamond</vt:lpstr>
      <vt:lpstr>Neue Haas Grotesk Text Pro</vt:lpstr>
      <vt:lpstr>Organic</vt:lpstr>
      <vt:lpstr>Secondhand Marketplace2  Beta Release  Pre-GreenCheck AI</vt:lpstr>
      <vt:lpstr>PowerPoint Presentation</vt:lpstr>
      <vt:lpstr>Previous Project: GreenCheck AI Greenwashing detection for Legal Pythia</vt:lpstr>
      <vt:lpstr>Previous Project: GreenCheck AI Greenwashing detection for Legal Pythia</vt:lpstr>
      <vt:lpstr>Current Project Context &amp; Vision  Marius Jurt is an individual client  who aims to address the lack of  trust and engagement in existing secondhand marketplaces</vt:lpstr>
      <vt:lpstr>Current Project Context  &amp; Vision  To build a trusted, playful marketplace where users trade confidently and build credibility</vt:lpstr>
      <vt:lpstr>PowerPoint Presentation</vt:lpstr>
      <vt:lpstr>PowerPoint Presentation</vt:lpstr>
      <vt:lpstr>PowerPoint Presentation</vt:lpstr>
      <vt:lpstr>DEMO</vt:lpstr>
      <vt:lpstr>Figma Designs</vt:lpstr>
      <vt:lpstr>Architecture</vt:lpstr>
      <vt:lpstr>Cloud Architecture</vt:lpstr>
      <vt:lpstr>Continuous Integration and Deployment</vt:lpstr>
      <vt:lpstr>Continuous Integration</vt:lpstr>
      <vt:lpstr>Continuous Deployment</vt:lpstr>
      <vt:lpstr>Client feedback</vt:lpstr>
      <vt:lpstr>User feedback of testing day - General trend</vt:lpstr>
      <vt:lpstr>User feedback of testing day - Liked items page</vt:lpstr>
      <vt:lpstr>User feedback of testing day - Explore page enhancement</vt:lpstr>
      <vt:lpstr>User feedback of testing day - Navigation improvement</vt:lpstr>
      <vt:lpstr>Client feedback - Profile page simplification </vt:lpstr>
      <vt:lpstr>MVP feedback - Choose areas to be focused on</vt:lpstr>
      <vt:lpstr>MVP feedback - Effect of chosen gamification on app</vt:lpstr>
      <vt:lpstr>Project Management / Agile development  </vt:lpstr>
      <vt:lpstr>Project Management - Sprint 1, PM: Freddie </vt:lpstr>
      <vt:lpstr>Project Management - Sprint 2, PM: Euan</vt:lpstr>
      <vt:lpstr>Project Management - Sprint 3 (future plan), PM: Alex</vt:lpstr>
      <vt:lpstr>Project Management - Kanban </vt:lpstr>
      <vt:lpstr>Project Management - Kanban </vt:lpstr>
      <vt:lpstr>Project Management - Issues before</vt:lpstr>
      <vt:lpstr>Project Management - Issues after </vt:lpstr>
      <vt:lpstr>Project Management - PRs </vt:lpstr>
      <vt:lpstr>Project Management - PRs example comments </vt:lpstr>
      <vt:lpstr>Project Management - PRs example comments </vt:lpstr>
      <vt:lpstr>Project Management - PRs example comments </vt:lpstr>
      <vt:lpstr>Challenges faced: PR review stuck</vt:lpstr>
      <vt:lpstr>Challenges faced:  Facing ‘up-to-us’ client requirements</vt:lpstr>
      <vt:lpstr>Challenges faced: Facing new project and new member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Jen Lee</cp:lastModifiedBy>
  <cp:revision>13</cp:revision>
  <dcterms:created xsi:type="dcterms:W3CDTF">2026-02-26T14:08:28Z</dcterms:created>
  <dcterms:modified xsi:type="dcterms:W3CDTF">2026-03-03T11:45:32Z</dcterms:modified>
</cp:coreProperties>
</file>