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56" r:id="rId5"/>
    <p:sldId id="261" r:id="rId6"/>
    <p:sldId id="276" r:id="rId7"/>
    <p:sldId id="278" r:id="rId8"/>
    <p:sldId id="280" r:id="rId9"/>
    <p:sldId id="279" r:id="rId10"/>
    <p:sldId id="262" r:id="rId11"/>
    <p:sldId id="264" r:id="rId12"/>
    <p:sldId id="275" r:id="rId13"/>
    <p:sldId id="259" r:id="rId14"/>
    <p:sldId id="257" r:id="rId15"/>
    <p:sldId id="281" r:id="rId16"/>
    <p:sldId id="273" r:id="rId17"/>
    <p:sldId id="271" r:id="rId18"/>
    <p:sldId id="274" r:id="rId19"/>
    <p:sldId id="27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6250"/>
    <a:srgbClr val="AE47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5C2CB2-0B1E-226B-055F-6C1A3DAA1C15}" v="1" dt="2025-11-25T15:14:41.591"/>
    <p1510:client id="{80487704-9A7A-B75B-6503-FCADB18C47B5}" v="1490" dt="2025-11-26T09:38:54.490"/>
    <p1510:client id="{916FE7FE-65A4-4590-925C-27B13038BC3D}" v="531" dt="2025-11-26T14:15:45.515"/>
    <p1510:client id="{E1389CB9-E100-EE83-8A3C-695307DF0C7B}" v="104" dt="2025-11-25T15:54:06.4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F4B90F-CFED-426F-847E-EDEB67898557}"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SG"/>
        </a:p>
      </dgm:t>
    </dgm:pt>
    <dgm:pt modelId="{F9764B48-BD54-4846-9EBA-927C298EBEC4}">
      <dgm:prSet phldrT="[Text]" phldr="0"/>
      <dgm:spPr/>
      <dgm:t>
        <a:bodyPr anchor="ctr"/>
        <a:lstStyle/>
        <a:p>
          <a:pPr algn="ctr"/>
          <a:r>
            <a:rPr lang="en-US" dirty="0"/>
            <a:t>Joined </a:t>
          </a:r>
          <a:r>
            <a:rPr lang="en-US" dirty="0" err="1"/>
            <a:t>GreenCheck</a:t>
          </a:r>
          <a:r>
            <a:rPr lang="en-US" dirty="0"/>
            <a:t> AI</a:t>
          </a:r>
          <a:endParaRPr lang="en-SG" dirty="0"/>
        </a:p>
      </dgm:t>
    </dgm:pt>
    <dgm:pt modelId="{EAF9353E-9A29-4182-96C5-AA869616ABF2}" type="parTrans" cxnId="{67EFCFEF-B561-46FE-876E-44F68A55667E}">
      <dgm:prSet/>
      <dgm:spPr/>
      <dgm:t>
        <a:bodyPr/>
        <a:lstStyle/>
        <a:p>
          <a:endParaRPr lang="en-SG"/>
        </a:p>
      </dgm:t>
    </dgm:pt>
    <dgm:pt modelId="{21B18322-2201-4AC6-86EB-14B6013257EF}" type="sibTrans" cxnId="{67EFCFEF-B561-46FE-876E-44F68A55667E}">
      <dgm:prSet/>
      <dgm:spPr/>
      <dgm:t>
        <a:bodyPr/>
        <a:lstStyle/>
        <a:p>
          <a:endParaRPr lang="en-SG"/>
        </a:p>
      </dgm:t>
    </dgm:pt>
    <dgm:pt modelId="{25BE64E7-14C6-4823-A4EE-750A13984464}">
      <dgm:prSet phldrT="[Text]" phldr="0"/>
      <dgm:spPr/>
      <dgm:t>
        <a:bodyPr anchor="ctr"/>
        <a:lstStyle/>
        <a:p>
          <a:r>
            <a:rPr lang="en-US" dirty="0"/>
            <a:t>Deciding and choosing new project</a:t>
          </a:r>
          <a:endParaRPr lang="en-SG" dirty="0"/>
        </a:p>
      </dgm:t>
    </dgm:pt>
    <dgm:pt modelId="{C1642A8E-3EB3-48C9-B748-6DEBD5FD0E20}" type="parTrans" cxnId="{D64374E6-9030-4AC4-844D-585A8C5BBF40}">
      <dgm:prSet/>
      <dgm:spPr/>
      <dgm:t>
        <a:bodyPr/>
        <a:lstStyle/>
        <a:p>
          <a:endParaRPr lang="en-SG"/>
        </a:p>
      </dgm:t>
    </dgm:pt>
    <dgm:pt modelId="{2D104C4C-1B00-44DE-AC01-0044FF8CD5DC}" type="sibTrans" cxnId="{D64374E6-9030-4AC4-844D-585A8C5BBF40}">
      <dgm:prSet/>
      <dgm:spPr/>
      <dgm:t>
        <a:bodyPr/>
        <a:lstStyle/>
        <a:p>
          <a:endParaRPr lang="en-SG"/>
        </a:p>
      </dgm:t>
    </dgm:pt>
    <dgm:pt modelId="{8E769C82-FDAC-417B-92D6-D745F671723B}">
      <dgm:prSet phldrT="[Text]" phldr="0"/>
      <dgm:spPr/>
      <dgm:t>
        <a:bodyPr anchor="ctr"/>
        <a:lstStyle/>
        <a:p>
          <a:r>
            <a:rPr lang="en-US" dirty="0"/>
            <a:t>Find out issues and risks</a:t>
          </a:r>
          <a:endParaRPr lang="en-SG" dirty="0"/>
        </a:p>
      </dgm:t>
    </dgm:pt>
    <dgm:pt modelId="{4B5551E6-11D8-4BAD-8514-6BBD29F1D49D}" type="parTrans" cxnId="{B1296214-31F2-471E-AF73-A85D86D9482C}">
      <dgm:prSet/>
      <dgm:spPr/>
      <dgm:t>
        <a:bodyPr/>
        <a:lstStyle/>
        <a:p>
          <a:endParaRPr lang="en-SG"/>
        </a:p>
      </dgm:t>
    </dgm:pt>
    <dgm:pt modelId="{E4C96EAE-9032-4313-AED4-E29C5F2A8F74}" type="sibTrans" cxnId="{B1296214-31F2-471E-AF73-A85D86D9482C}">
      <dgm:prSet/>
      <dgm:spPr/>
      <dgm:t>
        <a:bodyPr/>
        <a:lstStyle/>
        <a:p>
          <a:endParaRPr lang="en-SG"/>
        </a:p>
      </dgm:t>
    </dgm:pt>
    <dgm:pt modelId="{2B142E12-D0C2-4A19-A572-487BF862E990}">
      <dgm:prSet phldrT="[Text]" phldr="0"/>
      <dgm:spPr/>
      <dgm:t>
        <a:bodyPr anchor="ctr"/>
        <a:lstStyle/>
        <a:p>
          <a:r>
            <a:rPr lang="en-US" dirty="0"/>
            <a:t>Ask for advice and confirmation</a:t>
          </a:r>
          <a:endParaRPr lang="en-SG" dirty="0"/>
        </a:p>
      </dgm:t>
    </dgm:pt>
    <dgm:pt modelId="{7E38ED04-2486-4C77-B170-C59340186002}" type="parTrans" cxnId="{3E2B3E4A-6799-49C6-A0E6-B686FCA08E25}">
      <dgm:prSet/>
      <dgm:spPr/>
      <dgm:t>
        <a:bodyPr/>
        <a:lstStyle/>
        <a:p>
          <a:endParaRPr lang="en-SG"/>
        </a:p>
      </dgm:t>
    </dgm:pt>
    <dgm:pt modelId="{0DC85182-C763-4E58-9ED9-6C21BBE0BA75}" type="sibTrans" cxnId="{3E2B3E4A-6799-49C6-A0E6-B686FCA08E25}">
      <dgm:prSet/>
      <dgm:spPr/>
      <dgm:t>
        <a:bodyPr/>
        <a:lstStyle/>
        <a:p>
          <a:endParaRPr lang="en-SG"/>
        </a:p>
      </dgm:t>
    </dgm:pt>
    <dgm:pt modelId="{A30328E1-2960-40AB-AB53-72771C635994}">
      <dgm:prSet phldrT="[Text]" phldr="0"/>
      <dgm:spPr/>
      <dgm:t>
        <a:bodyPr anchor="ctr"/>
        <a:lstStyle/>
        <a:p>
          <a:r>
            <a:rPr lang="en-US" dirty="0"/>
            <a:t>Joined Secondhand Marketplace</a:t>
          </a:r>
          <a:endParaRPr lang="en-SG" dirty="0"/>
        </a:p>
      </dgm:t>
    </dgm:pt>
    <dgm:pt modelId="{086C01D3-EE58-419F-BA6D-5B4DCE835338}" type="parTrans" cxnId="{ED0A3B13-512F-4925-979D-07781BBAEC29}">
      <dgm:prSet/>
      <dgm:spPr/>
      <dgm:t>
        <a:bodyPr/>
        <a:lstStyle/>
        <a:p>
          <a:endParaRPr lang="en-SG"/>
        </a:p>
      </dgm:t>
    </dgm:pt>
    <dgm:pt modelId="{3BB7E2F8-F4D7-40F7-AD95-C4CEF0114FD9}" type="sibTrans" cxnId="{ED0A3B13-512F-4925-979D-07781BBAEC29}">
      <dgm:prSet/>
      <dgm:spPr/>
      <dgm:t>
        <a:bodyPr/>
        <a:lstStyle/>
        <a:p>
          <a:endParaRPr lang="en-SG"/>
        </a:p>
      </dgm:t>
    </dgm:pt>
    <dgm:pt modelId="{ED78F873-9FD9-4988-B1A2-5EC251D8D3DC}" type="pres">
      <dgm:prSet presAssocID="{6EF4B90F-CFED-426F-847E-EDEB67898557}" presName="Name0" presStyleCnt="0">
        <dgm:presLayoutVars>
          <dgm:dir/>
          <dgm:resizeHandles val="exact"/>
        </dgm:presLayoutVars>
      </dgm:prSet>
      <dgm:spPr/>
    </dgm:pt>
    <dgm:pt modelId="{91143450-81E3-4409-BAF7-F62406AF8B3B}" type="pres">
      <dgm:prSet presAssocID="{6EF4B90F-CFED-426F-847E-EDEB67898557}" presName="arrow" presStyleLbl="bgShp" presStyleIdx="0" presStyleCnt="1"/>
      <dgm:spPr>
        <a:solidFill>
          <a:schemeClr val="accent2">
            <a:lumMod val="60000"/>
            <a:lumOff val="40000"/>
          </a:schemeClr>
        </a:solidFill>
      </dgm:spPr>
    </dgm:pt>
    <dgm:pt modelId="{4C298DC1-D4F4-43C1-B45E-A5BF42C55821}" type="pres">
      <dgm:prSet presAssocID="{6EF4B90F-CFED-426F-847E-EDEB67898557}" presName="points" presStyleCnt="0"/>
      <dgm:spPr/>
    </dgm:pt>
    <dgm:pt modelId="{A541D663-87A9-4847-B6A2-B0AD2D8F93AC}" type="pres">
      <dgm:prSet presAssocID="{F9764B48-BD54-4846-9EBA-927C298EBEC4}" presName="compositeA" presStyleCnt="0"/>
      <dgm:spPr/>
    </dgm:pt>
    <dgm:pt modelId="{82C1D45C-7E3B-4847-B3D4-B9FAD1BE05ED}" type="pres">
      <dgm:prSet presAssocID="{F9764B48-BD54-4846-9EBA-927C298EBEC4}" presName="textA" presStyleLbl="revTx" presStyleIdx="0" presStyleCnt="5">
        <dgm:presLayoutVars>
          <dgm:bulletEnabled val="1"/>
        </dgm:presLayoutVars>
      </dgm:prSet>
      <dgm:spPr/>
    </dgm:pt>
    <dgm:pt modelId="{862C51D9-5C47-48F1-B405-3B22AA4CCDA6}" type="pres">
      <dgm:prSet presAssocID="{F9764B48-BD54-4846-9EBA-927C298EBEC4}" presName="circleA" presStyleLbl="node1" presStyleIdx="0" presStyleCnt="5"/>
      <dgm:spPr>
        <a:solidFill>
          <a:srgbClr val="AE4744"/>
        </a:solidFill>
      </dgm:spPr>
    </dgm:pt>
    <dgm:pt modelId="{529FC0E3-C694-450E-BDC2-7DE72FD70D90}" type="pres">
      <dgm:prSet presAssocID="{F9764B48-BD54-4846-9EBA-927C298EBEC4}" presName="spaceA" presStyleCnt="0"/>
      <dgm:spPr/>
    </dgm:pt>
    <dgm:pt modelId="{1FE9F59A-55E4-44BE-B7AC-9EF4D8FA7662}" type="pres">
      <dgm:prSet presAssocID="{21B18322-2201-4AC6-86EB-14B6013257EF}" presName="space" presStyleCnt="0"/>
      <dgm:spPr/>
    </dgm:pt>
    <dgm:pt modelId="{08CF230E-DCBB-4C22-9F50-B8A53F75AD7F}" type="pres">
      <dgm:prSet presAssocID="{8E769C82-FDAC-417B-92D6-D745F671723B}" presName="compositeB" presStyleCnt="0"/>
      <dgm:spPr/>
    </dgm:pt>
    <dgm:pt modelId="{0EA2A660-1F59-433D-8D6F-75877F943D45}" type="pres">
      <dgm:prSet presAssocID="{8E769C82-FDAC-417B-92D6-D745F671723B}" presName="textB" presStyleLbl="revTx" presStyleIdx="1" presStyleCnt="5">
        <dgm:presLayoutVars>
          <dgm:bulletEnabled val="1"/>
        </dgm:presLayoutVars>
      </dgm:prSet>
      <dgm:spPr/>
    </dgm:pt>
    <dgm:pt modelId="{3E27716C-D476-493A-B1DE-A80F11AC4158}" type="pres">
      <dgm:prSet presAssocID="{8E769C82-FDAC-417B-92D6-D745F671723B}" presName="circleB" presStyleLbl="node1" presStyleIdx="1" presStyleCnt="5"/>
      <dgm:spPr>
        <a:solidFill>
          <a:srgbClr val="AE4744"/>
        </a:solidFill>
      </dgm:spPr>
    </dgm:pt>
    <dgm:pt modelId="{EC992C7A-1D3D-4EDC-B1D5-8AD3062E1132}" type="pres">
      <dgm:prSet presAssocID="{8E769C82-FDAC-417B-92D6-D745F671723B}" presName="spaceB" presStyleCnt="0"/>
      <dgm:spPr/>
    </dgm:pt>
    <dgm:pt modelId="{6D2AE6CE-623B-4956-BAF3-1A3AF0F8B0E8}" type="pres">
      <dgm:prSet presAssocID="{E4C96EAE-9032-4313-AED4-E29C5F2A8F74}" presName="space" presStyleCnt="0"/>
      <dgm:spPr/>
    </dgm:pt>
    <dgm:pt modelId="{BB07B370-2AE3-4DB2-A4BB-EA3116EDC65D}" type="pres">
      <dgm:prSet presAssocID="{2B142E12-D0C2-4A19-A572-487BF862E990}" presName="compositeA" presStyleCnt="0"/>
      <dgm:spPr/>
    </dgm:pt>
    <dgm:pt modelId="{23D21F48-9793-4FE2-827A-4F2BE92373D3}" type="pres">
      <dgm:prSet presAssocID="{2B142E12-D0C2-4A19-A572-487BF862E990}" presName="textA" presStyleLbl="revTx" presStyleIdx="2" presStyleCnt="5">
        <dgm:presLayoutVars>
          <dgm:bulletEnabled val="1"/>
        </dgm:presLayoutVars>
      </dgm:prSet>
      <dgm:spPr/>
    </dgm:pt>
    <dgm:pt modelId="{92D5A46E-E498-4AAA-8E70-925C9D7634DB}" type="pres">
      <dgm:prSet presAssocID="{2B142E12-D0C2-4A19-A572-487BF862E990}" presName="circleA" presStyleLbl="node1" presStyleIdx="2" presStyleCnt="5"/>
      <dgm:spPr>
        <a:solidFill>
          <a:srgbClr val="AE4744"/>
        </a:solidFill>
      </dgm:spPr>
    </dgm:pt>
    <dgm:pt modelId="{C2C691F2-90D6-44F5-89CF-207BA2CFBF93}" type="pres">
      <dgm:prSet presAssocID="{2B142E12-D0C2-4A19-A572-487BF862E990}" presName="spaceA" presStyleCnt="0"/>
      <dgm:spPr/>
    </dgm:pt>
    <dgm:pt modelId="{E8BFFA79-EC89-48D0-8270-81D284AD90EB}" type="pres">
      <dgm:prSet presAssocID="{0DC85182-C763-4E58-9ED9-6C21BBE0BA75}" presName="space" presStyleCnt="0"/>
      <dgm:spPr/>
    </dgm:pt>
    <dgm:pt modelId="{5BCB7748-471F-4C0B-8803-9DF0A7CDAAEA}" type="pres">
      <dgm:prSet presAssocID="{25BE64E7-14C6-4823-A4EE-750A13984464}" presName="compositeB" presStyleCnt="0"/>
      <dgm:spPr/>
    </dgm:pt>
    <dgm:pt modelId="{B4EFFD8B-7E52-46B5-9D64-56918AB5214D}" type="pres">
      <dgm:prSet presAssocID="{25BE64E7-14C6-4823-A4EE-750A13984464}" presName="textB" presStyleLbl="revTx" presStyleIdx="3" presStyleCnt="5">
        <dgm:presLayoutVars>
          <dgm:bulletEnabled val="1"/>
        </dgm:presLayoutVars>
      </dgm:prSet>
      <dgm:spPr/>
    </dgm:pt>
    <dgm:pt modelId="{C3FD9B9F-F911-4413-9156-CDF8222D4C15}" type="pres">
      <dgm:prSet presAssocID="{25BE64E7-14C6-4823-A4EE-750A13984464}" presName="circleB" presStyleLbl="node1" presStyleIdx="3" presStyleCnt="5"/>
      <dgm:spPr>
        <a:solidFill>
          <a:srgbClr val="AE4744"/>
        </a:solidFill>
      </dgm:spPr>
    </dgm:pt>
    <dgm:pt modelId="{1404E477-67AB-49F6-874A-2F94BA50B9F5}" type="pres">
      <dgm:prSet presAssocID="{25BE64E7-14C6-4823-A4EE-750A13984464}" presName="spaceB" presStyleCnt="0"/>
      <dgm:spPr/>
    </dgm:pt>
    <dgm:pt modelId="{4FB00DEB-8099-4D31-9693-E4FDFB77C4F4}" type="pres">
      <dgm:prSet presAssocID="{2D104C4C-1B00-44DE-AC01-0044FF8CD5DC}" presName="space" presStyleCnt="0"/>
      <dgm:spPr/>
    </dgm:pt>
    <dgm:pt modelId="{8E27E7E7-E337-43D8-891D-71B6EA253B7B}" type="pres">
      <dgm:prSet presAssocID="{A30328E1-2960-40AB-AB53-72771C635994}" presName="compositeA" presStyleCnt="0"/>
      <dgm:spPr/>
    </dgm:pt>
    <dgm:pt modelId="{9DA95A1A-93FC-4488-A56B-675FAC5C93DB}" type="pres">
      <dgm:prSet presAssocID="{A30328E1-2960-40AB-AB53-72771C635994}" presName="textA" presStyleLbl="revTx" presStyleIdx="4" presStyleCnt="5">
        <dgm:presLayoutVars>
          <dgm:bulletEnabled val="1"/>
        </dgm:presLayoutVars>
      </dgm:prSet>
      <dgm:spPr/>
    </dgm:pt>
    <dgm:pt modelId="{E7B520BC-5B0E-4EC6-A1D9-973AAC415C3B}" type="pres">
      <dgm:prSet presAssocID="{A30328E1-2960-40AB-AB53-72771C635994}" presName="circleA" presStyleLbl="node1" presStyleIdx="4" presStyleCnt="5"/>
      <dgm:spPr>
        <a:solidFill>
          <a:srgbClr val="AE4744"/>
        </a:solidFill>
      </dgm:spPr>
    </dgm:pt>
    <dgm:pt modelId="{03708C45-73F0-401B-B9A5-1D51F7E2D267}" type="pres">
      <dgm:prSet presAssocID="{A30328E1-2960-40AB-AB53-72771C635994}" presName="spaceA" presStyleCnt="0"/>
      <dgm:spPr/>
    </dgm:pt>
  </dgm:ptLst>
  <dgm:cxnLst>
    <dgm:cxn modelId="{ED0A3B13-512F-4925-979D-07781BBAEC29}" srcId="{6EF4B90F-CFED-426F-847E-EDEB67898557}" destId="{A30328E1-2960-40AB-AB53-72771C635994}" srcOrd="4" destOrd="0" parTransId="{086C01D3-EE58-419F-BA6D-5B4DCE835338}" sibTransId="{3BB7E2F8-F4D7-40F7-AD95-C4CEF0114FD9}"/>
    <dgm:cxn modelId="{B1296214-31F2-471E-AF73-A85D86D9482C}" srcId="{6EF4B90F-CFED-426F-847E-EDEB67898557}" destId="{8E769C82-FDAC-417B-92D6-D745F671723B}" srcOrd="1" destOrd="0" parTransId="{4B5551E6-11D8-4BAD-8514-6BBD29F1D49D}" sibTransId="{E4C96EAE-9032-4313-AED4-E29C5F2A8F74}"/>
    <dgm:cxn modelId="{35050B2C-641E-4FBE-95A3-4025F615F74C}" type="presOf" srcId="{A30328E1-2960-40AB-AB53-72771C635994}" destId="{9DA95A1A-93FC-4488-A56B-675FAC5C93DB}" srcOrd="0" destOrd="0" presId="urn:microsoft.com/office/officeart/2005/8/layout/hProcess11"/>
    <dgm:cxn modelId="{99CC1841-37D3-4523-AA9D-F135E07025B4}" type="presOf" srcId="{2B142E12-D0C2-4A19-A572-487BF862E990}" destId="{23D21F48-9793-4FE2-827A-4F2BE92373D3}" srcOrd="0" destOrd="0" presId="urn:microsoft.com/office/officeart/2005/8/layout/hProcess11"/>
    <dgm:cxn modelId="{3E2B3E4A-6799-49C6-A0E6-B686FCA08E25}" srcId="{6EF4B90F-CFED-426F-847E-EDEB67898557}" destId="{2B142E12-D0C2-4A19-A572-487BF862E990}" srcOrd="2" destOrd="0" parTransId="{7E38ED04-2486-4C77-B170-C59340186002}" sibTransId="{0DC85182-C763-4E58-9ED9-6C21BBE0BA75}"/>
    <dgm:cxn modelId="{F6462973-0959-4FDB-A1BE-3731E2D04CF6}" type="presOf" srcId="{25BE64E7-14C6-4823-A4EE-750A13984464}" destId="{B4EFFD8B-7E52-46B5-9D64-56918AB5214D}" srcOrd="0" destOrd="0" presId="urn:microsoft.com/office/officeart/2005/8/layout/hProcess11"/>
    <dgm:cxn modelId="{C1670C99-7AAD-459C-AAF6-B0EEAAB02EBD}" type="presOf" srcId="{6EF4B90F-CFED-426F-847E-EDEB67898557}" destId="{ED78F873-9FD9-4988-B1A2-5EC251D8D3DC}" srcOrd="0" destOrd="0" presId="urn:microsoft.com/office/officeart/2005/8/layout/hProcess11"/>
    <dgm:cxn modelId="{568AC9AD-9ADE-45F7-B50C-EF5B298C3D36}" type="presOf" srcId="{8E769C82-FDAC-417B-92D6-D745F671723B}" destId="{0EA2A660-1F59-433D-8D6F-75877F943D45}" srcOrd="0" destOrd="0" presId="urn:microsoft.com/office/officeart/2005/8/layout/hProcess11"/>
    <dgm:cxn modelId="{E1B95FB9-5E47-469C-93D1-0A75490A5DEA}" type="presOf" srcId="{F9764B48-BD54-4846-9EBA-927C298EBEC4}" destId="{82C1D45C-7E3B-4847-B3D4-B9FAD1BE05ED}" srcOrd="0" destOrd="0" presId="urn:microsoft.com/office/officeart/2005/8/layout/hProcess11"/>
    <dgm:cxn modelId="{D64374E6-9030-4AC4-844D-585A8C5BBF40}" srcId="{6EF4B90F-CFED-426F-847E-EDEB67898557}" destId="{25BE64E7-14C6-4823-A4EE-750A13984464}" srcOrd="3" destOrd="0" parTransId="{C1642A8E-3EB3-48C9-B748-6DEBD5FD0E20}" sibTransId="{2D104C4C-1B00-44DE-AC01-0044FF8CD5DC}"/>
    <dgm:cxn modelId="{67EFCFEF-B561-46FE-876E-44F68A55667E}" srcId="{6EF4B90F-CFED-426F-847E-EDEB67898557}" destId="{F9764B48-BD54-4846-9EBA-927C298EBEC4}" srcOrd="0" destOrd="0" parTransId="{EAF9353E-9A29-4182-96C5-AA869616ABF2}" sibTransId="{21B18322-2201-4AC6-86EB-14B6013257EF}"/>
    <dgm:cxn modelId="{8921B0DD-70AC-47F4-B1B6-170FB340B1BD}" type="presParOf" srcId="{ED78F873-9FD9-4988-B1A2-5EC251D8D3DC}" destId="{91143450-81E3-4409-BAF7-F62406AF8B3B}" srcOrd="0" destOrd="0" presId="urn:microsoft.com/office/officeart/2005/8/layout/hProcess11"/>
    <dgm:cxn modelId="{334A9B4E-E074-49EC-A5B9-DD2F6403E836}" type="presParOf" srcId="{ED78F873-9FD9-4988-B1A2-5EC251D8D3DC}" destId="{4C298DC1-D4F4-43C1-B45E-A5BF42C55821}" srcOrd="1" destOrd="0" presId="urn:microsoft.com/office/officeart/2005/8/layout/hProcess11"/>
    <dgm:cxn modelId="{5FDABA9E-9F76-41AD-9047-1B98209B6565}" type="presParOf" srcId="{4C298DC1-D4F4-43C1-B45E-A5BF42C55821}" destId="{A541D663-87A9-4847-B6A2-B0AD2D8F93AC}" srcOrd="0" destOrd="0" presId="urn:microsoft.com/office/officeart/2005/8/layout/hProcess11"/>
    <dgm:cxn modelId="{E43F94F8-7097-4E16-93B5-5E931458BB90}" type="presParOf" srcId="{A541D663-87A9-4847-B6A2-B0AD2D8F93AC}" destId="{82C1D45C-7E3B-4847-B3D4-B9FAD1BE05ED}" srcOrd="0" destOrd="0" presId="urn:microsoft.com/office/officeart/2005/8/layout/hProcess11"/>
    <dgm:cxn modelId="{47816C61-33F4-43AD-8FA5-A93A6264BEAD}" type="presParOf" srcId="{A541D663-87A9-4847-B6A2-B0AD2D8F93AC}" destId="{862C51D9-5C47-48F1-B405-3B22AA4CCDA6}" srcOrd="1" destOrd="0" presId="urn:microsoft.com/office/officeart/2005/8/layout/hProcess11"/>
    <dgm:cxn modelId="{E02245C6-DD61-4FD0-88EF-48F6B63AA450}" type="presParOf" srcId="{A541D663-87A9-4847-B6A2-B0AD2D8F93AC}" destId="{529FC0E3-C694-450E-BDC2-7DE72FD70D90}" srcOrd="2" destOrd="0" presId="urn:microsoft.com/office/officeart/2005/8/layout/hProcess11"/>
    <dgm:cxn modelId="{D4956876-C7DF-4733-B749-842AD116B9DA}" type="presParOf" srcId="{4C298DC1-D4F4-43C1-B45E-A5BF42C55821}" destId="{1FE9F59A-55E4-44BE-B7AC-9EF4D8FA7662}" srcOrd="1" destOrd="0" presId="urn:microsoft.com/office/officeart/2005/8/layout/hProcess11"/>
    <dgm:cxn modelId="{99D69F86-D114-42E4-81DA-29B9FB3D411E}" type="presParOf" srcId="{4C298DC1-D4F4-43C1-B45E-A5BF42C55821}" destId="{08CF230E-DCBB-4C22-9F50-B8A53F75AD7F}" srcOrd="2" destOrd="0" presId="urn:microsoft.com/office/officeart/2005/8/layout/hProcess11"/>
    <dgm:cxn modelId="{DB9EEB53-D889-47AF-A7F6-76D9624A7B46}" type="presParOf" srcId="{08CF230E-DCBB-4C22-9F50-B8A53F75AD7F}" destId="{0EA2A660-1F59-433D-8D6F-75877F943D45}" srcOrd="0" destOrd="0" presId="urn:microsoft.com/office/officeart/2005/8/layout/hProcess11"/>
    <dgm:cxn modelId="{08557B18-408A-4F29-AF14-A1749F919323}" type="presParOf" srcId="{08CF230E-DCBB-4C22-9F50-B8A53F75AD7F}" destId="{3E27716C-D476-493A-B1DE-A80F11AC4158}" srcOrd="1" destOrd="0" presId="urn:microsoft.com/office/officeart/2005/8/layout/hProcess11"/>
    <dgm:cxn modelId="{4BBC3A73-C08E-45EC-8AC3-FACB59034F0C}" type="presParOf" srcId="{08CF230E-DCBB-4C22-9F50-B8A53F75AD7F}" destId="{EC992C7A-1D3D-4EDC-B1D5-8AD3062E1132}" srcOrd="2" destOrd="0" presId="urn:microsoft.com/office/officeart/2005/8/layout/hProcess11"/>
    <dgm:cxn modelId="{7ADA8D21-615D-4FE3-896C-4AFAC1F54BE2}" type="presParOf" srcId="{4C298DC1-D4F4-43C1-B45E-A5BF42C55821}" destId="{6D2AE6CE-623B-4956-BAF3-1A3AF0F8B0E8}" srcOrd="3" destOrd="0" presId="urn:microsoft.com/office/officeart/2005/8/layout/hProcess11"/>
    <dgm:cxn modelId="{68826DE8-F09F-4DA8-940E-0B09F433CE44}" type="presParOf" srcId="{4C298DC1-D4F4-43C1-B45E-A5BF42C55821}" destId="{BB07B370-2AE3-4DB2-A4BB-EA3116EDC65D}" srcOrd="4" destOrd="0" presId="urn:microsoft.com/office/officeart/2005/8/layout/hProcess11"/>
    <dgm:cxn modelId="{0DD4AD91-6318-432E-B819-B45CBA3D33D3}" type="presParOf" srcId="{BB07B370-2AE3-4DB2-A4BB-EA3116EDC65D}" destId="{23D21F48-9793-4FE2-827A-4F2BE92373D3}" srcOrd="0" destOrd="0" presId="urn:microsoft.com/office/officeart/2005/8/layout/hProcess11"/>
    <dgm:cxn modelId="{DB1DB375-2645-4924-8DA6-E79A09AA9F2E}" type="presParOf" srcId="{BB07B370-2AE3-4DB2-A4BB-EA3116EDC65D}" destId="{92D5A46E-E498-4AAA-8E70-925C9D7634DB}" srcOrd="1" destOrd="0" presId="urn:microsoft.com/office/officeart/2005/8/layout/hProcess11"/>
    <dgm:cxn modelId="{3648066A-6900-4BC3-8C3B-EEE12A45853D}" type="presParOf" srcId="{BB07B370-2AE3-4DB2-A4BB-EA3116EDC65D}" destId="{C2C691F2-90D6-44F5-89CF-207BA2CFBF93}" srcOrd="2" destOrd="0" presId="urn:microsoft.com/office/officeart/2005/8/layout/hProcess11"/>
    <dgm:cxn modelId="{C1009483-ADAC-43CF-9DE6-8BC11186E82F}" type="presParOf" srcId="{4C298DC1-D4F4-43C1-B45E-A5BF42C55821}" destId="{E8BFFA79-EC89-48D0-8270-81D284AD90EB}" srcOrd="5" destOrd="0" presId="urn:microsoft.com/office/officeart/2005/8/layout/hProcess11"/>
    <dgm:cxn modelId="{2EEFE708-B2A5-4B83-94F2-25BC13993FC1}" type="presParOf" srcId="{4C298DC1-D4F4-43C1-B45E-A5BF42C55821}" destId="{5BCB7748-471F-4C0B-8803-9DF0A7CDAAEA}" srcOrd="6" destOrd="0" presId="urn:microsoft.com/office/officeart/2005/8/layout/hProcess11"/>
    <dgm:cxn modelId="{8D19462F-C530-407A-BD89-2E82273F300F}" type="presParOf" srcId="{5BCB7748-471F-4C0B-8803-9DF0A7CDAAEA}" destId="{B4EFFD8B-7E52-46B5-9D64-56918AB5214D}" srcOrd="0" destOrd="0" presId="urn:microsoft.com/office/officeart/2005/8/layout/hProcess11"/>
    <dgm:cxn modelId="{64CB13B4-36F0-4971-9DD8-5F5C5126282D}" type="presParOf" srcId="{5BCB7748-471F-4C0B-8803-9DF0A7CDAAEA}" destId="{C3FD9B9F-F911-4413-9156-CDF8222D4C15}" srcOrd="1" destOrd="0" presId="urn:microsoft.com/office/officeart/2005/8/layout/hProcess11"/>
    <dgm:cxn modelId="{9070908C-D1C7-46DD-B52F-0EC320498AFA}" type="presParOf" srcId="{5BCB7748-471F-4C0B-8803-9DF0A7CDAAEA}" destId="{1404E477-67AB-49F6-874A-2F94BA50B9F5}" srcOrd="2" destOrd="0" presId="urn:microsoft.com/office/officeart/2005/8/layout/hProcess11"/>
    <dgm:cxn modelId="{1B4744F1-E625-48E6-A609-6D350D1C0DC9}" type="presParOf" srcId="{4C298DC1-D4F4-43C1-B45E-A5BF42C55821}" destId="{4FB00DEB-8099-4D31-9693-E4FDFB77C4F4}" srcOrd="7" destOrd="0" presId="urn:microsoft.com/office/officeart/2005/8/layout/hProcess11"/>
    <dgm:cxn modelId="{16FAA072-7543-4427-9B99-B76A17C9EC3D}" type="presParOf" srcId="{4C298DC1-D4F4-43C1-B45E-A5BF42C55821}" destId="{8E27E7E7-E337-43D8-891D-71B6EA253B7B}" srcOrd="8" destOrd="0" presId="urn:microsoft.com/office/officeart/2005/8/layout/hProcess11"/>
    <dgm:cxn modelId="{0E341B94-5B88-4372-AF4C-360D266BBC4A}" type="presParOf" srcId="{8E27E7E7-E337-43D8-891D-71B6EA253B7B}" destId="{9DA95A1A-93FC-4488-A56B-675FAC5C93DB}" srcOrd="0" destOrd="0" presId="urn:microsoft.com/office/officeart/2005/8/layout/hProcess11"/>
    <dgm:cxn modelId="{97BCAC58-98EB-45AA-A6B7-3922B936F9C9}" type="presParOf" srcId="{8E27E7E7-E337-43D8-891D-71B6EA253B7B}" destId="{E7B520BC-5B0E-4EC6-A1D9-973AAC415C3B}" srcOrd="1" destOrd="0" presId="urn:microsoft.com/office/officeart/2005/8/layout/hProcess11"/>
    <dgm:cxn modelId="{940FCBFD-38FC-4A6E-95D1-2DE859FAE512}" type="presParOf" srcId="{8E27E7E7-E337-43D8-891D-71B6EA253B7B}" destId="{03708C45-73F0-401B-B9A5-1D51F7E2D267}"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A713D5-D71E-4403-863C-2C153AF5DED2}"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SG"/>
        </a:p>
      </dgm:t>
    </dgm:pt>
    <dgm:pt modelId="{58467058-76BA-476C-992D-B96BCA133A87}">
      <dgm:prSet phldrT="[Text]" phldr="0"/>
      <dgm:spPr/>
      <dgm:t>
        <a:bodyPr/>
        <a:lstStyle/>
        <a:p>
          <a:r>
            <a:rPr lang="en-US"/>
            <a:t>Integrating into a working platform, deciding UI/UX style</a:t>
          </a:r>
          <a:endParaRPr lang="en-SG" dirty="0"/>
        </a:p>
      </dgm:t>
    </dgm:pt>
    <dgm:pt modelId="{F379D006-AE1D-4280-AD4A-A0710C837789}" type="parTrans" cxnId="{42299081-16C4-4E38-8CE6-23FD767520ED}">
      <dgm:prSet/>
      <dgm:spPr/>
      <dgm:t>
        <a:bodyPr/>
        <a:lstStyle/>
        <a:p>
          <a:endParaRPr lang="en-SG"/>
        </a:p>
      </dgm:t>
    </dgm:pt>
    <dgm:pt modelId="{A0F5FA69-A3E5-4933-972E-22830FFD21CA}" type="sibTrans" cxnId="{42299081-16C4-4E38-8CE6-23FD767520ED}">
      <dgm:prSet/>
      <dgm:spPr/>
      <dgm:t>
        <a:bodyPr/>
        <a:lstStyle/>
        <a:p>
          <a:endParaRPr lang="en-SG"/>
        </a:p>
      </dgm:t>
    </dgm:pt>
    <dgm:pt modelId="{85500FBD-55A7-4FB6-93CA-DB8FAFA1877F}">
      <dgm:prSet phldrT="[Text]" phldr="0"/>
      <dgm:spPr/>
      <dgm:t>
        <a:bodyPr/>
        <a:lstStyle/>
        <a:p>
          <a:r>
            <a:rPr lang="en-US"/>
            <a:t>Recommendation engine that records user preferences</a:t>
          </a:r>
          <a:endParaRPr lang="en-SG" dirty="0"/>
        </a:p>
      </dgm:t>
    </dgm:pt>
    <dgm:pt modelId="{20A99087-1D2C-42D5-B2A7-3BAC1D56CE25}" type="parTrans" cxnId="{4CDD9F22-C881-4F25-A8EA-73049F5054A7}">
      <dgm:prSet/>
      <dgm:spPr/>
      <dgm:t>
        <a:bodyPr/>
        <a:lstStyle/>
        <a:p>
          <a:endParaRPr lang="en-SG"/>
        </a:p>
      </dgm:t>
    </dgm:pt>
    <dgm:pt modelId="{6A48C213-D1A9-467F-BE5F-4AF0D809B330}" type="sibTrans" cxnId="{4CDD9F22-C881-4F25-A8EA-73049F5054A7}">
      <dgm:prSet/>
      <dgm:spPr/>
      <dgm:t>
        <a:bodyPr/>
        <a:lstStyle/>
        <a:p>
          <a:endParaRPr lang="en-SG"/>
        </a:p>
      </dgm:t>
    </dgm:pt>
    <dgm:pt modelId="{BA31DC52-C7B0-49F7-90E5-E11409145113}">
      <dgm:prSet phldrT="[Text]" phldr="0"/>
      <dgm:spPr/>
      <dgm:t>
        <a:bodyPr/>
        <a:lstStyle/>
        <a:p>
          <a:r>
            <a:rPr lang="en-US"/>
            <a:t>Gamification of User interactions  with simple interface</a:t>
          </a:r>
          <a:endParaRPr lang="en-SG" dirty="0"/>
        </a:p>
      </dgm:t>
    </dgm:pt>
    <dgm:pt modelId="{1829316B-B0FA-4DFC-B0B1-EABF3C1A8E85}" type="parTrans" cxnId="{7E7913E8-A919-4B80-8EF6-1A5D185E84F6}">
      <dgm:prSet/>
      <dgm:spPr/>
      <dgm:t>
        <a:bodyPr/>
        <a:lstStyle/>
        <a:p>
          <a:endParaRPr lang="en-SG"/>
        </a:p>
      </dgm:t>
    </dgm:pt>
    <dgm:pt modelId="{FF3C7AF2-8922-41B4-AFB6-703E7F1036E4}" type="sibTrans" cxnId="{7E7913E8-A919-4B80-8EF6-1A5D185E84F6}">
      <dgm:prSet/>
      <dgm:spPr/>
      <dgm:t>
        <a:bodyPr/>
        <a:lstStyle/>
        <a:p>
          <a:endParaRPr lang="en-SG"/>
        </a:p>
      </dgm:t>
    </dgm:pt>
    <dgm:pt modelId="{7C582F2F-88DA-4ABA-9616-62C22340F6C7}">
      <dgm:prSet phldrT="[Text]" phldr="0"/>
      <dgm:spPr/>
      <dgm:t>
        <a:bodyPr/>
        <a:lstStyle/>
        <a:p>
          <a:r>
            <a:rPr lang="en-US"/>
            <a:t>Review system for sellers and users to check credibility</a:t>
          </a:r>
          <a:endParaRPr lang="en-SG" dirty="0"/>
        </a:p>
      </dgm:t>
    </dgm:pt>
    <dgm:pt modelId="{2047E9B1-62D5-41B7-ACFD-A95B42637CC1}" type="parTrans" cxnId="{5CEC7169-69EF-4FB7-BCFB-DD9AC4AACF9A}">
      <dgm:prSet/>
      <dgm:spPr/>
      <dgm:t>
        <a:bodyPr/>
        <a:lstStyle/>
        <a:p>
          <a:endParaRPr lang="en-SG"/>
        </a:p>
      </dgm:t>
    </dgm:pt>
    <dgm:pt modelId="{AADDC65C-CCF7-455E-A206-08D01E849865}" type="sibTrans" cxnId="{5CEC7169-69EF-4FB7-BCFB-DD9AC4AACF9A}">
      <dgm:prSet/>
      <dgm:spPr/>
      <dgm:t>
        <a:bodyPr/>
        <a:lstStyle/>
        <a:p>
          <a:endParaRPr lang="en-SG"/>
        </a:p>
      </dgm:t>
    </dgm:pt>
    <dgm:pt modelId="{614A1235-3174-4D83-8048-F8BB2521BFBF}" type="pres">
      <dgm:prSet presAssocID="{CFA713D5-D71E-4403-863C-2C153AF5DED2}" presName="diagram" presStyleCnt="0">
        <dgm:presLayoutVars>
          <dgm:dir/>
          <dgm:resizeHandles val="exact"/>
        </dgm:presLayoutVars>
      </dgm:prSet>
      <dgm:spPr/>
    </dgm:pt>
    <dgm:pt modelId="{49CA615E-B947-478C-8601-058F3B79A385}" type="pres">
      <dgm:prSet presAssocID="{58467058-76BA-476C-992D-B96BCA133A87}" presName="node" presStyleLbl="node1" presStyleIdx="0" presStyleCnt="4">
        <dgm:presLayoutVars>
          <dgm:bulletEnabled val="1"/>
        </dgm:presLayoutVars>
      </dgm:prSet>
      <dgm:spPr/>
    </dgm:pt>
    <dgm:pt modelId="{F4AF7FF2-750D-45ED-B995-D3A73652140A}" type="pres">
      <dgm:prSet presAssocID="{A0F5FA69-A3E5-4933-972E-22830FFD21CA}" presName="sibTrans" presStyleLbl="sibTrans2D1" presStyleIdx="0" presStyleCnt="3"/>
      <dgm:spPr/>
    </dgm:pt>
    <dgm:pt modelId="{B8BCE02C-45BC-4362-8E48-3137395FBADF}" type="pres">
      <dgm:prSet presAssocID="{A0F5FA69-A3E5-4933-972E-22830FFD21CA}" presName="connectorText" presStyleLbl="sibTrans2D1" presStyleIdx="0" presStyleCnt="3"/>
      <dgm:spPr/>
    </dgm:pt>
    <dgm:pt modelId="{94A91CE6-3ED5-4BD3-8B8A-8D60F2425D24}" type="pres">
      <dgm:prSet presAssocID="{85500FBD-55A7-4FB6-93CA-DB8FAFA1877F}" presName="node" presStyleLbl="node1" presStyleIdx="1" presStyleCnt="4">
        <dgm:presLayoutVars>
          <dgm:bulletEnabled val="1"/>
        </dgm:presLayoutVars>
      </dgm:prSet>
      <dgm:spPr/>
    </dgm:pt>
    <dgm:pt modelId="{DF21F456-DAF3-4FC1-8BD4-99BD45902142}" type="pres">
      <dgm:prSet presAssocID="{6A48C213-D1A9-467F-BE5F-4AF0D809B330}" presName="sibTrans" presStyleLbl="sibTrans2D1" presStyleIdx="1" presStyleCnt="3"/>
      <dgm:spPr/>
    </dgm:pt>
    <dgm:pt modelId="{2B8231B7-7917-4EB5-8CCA-9F330426BF9D}" type="pres">
      <dgm:prSet presAssocID="{6A48C213-D1A9-467F-BE5F-4AF0D809B330}" presName="connectorText" presStyleLbl="sibTrans2D1" presStyleIdx="1" presStyleCnt="3"/>
      <dgm:spPr/>
    </dgm:pt>
    <dgm:pt modelId="{230984F2-8CE4-4E61-8A34-E23B1A147BDF}" type="pres">
      <dgm:prSet presAssocID="{BA31DC52-C7B0-49F7-90E5-E11409145113}" presName="node" presStyleLbl="node1" presStyleIdx="2" presStyleCnt="4">
        <dgm:presLayoutVars>
          <dgm:bulletEnabled val="1"/>
        </dgm:presLayoutVars>
      </dgm:prSet>
      <dgm:spPr/>
    </dgm:pt>
    <dgm:pt modelId="{A906A0E4-BA26-4B63-A98A-97D6B65FC3AD}" type="pres">
      <dgm:prSet presAssocID="{FF3C7AF2-8922-41B4-AFB6-703E7F1036E4}" presName="sibTrans" presStyleLbl="sibTrans2D1" presStyleIdx="2" presStyleCnt="3"/>
      <dgm:spPr/>
    </dgm:pt>
    <dgm:pt modelId="{187F64E6-5546-471A-88C8-767C85C000BC}" type="pres">
      <dgm:prSet presAssocID="{FF3C7AF2-8922-41B4-AFB6-703E7F1036E4}" presName="connectorText" presStyleLbl="sibTrans2D1" presStyleIdx="2" presStyleCnt="3"/>
      <dgm:spPr/>
    </dgm:pt>
    <dgm:pt modelId="{AFB6659E-A5E2-483F-9F99-11410E0EFD0A}" type="pres">
      <dgm:prSet presAssocID="{7C582F2F-88DA-4ABA-9616-62C22340F6C7}" presName="node" presStyleLbl="node1" presStyleIdx="3" presStyleCnt="4">
        <dgm:presLayoutVars>
          <dgm:bulletEnabled val="1"/>
        </dgm:presLayoutVars>
      </dgm:prSet>
      <dgm:spPr/>
    </dgm:pt>
  </dgm:ptLst>
  <dgm:cxnLst>
    <dgm:cxn modelId="{4CDD9F22-C881-4F25-A8EA-73049F5054A7}" srcId="{CFA713D5-D71E-4403-863C-2C153AF5DED2}" destId="{85500FBD-55A7-4FB6-93CA-DB8FAFA1877F}" srcOrd="1" destOrd="0" parTransId="{20A99087-1D2C-42D5-B2A7-3BAC1D56CE25}" sibTransId="{6A48C213-D1A9-467F-BE5F-4AF0D809B330}"/>
    <dgm:cxn modelId="{30410A23-94DE-4728-9447-DA765E5076C1}" type="presOf" srcId="{FF3C7AF2-8922-41B4-AFB6-703E7F1036E4}" destId="{187F64E6-5546-471A-88C8-767C85C000BC}" srcOrd="1" destOrd="0" presId="urn:microsoft.com/office/officeart/2005/8/layout/process5"/>
    <dgm:cxn modelId="{ACF1B824-D3CB-4F8C-8BA8-36C3AFA9FD07}" type="presOf" srcId="{58467058-76BA-476C-992D-B96BCA133A87}" destId="{49CA615E-B947-478C-8601-058F3B79A385}" srcOrd="0" destOrd="0" presId="urn:microsoft.com/office/officeart/2005/8/layout/process5"/>
    <dgm:cxn modelId="{DD47C933-17C0-44AD-9F15-3B0FD9EBB8F3}" type="presOf" srcId="{A0F5FA69-A3E5-4933-972E-22830FFD21CA}" destId="{F4AF7FF2-750D-45ED-B995-D3A73652140A}" srcOrd="0" destOrd="0" presId="urn:microsoft.com/office/officeart/2005/8/layout/process5"/>
    <dgm:cxn modelId="{44179063-3DDC-40E2-9C59-75AA07F277DE}" type="presOf" srcId="{7C582F2F-88DA-4ABA-9616-62C22340F6C7}" destId="{AFB6659E-A5E2-483F-9F99-11410E0EFD0A}" srcOrd="0" destOrd="0" presId="urn:microsoft.com/office/officeart/2005/8/layout/process5"/>
    <dgm:cxn modelId="{5CEC7169-69EF-4FB7-BCFB-DD9AC4AACF9A}" srcId="{CFA713D5-D71E-4403-863C-2C153AF5DED2}" destId="{7C582F2F-88DA-4ABA-9616-62C22340F6C7}" srcOrd="3" destOrd="0" parTransId="{2047E9B1-62D5-41B7-ACFD-A95B42637CC1}" sibTransId="{AADDC65C-CCF7-455E-A206-08D01E849865}"/>
    <dgm:cxn modelId="{BF05BD72-D57C-43A0-BE54-05293368EABD}" type="presOf" srcId="{BA31DC52-C7B0-49F7-90E5-E11409145113}" destId="{230984F2-8CE4-4E61-8A34-E23B1A147BDF}" srcOrd="0" destOrd="0" presId="urn:microsoft.com/office/officeart/2005/8/layout/process5"/>
    <dgm:cxn modelId="{42299081-16C4-4E38-8CE6-23FD767520ED}" srcId="{CFA713D5-D71E-4403-863C-2C153AF5DED2}" destId="{58467058-76BA-476C-992D-B96BCA133A87}" srcOrd="0" destOrd="0" parTransId="{F379D006-AE1D-4280-AD4A-A0710C837789}" sibTransId="{A0F5FA69-A3E5-4933-972E-22830FFD21CA}"/>
    <dgm:cxn modelId="{87AEB5B5-BDC5-44D1-8523-3A1A0E3AE4F4}" type="presOf" srcId="{FF3C7AF2-8922-41B4-AFB6-703E7F1036E4}" destId="{A906A0E4-BA26-4B63-A98A-97D6B65FC3AD}" srcOrd="0" destOrd="0" presId="urn:microsoft.com/office/officeart/2005/8/layout/process5"/>
    <dgm:cxn modelId="{DD71B8C6-EC0E-4047-AEF9-46EAA3FD4D46}" type="presOf" srcId="{6A48C213-D1A9-467F-BE5F-4AF0D809B330}" destId="{2B8231B7-7917-4EB5-8CCA-9F330426BF9D}" srcOrd="1" destOrd="0" presId="urn:microsoft.com/office/officeart/2005/8/layout/process5"/>
    <dgm:cxn modelId="{71C8FFD7-C24F-4743-AD7C-C8506D4A5F30}" type="presOf" srcId="{85500FBD-55A7-4FB6-93CA-DB8FAFA1877F}" destId="{94A91CE6-3ED5-4BD3-8B8A-8D60F2425D24}" srcOrd="0" destOrd="0" presId="urn:microsoft.com/office/officeart/2005/8/layout/process5"/>
    <dgm:cxn modelId="{7E7913E8-A919-4B80-8EF6-1A5D185E84F6}" srcId="{CFA713D5-D71E-4403-863C-2C153AF5DED2}" destId="{BA31DC52-C7B0-49F7-90E5-E11409145113}" srcOrd="2" destOrd="0" parTransId="{1829316B-B0FA-4DFC-B0B1-EABF3C1A8E85}" sibTransId="{FF3C7AF2-8922-41B4-AFB6-703E7F1036E4}"/>
    <dgm:cxn modelId="{45D3F9F4-3246-4629-BDEE-6B54F479C879}" type="presOf" srcId="{6A48C213-D1A9-467F-BE5F-4AF0D809B330}" destId="{DF21F456-DAF3-4FC1-8BD4-99BD45902142}" srcOrd="0" destOrd="0" presId="urn:microsoft.com/office/officeart/2005/8/layout/process5"/>
    <dgm:cxn modelId="{2407D5F6-3C88-4F88-AD7C-12F5597C8BCD}" type="presOf" srcId="{A0F5FA69-A3E5-4933-972E-22830FFD21CA}" destId="{B8BCE02C-45BC-4362-8E48-3137395FBADF}" srcOrd="1" destOrd="0" presId="urn:microsoft.com/office/officeart/2005/8/layout/process5"/>
    <dgm:cxn modelId="{BADE54FF-6AEB-4F12-B010-0C7173AD5FC3}" type="presOf" srcId="{CFA713D5-D71E-4403-863C-2C153AF5DED2}" destId="{614A1235-3174-4D83-8048-F8BB2521BFBF}" srcOrd="0" destOrd="0" presId="urn:microsoft.com/office/officeart/2005/8/layout/process5"/>
    <dgm:cxn modelId="{89868106-0AFA-4190-B863-064F602CFBB0}" type="presParOf" srcId="{614A1235-3174-4D83-8048-F8BB2521BFBF}" destId="{49CA615E-B947-478C-8601-058F3B79A385}" srcOrd="0" destOrd="0" presId="urn:microsoft.com/office/officeart/2005/8/layout/process5"/>
    <dgm:cxn modelId="{B948769F-DEBD-4E50-B3F3-368DDCD35F54}" type="presParOf" srcId="{614A1235-3174-4D83-8048-F8BB2521BFBF}" destId="{F4AF7FF2-750D-45ED-B995-D3A73652140A}" srcOrd="1" destOrd="0" presId="urn:microsoft.com/office/officeart/2005/8/layout/process5"/>
    <dgm:cxn modelId="{1FA1D2E1-BEC2-46A3-A8BA-7D51EF40370F}" type="presParOf" srcId="{F4AF7FF2-750D-45ED-B995-D3A73652140A}" destId="{B8BCE02C-45BC-4362-8E48-3137395FBADF}" srcOrd="0" destOrd="0" presId="urn:microsoft.com/office/officeart/2005/8/layout/process5"/>
    <dgm:cxn modelId="{5095AE86-DEC5-4289-B004-E925E2103CDB}" type="presParOf" srcId="{614A1235-3174-4D83-8048-F8BB2521BFBF}" destId="{94A91CE6-3ED5-4BD3-8B8A-8D60F2425D24}" srcOrd="2" destOrd="0" presId="urn:microsoft.com/office/officeart/2005/8/layout/process5"/>
    <dgm:cxn modelId="{1A26C281-E6A9-41E0-B67D-A6B95860A2BE}" type="presParOf" srcId="{614A1235-3174-4D83-8048-F8BB2521BFBF}" destId="{DF21F456-DAF3-4FC1-8BD4-99BD45902142}" srcOrd="3" destOrd="0" presId="urn:microsoft.com/office/officeart/2005/8/layout/process5"/>
    <dgm:cxn modelId="{5BC88F1B-2808-4D11-8204-965178FD43B0}" type="presParOf" srcId="{DF21F456-DAF3-4FC1-8BD4-99BD45902142}" destId="{2B8231B7-7917-4EB5-8CCA-9F330426BF9D}" srcOrd="0" destOrd="0" presId="urn:microsoft.com/office/officeart/2005/8/layout/process5"/>
    <dgm:cxn modelId="{DE6B40BA-9D49-4A33-8433-12B8578561D2}" type="presParOf" srcId="{614A1235-3174-4D83-8048-F8BB2521BFBF}" destId="{230984F2-8CE4-4E61-8A34-E23B1A147BDF}" srcOrd="4" destOrd="0" presId="urn:microsoft.com/office/officeart/2005/8/layout/process5"/>
    <dgm:cxn modelId="{80D02C43-B17A-43C5-8206-2656F699736C}" type="presParOf" srcId="{614A1235-3174-4D83-8048-F8BB2521BFBF}" destId="{A906A0E4-BA26-4B63-A98A-97D6B65FC3AD}" srcOrd="5" destOrd="0" presId="urn:microsoft.com/office/officeart/2005/8/layout/process5"/>
    <dgm:cxn modelId="{1F9CB31A-38C3-42D7-AAB4-AB6ABC811EE9}" type="presParOf" srcId="{A906A0E4-BA26-4B63-A98A-97D6B65FC3AD}" destId="{187F64E6-5546-471A-88C8-767C85C000BC}" srcOrd="0" destOrd="0" presId="urn:microsoft.com/office/officeart/2005/8/layout/process5"/>
    <dgm:cxn modelId="{169805C1-BAEC-4C99-B45A-8C00CA105384}" type="presParOf" srcId="{614A1235-3174-4D83-8048-F8BB2521BFBF}" destId="{AFB6659E-A5E2-483F-9F99-11410E0EFD0A}" srcOrd="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143450-81E3-4409-BAF7-F62406AF8B3B}">
      <dsp:nvSpPr>
        <dsp:cNvPr id="0" name=""/>
        <dsp:cNvSpPr/>
      </dsp:nvSpPr>
      <dsp:spPr>
        <a:xfrm>
          <a:off x="0" y="1301968"/>
          <a:ext cx="10355974" cy="1735958"/>
        </a:xfrm>
        <a:prstGeom prst="notchedRightArrow">
          <a:avLst/>
        </a:prstGeom>
        <a:solidFill>
          <a:schemeClr val="accent2">
            <a:lumMod val="60000"/>
            <a:lumOff val="40000"/>
          </a:schemeClr>
        </a:solidFill>
        <a:ln>
          <a:noFill/>
        </a:ln>
        <a:effectLst/>
      </dsp:spPr>
      <dsp:style>
        <a:lnRef idx="0">
          <a:scrgbClr r="0" g="0" b="0"/>
        </a:lnRef>
        <a:fillRef idx="1">
          <a:scrgbClr r="0" g="0" b="0"/>
        </a:fillRef>
        <a:effectRef idx="0">
          <a:scrgbClr r="0" g="0" b="0"/>
        </a:effectRef>
        <a:fontRef idx="minor"/>
      </dsp:style>
    </dsp:sp>
    <dsp:sp modelId="{82C1D45C-7E3B-4847-B3D4-B9FAD1BE05ED}">
      <dsp:nvSpPr>
        <dsp:cNvPr id="0" name=""/>
        <dsp:cNvSpPr/>
      </dsp:nvSpPr>
      <dsp:spPr>
        <a:xfrm>
          <a:off x="4095" y="0"/>
          <a:ext cx="1790804" cy="1735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Joined </a:t>
          </a:r>
          <a:r>
            <a:rPr lang="en-US" sz="2100" kern="1200" dirty="0" err="1"/>
            <a:t>GreenCheck</a:t>
          </a:r>
          <a:r>
            <a:rPr lang="en-US" sz="2100" kern="1200" dirty="0"/>
            <a:t> AI</a:t>
          </a:r>
          <a:endParaRPr lang="en-SG" sz="2100" kern="1200" dirty="0"/>
        </a:p>
      </dsp:txBody>
      <dsp:txXfrm>
        <a:off x="4095" y="0"/>
        <a:ext cx="1790804" cy="1735958"/>
      </dsp:txXfrm>
    </dsp:sp>
    <dsp:sp modelId="{862C51D9-5C47-48F1-B405-3B22AA4CCDA6}">
      <dsp:nvSpPr>
        <dsp:cNvPr id="0" name=""/>
        <dsp:cNvSpPr/>
      </dsp:nvSpPr>
      <dsp:spPr>
        <a:xfrm>
          <a:off x="682503" y="1952953"/>
          <a:ext cx="433989" cy="433989"/>
        </a:xfrm>
        <a:prstGeom prst="ellipse">
          <a:avLst/>
        </a:prstGeom>
        <a:solidFill>
          <a:srgbClr val="AE4744"/>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A2A660-1F59-433D-8D6F-75877F943D45}">
      <dsp:nvSpPr>
        <dsp:cNvPr id="0" name=""/>
        <dsp:cNvSpPr/>
      </dsp:nvSpPr>
      <dsp:spPr>
        <a:xfrm>
          <a:off x="1884440" y="2603937"/>
          <a:ext cx="1790804" cy="1735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Find out issues and risks</a:t>
          </a:r>
          <a:endParaRPr lang="en-SG" sz="2100" kern="1200" dirty="0"/>
        </a:p>
      </dsp:txBody>
      <dsp:txXfrm>
        <a:off x="1884440" y="2603937"/>
        <a:ext cx="1790804" cy="1735958"/>
      </dsp:txXfrm>
    </dsp:sp>
    <dsp:sp modelId="{3E27716C-D476-493A-B1DE-A80F11AC4158}">
      <dsp:nvSpPr>
        <dsp:cNvPr id="0" name=""/>
        <dsp:cNvSpPr/>
      </dsp:nvSpPr>
      <dsp:spPr>
        <a:xfrm>
          <a:off x="2562848" y="1952953"/>
          <a:ext cx="433989" cy="433989"/>
        </a:xfrm>
        <a:prstGeom prst="ellipse">
          <a:avLst/>
        </a:prstGeom>
        <a:solidFill>
          <a:srgbClr val="AE4744"/>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D21F48-9793-4FE2-827A-4F2BE92373D3}">
      <dsp:nvSpPr>
        <dsp:cNvPr id="0" name=""/>
        <dsp:cNvSpPr/>
      </dsp:nvSpPr>
      <dsp:spPr>
        <a:xfrm>
          <a:off x="3764785" y="0"/>
          <a:ext cx="1790804" cy="1735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Ask for advice and confirmation</a:t>
          </a:r>
          <a:endParaRPr lang="en-SG" sz="2100" kern="1200" dirty="0"/>
        </a:p>
      </dsp:txBody>
      <dsp:txXfrm>
        <a:off x="3764785" y="0"/>
        <a:ext cx="1790804" cy="1735958"/>
      </dsp:txXfrm>
    </dsp:sp>
    <dsp:sp modelId="{92D5A46E-E498-4AAA-8E70-925C9D7634DB}">
      <dsp:nvSpPr>
        <dsp:cNvPr id="0" name=""/>
        <dsp:cNvSpPr/>
      </dsp:nvSpPr>
      <dsp:spPr>
        <a:xfrm>
          <a:off x="4443193" y="1952953"/>
          <a:ext cx="433989" cy="433989"/>
        </a:xfrm>
        <a:prstGeom prst="ellipse">
          <a:avLst/>
        </a:prstGeom>
        <a:solidFill>
          <a:srgbClr val="AE4744"/>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EFFD8B-7E52-46B5-9D64-56918AB5214D}">
      <dsp:nvSpPr>
        <dsp:cNvPr id="0" name=""/>
        <dsp:cNvSpPr/>
      </dsp:nvSpPr>
      <dsp:spPr>
        <a:xfrm>
          <a:off x="5645130" y="2603937"/>
          <a:ext cx="1790804" cy="1735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Deciding and choosing new project</a:t>
          </a:r>
          <a:endParaRPr lang="en-SG" sz="2100" kern="1200" dirty="0"/>
        </a:p>
      </dsp:txBody>
      <dsp:txXfrm>
        <a:off x="5645130" y="2603937"/>
        <a:ext cx="1790804" cy="1735958"/>
      </dsp:txXfrm>
    </dsp:sp>
    <dsp:sp modelId="{C3FD9B9F-F911-4413-9156-CDF8222D4C15}">
      <dsp:nvSpPr>
        <dsp:cNvPr id="0" name=""/>
        <dsp:cNvSpPr/>
      </dsp:nvSpPr>
      <dsp:spPr>
        <a:xfrm>
          <a:off x="6323538" y="1952953"/>
          <a:ext cx="433989" cy="433989"/>
        </a:xfrm>
        <a:prstGeom prst="ellipse">
          <a:avLst/>
        </a:prstGeom>
        <a:solidFill>
          <a:srgbClr val="AE4744"/>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A95A1A-93FC-4488-A56B-675FAC5C93DB}">
      <dsp:nvSpPr>
        <dsp:cNvPr id="0" name=""/>
        <dsp:cNvSpPr/>
      </dsp:nvSpPr>
      <dsp:spPr>
        <a:xfrm>
          <a:off x="7525475" y="0"/>
          <a:ext cx="1790804" cy="1735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Joined Secondhand Marketplace</a:t>
          </a:r>
          <a:endParaRPr lang="en-SG" sz="2100" kern="1200" dirty="0"/>
        </a:p>
      </dsp:txBody>
      <dsp:txXfrm>
        <a:off x="7525475" y="0"/>
        <a:ext cx="1790804" cy="1735958"/>
      </dsp:txXfrm>
    </dsp:sp>
    <dsp:sp modelId="{E7B520BC-5B0E-4EC6-A1D9-973AAC415C3B}">
      <dsp:nvSpPr>
        <dsp:cNvPr id="0" name=""/>
        <dsp:cNvSpPr/>
      </dsp:nvSpPr>
      <dsp:spPr>
        <a:xfrm>
          <a:off x="8203883" y="1952953"/>
          <a:ext cx="433989" cy="433989"/>
        </a:xfrm>
        <a:prstGeom prst="ellipse">
          <a:avLst/>
        </a:prstGeom>
        <a:solidFill>
          <a:srgbClr val="AE4744"/>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CA615E-B947-478C-8601-058F3B79A385}">
      <dsp:nvSpPr>
        <dsp:cNvPr id="0" name=""/>
        <dsp:cNvSpPr/>
      </dsp:nvSpPr>
      <dsp:spPr>
        <a:xfrm>
          <a:off x="1202" y="793928"/>
          <a:ext cx="2565381" cy="153922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Integrating into a working platform, deciding UI/UX style</a:t>
          </a:r>
          <a:endParaRPr lang="en-SG" sz="2200" kern="1200" dirty="0"/>
        </a:p>
      </dsp:txBody>
      <dsp:txXfrm>
        <a:off x="46284" y="839010"/>
        <a:ext cx="2475217" cy="1449065"/>
      </dsp:txXfrm>
    </dsp:sp>
    <dsp:sp modelId="{F4AF7FF2-750D-45ED-B995-D3A73652140A}">
      <dsp:nvSpPr>
        <dsp:cNvPr id="0" name=""/>
        <dsp:cNvSpPr/>
      </dsp:nvSpPr>
      <dsp:spPr>
        <a:xfrm>
          <a:off x="2792338" y="1245435"/>
          <a:ext cx="543860" cy="6362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SG" sz="1700" kern="1200"/>
        </a:p>
      </dsp:txBody>
      <dsp:txXfrm>
        <a:off x="2792338" y="1372678"/>
        <a:ext cx="380702" cy="381728"/>
      </dsp:txXfrm>
    </dsp:sp>
    <dsp:sp modelId="{94A91CE6-3ED5-4BD3-8B8A-8D60F2425D24}">
      <dsp:nvSpPr>
        <dsp:cNvPr id="0" name=""/>
        <dsp:cNvSpPr/>
      </dsp:nvSpPr>
      <dsp:spPr>
        <a:xfrm>
          <a:off x="3592737" y="793928"/>
          <a:ext cx="2565381" cy="153922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Recommendation engine that records user preferences</a:t>
          </a:r>
          <a:endParaRPr lang="en-SG" sz="2200" kern="1200" dirty="0"/>
        </a:p>
      </dsp:txBody>
      <dsp:txXfrm>
        <a:off x="3637819" y="839010"/>
        <a:ext cx="2475217" cy="1449065"/>
      </dsp:txXfrm>
    </dsp:sp>
    <dsp:sp modelId="{DF21F456-DAF3-4FC1-8BD4-99BD45902142}">
      <dsp:nvSpPr>
        <dsp:cNvPr id="0" name=""/>
        <dsp:cNvSpPr/>
      </dsp:nvSpPr>
      <dsp:spPr>
        <a:xfrm rot="5400000">
          <a:off x="4603497" y="2512734"/>
          <a:ext cx="543860" cy="6362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SG" sz="1700" kern="1200"/>
        </a:p>
      </dsp:txBody>
      <dsp:txXfrm rot="-5400000">
        <a:off x="4684563" y="2558911"/>
        <a:ext cx="381728" cy="380702"/>
      </dsp:txXfrm>
    </dsp:sp>
    <dsp:sp modelId="{230984F2-8CE4-4E61-8A34-E23B1A147BDF}">
      <dsp:nvSpPr>
        <dsp:cNvPr id="0" name=""/>
        <dsp:cNvSpPr/>
      </dsp:nvSpPr>
      <dsp:spPr>
        <a:xfrm>
          <a:off x="3592737" y="3359310"/>
          <a:ext cx="2565381" cy="153922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Gamification of User interactions  with simple interface</a:t>
          </a:r>
          <a:endParaRPr lang="en-SG" sz="2200" kern="1200" dirty="0"/>
        </a:p>
      </dsp:txBody>
      <dsp:txXfrm>
        <a:off x="3637819" y="3404392"/>
        <a:ext cx="2475217" cy="1449065"/>
      </dsp:txXfrm>
    </dsp:sp>
    <dsp:sp modelId="{A906A0E4-BA26-4B63-A98A-97D6B65FC3AD}">
      <dsp:nvSpPr>
        <dsp:cNvPr id="0" name=""/>
        <dsp:cNvSpPr/>
      </dsp:nvSpPr>
      <dsp:spPr>
        <a:xfrm rot="10800000">
          <a:off x="2823122" y="3810817"/>
          <a:ext cx="543860" cy="6362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SG" sz="1700" kern="1200"/>
        </a:p>
      </dsp:txBody>
      <dsp:txXfrm rot="10800000">
        <a:off x="2986280" y="3938060"/>
        <a:ext cx="380702" cy="381728"/>
      </dsp:txXfrm>
    </dsp:sp>
    <dsp:sp modelId="{AFB6659E-A5E2-483F-9F99-11410E0EFD0A}">
      <dsp:nvSpPr>
        <dsp:cNvPr id="0" name=""/>
        <dsp:cNvSpPr/>
      </dsp:nvSpPr>
      <dsp:spPr>
        <a:xfrm>
          <a:off x="1202" y="3359310"/>
          <a:ext cx="2565381" cy="153922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Review system for sellers and users to check credibility</a:t>
          </a:r>
          <a:endParaRPr lang="en-SG" sz="2200" kern="1200" dirty="0"/>
        </a:p>
      </dsp:txBody>
      <dsp:txXfrm>
        <a:off x="46284" y="3404392"/>
        <a:ext cx="2475217" cy="144906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C72DC1-559B-4D3B-A8B6-7B843107844B}" type="datetimeFigureOut">
              <a:rPr lang="en-SG" smtClean="0"/>
              <a:t>25/11/2025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4D71D3-5B7F-4ED4-8001-280DCDDBBCE9}" type="slidenum">
              <a:rPr lang="en-SG" smtClean="0"/>
              <a:t>‹#›</a:t>
            </a:fld>
            <a:endParaRPr lang="en-SG"/>
          </a:p>
        </p:txBody>
      </p:sp>
    </p:spTree>
    <p:extLst>
      <p:ext uri="{BB962C8B-B14F-4D97-AF65-F5344CB8AC3E}">
        <p14:creationId xmlns:p14="http://schemas.microsoft.com/office/powerpoint/2010/main" val="2043104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124D71D3-5B7F-4ED4-8001-280DCDDBBCE9}" type="slidenum">
              <a:rPr lang="en-SG" smtClean="0"/>
              <a:t>2</a:t>
            </a:fld>
            <a:endParaRPr lang="en-SG"/>
          </a:p>
        </p:txBody>
      </p:sp>
    </p:spTree>
    <p:extLst>
      <p:ext uri="{BB962C8B-B14F-4D97-AF65-F5344CB8AC3E}">
        <p14:creationId xmlns:p14="http://schemas.microsoft.com/office/powerpoint/2010/main" val="3800635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8987E7-92FD-4CFE-888A-EA92D0912E48}" type="datetimeFigureOut">
              <a:rPr lang="en-SG" smtClean="0"/>
              <a:t>25/11/2025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59410DC-53E5-4749-9401-0074E9805ADE}" type="slidenum">
              <a:rPr lang="en-SG" smtClean="0"/>
              <a:t>‹#›</a:t>
            </a:fld>
            <a:endParaRPr lang="en-SG"/>
          </a:p>
        </p:txBody>
      </p:sp>
    </p:spTree>
    <p:extLst>
      <p:ext uri="{BB962C8B-B14F-4D97-AF65-F5344CB8AC3E}">
        <p14:creationId xmlns:p14="http://schemas.microsoft.com/office/powerpoint/2010/main" val="2253573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8987E7-92FD-4CFE-888A-EA92D0912E48}" type="datetimeFigureOut">
              <a:rPr lang="en-SG" smtClean="0"/>
              <a:t>25/11/2025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59410DC-53E5-4749-9401-0074E9805ADE}" type="slidenum">
              <a:rPr lang="en-SG" smtClean="0"/>
              <a:t>‹#›</a:t>
            </a:fld>
            <a:endParaRPr lang="en-SG"/>
          </a:p>
        </p:txBody>
      </p:sp>
    </p:spTree>
    <p:extLst>
      <p:ext uri="{BB962C8B-B14F-4D97-AF65-F5344CB8AC3E}">
        <p14:creationId xmlns:p14="http://schemas.microsoft.com/office/powerpoint/2010/main" val="759553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8987E7-92FD-4CFE-888A-EA92D0912E48}" type="datetimeFigureOut">
              <a:rPr lang="en-SG" smtClean="0"/>
              <a:t>25/11/2025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59410DC-53E5-4749-9401-0074E9805ADE}" type="slidenum">
              <a:rPr lang="en-SG" smtClean="0"/>
              <a:t>‹#›</a:t>
            </a:fld>
            <a:endParaRPr lang="en-SG"/>
          </a:p>
        </p:txBody>
      </p:sp>
    </p:spTree>
    <p:extLst>
      <p:ext uri="{BB962C8B-B14F-4D97-AF65-F5344CB8AC3E}">
        <p14:creationId xmlns:p14="http://schemas.microsoft.com/office/powerpoint/2010/main" val="3941275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8987E7-92FD-4CFE-888A-EA92D0912E48}" type="datetimeFigureOut">
              <a:rPr lang="en-SG" smtClean="0"/>
              <a:t>25/11/2025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D59410DC-53E5-4749-9401-0074E9805ADE}" type="slidenum">
              <a:rPr lang="en-SG" smtClean="0"/>
              <a:t>‹#›</a:t>
            </a:fld>
            <a:endParaRPr lang="en-SG"/>
          </a:p>
        </p:txBody>
      </p:sp>
    </p:spTree>
    <p:extLst>
      <p:ext uri="{BB962C8B-B14F-4D97-AF65-F5344CB8AC3E}">
        <p14:creationId xmlns:p14="http://schemas.microsoft.com/office/powerpoint/2010/main" val="736443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8987E7-92FD-4CFE-888A-EA92D0912E48}" type="datetimeFigureOut">
              <a:rPr lang="en-SG" smtClean="0"/>
              <a:t>25/11/2025</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D59410DC-53E5-4749-9401-0074E9805ADE}" type="slidenum">
              <a:rPr lang="en-SG" smtClean="0"/>
              <a:t>‹#›</a:t>
            </a:fld>
            <a:endParaRPr lang="en-SG"/>
          </a:p>
        </p:txBody>
      </p:sp>
    </p:spTree>
    <p:extLst>
      <p:ext uri="{BB962C8B-B14F-4D97-AF65-F5344CB8AC3E}">
        <p14:creationId xmlns:p14="http://schemas.microsoft.com/office/powerpoint/2010/main" val="787742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8987E7-92FD-4CFE-888A-EA92D0912E48}" type="datetimeFigureOut">
              <a:rPr lang="en-SG" smtClean="0"/>
              <a:t>25/11/2025</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D59410DC-53E5-4749-9401-0074E9805ADE}" type="slidenum">
              <a:rPr lang="en-SG" smtClean="0"/>
              <a:t>‹#›</a:t>
            </a:fld>
            <a:endParaRPr lang="en-SG"/>
          </a:p>
        </p:txBody>
      </p:sp>
    </p:spTree>
    <p:extLst>
      <p:ext uri="{BB962C8B-B14F-4D97-AF65-F5344CB8AC3E}">
        <p14:creationId xmlns:p14="http://schemas.microsoft.com/office/powerpoint/2010/main" val="2033749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8987E7-92FD-4CFE-888A-EA92D0912E48}" type="datetimeFigureOut">
              <a:rPr lang="en-SG" smtClean="0"/>
              <a:t>25/11/2025</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D59410DC-53E5-4749-9401-0074E9805ADE}" type="slidenum">
              <a:rPr lang="en-SG" smtClean="0"/>
              <a:t>‹#›</a:t>
            </a:fld>
            <a:endParaRPr lang="en-SG"/>
          </a:p>
        </p:txBody>
      </p:sp>
    </p:spTree>
    <p:extLst>
      <p:ext uri="{BB962C8B-B14F-4D97-AF65-F5344CB8AC3E}">
        <p14:creationId xmlns:p14="http://schemas.microsoft.com/office/powerpoint/2010/main" val="4230808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8987E7-92FD-4CFE-888A-EA92D0912E48}" type="datetimeFigureOut">
              <a:rPr lang="en-SG" smtClean="0"/>
              <a:t>25/11/2025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D59410DC-53E5-4749-9401-0074E9805ADE}" type="slidenum">
              <a:rPr lang="en-SG" smtClean="0"/>
              <a:t>‹#›</a:t>
            </a:fld>
            <a:endParaRPr lang="en-SG"/>
          </a:p>
        </p:txBody>
      </p:sp>
    </p:spTree>
    <p:extLst>
      <p:ext uri="{BB962C8B-B14F-4D97-AF65-F5344CB8AC3E}">
        <p14:creationId xmlns:p14="http://schemas.microsoft.com/office/powerpoint/2010/main" val="2383607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8987E7-92FD-4CFE-888A-EA92D0912E48}" type="datetimeFigureOut">
              <a:rPr lang="en-SG" smtClean="0"/>
              <a:t>25/11/2025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D59410DC-53E5-4749-9401-0074E9805ADE}" type="slidenum">
              <a:rPr lang="en-SG" smtClean="0"/>
              <a:t>‹#›</a:t>
            </a:fld>
            <a:endParaRPr lang="en-SG"/>
          </a:p>
        </p:txBody>
      </p:sp>
    </p:spTree>
    <p:extLst>
      <p:ext uri="{BB962C8B-B14F-4D97-AF65-F5344CB8AC3E}">
        <p14:creationId xmlns:p14="http://schemas.microsoft.com/office/powerpoint/2010/main" val="1627903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8987E7-92FD-4CFE-888A-EA92D0912E48}" type="datetimeFigureOut">
              <a:rPr lang="en-SG" smtClean="0"/>
              <a:t>25/11/2025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59410DC-53E5-4749-9401-0074E9805ADE}" type="slidenum">
              <a:rPr lang="en-SG" smtClean="0"/>
              <a:t>‹#›</a:t>
            </a:fld>
            <a:endParaRPr lang="en-SG"/>
          </a:p>
        </p:txBody>
      </p:sp>
    </p:spTree>
    <p:extLst>
      <p:ext uri="{BB962C8B-B14F-4D97-AF65-F5344CB8AC3E}">
        <p14:creationId xmlns:p14="http://schemas.microsoft.com/office/powerpoint/2010/main" val="3393043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8987E7-92FD-4CFE-888A-EA92D0912E48}" type="datetimeFigureOut">
              <a:rPr lang="en-SG" smtClean="0"/>
              <a:t>25/11/2025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59410DC-53E5-4749-9401-0074E9805ADE}" type="slidenum">
              <a:rPr lang="en-SG" smtClean="0"/>
              <a:t>‹#›</a:t>
            </a:fld>
            <a:endParaRPr lang="en-SG"/>
          </a:p>
        </p:txBody>
      </p:sp>
    </p:spTree>
    <p:extLst>
      <p:ext uri="{BB962C8B-B14F-4D97-AF65-F5344CB8AC3E}">
        <p14:creationId xmlns:p14="http://schemas.microsoft.com/office/powerpoint/2010/main" val="3676887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8987E7-92FD-4CFE-888A-EA92D0912E48}" type="datetimeFigureOut">
              <a:rPr lang="en-SG" smtClean="0"/>
              <a:t>25/11/2025</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9410DC-53E5-4749-9401-0074E9805ADE}" type="slidenum">
              <a:rPr lang="en-SG" smtClean="0"/>
              <a:t>‹#›</a:t>
            </a:fld>
            <a:endParaRPr lang="en-SG"/>
          </a:p>
        </p:txBody>
      </p:sp>
    </p:spTree>
    <p:extLst>
      <p:ext uri="{BB962C8B-B14F-4D97-AF65-F5344CB8AC3E}">
        <p14:creationId xmlns:p14="http://schemas.microsoft.com/office/powerpoint/2010/main" val="1357872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89ED1AA-8684-4D37-B208-8777E1A77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Graphic 33">
            <a:extLst>
              <a:ext uri="{FF2B5EF4-FFF2-40B4-BE49-F238E27FC236}">
                <a16:creationId xmlns:a16="http://schemas.microsoft.com/office/drawing/2014/main" id="{4180E01B-B1F4-437C-807D-1C930718E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0784"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2"/>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C697A4D4-2ABC-811B-2EF1-3AC7474CD127}"/>
              </a:ext>
            </a:extLst>
          </p:cNvPr>
          <p:cNvSpPr>
            <a:spLocks noGrp="1"/>
          </p:cNvSpPr>
          <p:nvPr>
            <p:ph type="ctrTitle"/>
          </p:nvPr>
        </p:nvSpPr>
        <p:spPr>
          <a:xfrm>
            <a:off x="2558716" y="955309"/>
            <a:ext cx="7074568" cy="2898975"/>
          </a:xfrm>
        </p:spPr>
        <p:txBody>
          <a:bodyPr>
            <a:normAutofit fontScale="90000"/>
          </a:bodyPr>
          <a:lstStyle/>
          <a:p>
            <a:r>
              <a:rPr lang="en-US" sz="6600" dirty="0">
                <a:solidFill>
                  <a:srgbClr val="FFFFFF"/>
                </a:solidFill>
              </a:rPr>
              <a:t>Secondhand Marketplace2 </a:t>
            </a:r>
            <a:br>
              <a:rPr lang="en-US" sz="6600" dirty="0">
                <a:solidFill>
                  <a:srgbClr val="FFFFFF"/>
                </a:solidFill>
              </a:rPr>
            </a:br>
            <a:r>
              <a:rPr lang="en-US" sz="6600" dirty="0">
                <a:solidFill>
                  <a:srgbClr val="FFFFFF"/>
                </a:solidFill>
              </a:rPr>
              <a:t>MVP</a:t>
            </a:r>
            <a:br>
              <a:rPr lang="en-US" sz="6600" dirty="0">
                <a:solidFill>
                  <a:srgbClr val="FFFFFF"/>
                </a:solidFill>
              </a:rPr>
            </a:br>
            <a:r>
              <a:rPr lang="en-US" sz="3200" dirty="0">
                <a:solidFill>
                  <a:srgbClr val="FFFFFF"/>
                </a:solidFill>
              </a:rPr>
              <a:t>Pre-</a:t>
            </a:r>
            <a:r>
              <a:rPr lang="en-US" sz="3200" dirty="0" err="1">
                <a:solidFill>
                  <a:srgbClr val="FFFFFF"/>
                </a:solidFill>
              </a:rPr>
              <a:t>GreenCheck</a:t>
            </a:r>
            <a:r>
              <a:rPr lang="en-US" sz="3200" dirty="0">
                <a:solidFill>
                  <a:srgbClr val="FFFFFF"/>
                </a:solidFill>
              </a:rPr>
              <a:t> AI</a:t>
            </a:r>
            <a:endParaRPr lang="en-SG" sz="3200" dirty="0">
              <a:solidFill>
                <a:srgbClr val="FFFFFF"/>
              </a:solidFill>
            </a:endParaRPr>
          </a:p>
        </p:txBody>
      </p:sp>
      <p:sp>
        <p:nvSpPr>
          <p:cNvPr id="3" name="Subtitle 2">
            <a:extLst>
              <a:ext uri="{FF2B5EF4-FFF2-40B4-BE49-F238E27FC236}">
                <a16:creationId xmlns:a16="http://schemas.microsoft.com/office/drawing/2014/main" id="{21ED6E82-C11F-AFAD-9CCB-0D0D9D3E1B08}"/>
              </a:ext>
            </a:extLst>
          </p:cNvPr>
          <p:cNvSpPr>
            <a:spLocks noGrp="1"/>
          </p:cNvSpPr>
          <p:nvPr>
            <p:ph type="subTitle" idx="1"/>
          </p:nvPr>
        </p:nvSpPr>
        <p:spPr>
          <a:xfrm>
            <a:off x="2634916" y="4533813"/>
            <a:ext cx="6930189" cy="938463"/>
          </a:xfrm>
        </p:spPr>
        <p:txBody>
          <a:bodyPr>
            <a:noAutofit/>
          </a:bodyPr>
          <a:lstStyle/>
          <a:p>
            <a:r>
              <a:rPr lang="en-US" dirty="0">
                <a:solidFill>
                  <a:srgbClr val="FFFFFF"/>
                </a:solidFill>
              </a:rPr>
              <a:t>Alex Hetherington</a:t>
            </a:r>
          </a:p>
          <a:p>
            <a:r>
              <a:rPr lang="en-US" dirty="0">
                <a:solidFill>
                  <a:srgbClr val="FFFFFF"/>
                </a:solidFill>
              </a:rPr>
              <a:t>Euan Chan </a:t>
            </a:r>
            <a:r>
              <a:rPr lang="en-US" dirty="0" err="1">
                <a:solidFill>
                  <a:srgbClr val="FFFFFF"/>
                </a:solidFill>
              </a:rPr>
              <a:t>XuanXi</a:t>
            </a:r>
            <a:endParaRPr lang="en-US" dirty="0">
              <a:solidFill>
                <a:srgbClr val="FFFFFF"/>
              </a:solidFill>
            </a:endParaRPr>
          </a:p>
          <a:p>
            <a:r>
              <a:rPr lang="en-US" dirty="0">
                <a:solidFill>
                  <a:srgbClr val="FFFFFF"/>
                </a:solidFill>
              </a:rPr>
              <a:t>Freddie de Bruyn</a:t>
            </a:r>
            <a:endParaRPr lang="en-SG" dirty="0">
              <a:solidFill>
                <a:srgbClr val="FFFFFF"/>
              </a:solidFill>
            </a:endParaRPr>
          </a:p>
        </p:txBody>
      </p:sp>
      <p:sp>
        <p:nvSpPr>
          <p:cNvPr id="19" name="sketch line">
            <a:extLst>
              <a:ext uri="{FF2B5EF4-FFF2-40B4-BE49-F238E27FC236}">
                <a16:creationId xmlns:a16="http://schemas.microsoft.com/office/drawing/2014/main" id="{41F77738-2AF0-4750-A0C7-F97C2C175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0821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C5AA06D9-5762-A74C-5EDC-9907ABFBFA51}"/>
              </a:ext>
            </a:extLst>
          </p:cNvPr>
          <p:cNvSpPr>
            <a:spLocks noGrp="1"/>
          </p:cNvSpPr>
          <p:nvPr>
            <p:ph type="title"/>
          </p:nvPr>
        </p:nvSpPr>
        <p:spPr>
          <a:xfrm>
            <a:off x="838200" y="401221"/>
            <a:ext cx="10515600" cy="1348065"/>
          </a:xfrm>
        </p:spPr>
        <p:txBody>
          <a:bodyPr>
            <a:normAutofit/>
          </a:bodyPr>
          <a:lstStyle/>
          <a:p>
            <a:r>
              <a:rPr lang="en-US" dirty="0">
                <a:solidFill>
                  <a:srgbClr val="FFFFFF"/>
                </a:solidFill>
              </a:rPr>
              <a:t>Journey from previous project to now</a:t>
            </a:r>
            <a:endParaRPr lang="en-SG" dirty="0">
              <a:solidFill>
                <a:srgbClr val="FFFFFF"/>
              </a:solidFill>
            </a:endParaRPr>
          </a:p>
        </p:txBody>
      </p:sp>
      <p:graphicFrame>
        <p:nvGraphicFramePr>
          <p:cNvPr id="5" name="Content Placeholder 4">
            <a:extLst>
              <a:ext uri="{FF2B5EF4-FFF2-40B4-BE49-F238E27FC236}">
                <a16:creationId xmlns:a16="http://schemas.microsoft.com/office/drawing/2014/main" id="{9950E3C8-DEC0-B248-C2DD-811F469031E6}"/>
              </a:ext>
            </a:extLst>
          </p:cNvPr>
          <p:cNvGraphicFramePr>
            <a:graphicFrameLocks noGrp="1"/>
          </p:cNvGraphicFramePr>
          <p:nvPr>
            <p:ph idx="1"/>
            <p:extLst>
              <p:ext uri="{D42A27DB-BD31-4B8C-83A1-F6EECF244321}">
                <p14:modId xmlns:p14="http://schemas.microsoft.com/office/powerpoint/2010/main" val="2284111843"/>
              </p:ext>
            </p:extLst>
          </p:nvPr>
        </p:nvGraphicFramePr>
        <p:xfrm>
          <a:off x="916489" y="2150507"/>
          <a:ext cx="10355974" cy="43398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64924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D8B9D9-8A71-A2EB-B6C8-B5ED5BB6D8A6}"/>
              </a:ext>
            </a:extLst>
          </p:cNvPr>
          <p:cNvSpPr>
            <a:spLocks noGrp="1"/>
          </p:cNvSpPr>
          <p:nvPr>
            <p:ph type="title"/>
          </p:nvPr>
        </p:nvSpPr>
        <p:spPr>
          <a:xfrm>
            <a:off x="838200" y="365125"/>
            <a:ext cx="10515600" cy="1325563"/>
          </a:xfrm>
        </p:spPr>
        <p:txBody>
          <a:bodyPr>
            <a:normAutofit/>
          </a:bodyPr>
          <a:lstStyle/>
          <a:p>
            <a:r>
              <a:rPr lang="en-US" sz="5400" dirty="0"/>
              <a:t>Previous Project: </a:t>
            </a:r>
            <a:r>
              <a:rPr lang="en-US" sz="5400" dirty="0" err="1"/>
              <a:t>GreenCheck</a:t>
            </a:r>
            <a:r>
              <a:rPr lang="en-US" sz="5400" dirty="0"/>
              <a:t> AI</a:t>
            </a:r>
            <a:endParaRPr lang="en-SG" sz="5400" dirty="0"/>
          </a:p>
        </p:txBody>
      </p:sp>
      <p:sp>
        <p:nvSpPr>
          <p:cNvPr id="1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AF6E6E6-ECDD-24A2-7D66-3B93C638C0CB}"/>
              </a:ext>
            </a:extLst>
          </p:cNvPr>
          <p:cNvSpPr>
            <a:spLocks noGrp="1"/>
          </p:cNvSpPr>
          <p:nvPr>
            <p:ph idx="1"/>
          </p:nvPr>
        </p:nvSpPr>
        <p:spPr>
          <a:xfrm>
            <a:off x="838200" y="1831061"/>
            <a:ext cx="10515600" cy="4643526"/>
          </a:xfrm>
        </p:spPr>
        <p:txBody>
          <a:bodyPr>
            <a:normAutofit/>
          </a:bodyPr>
          <a:lstStyle/>
          <a:p>
            <a:pPr>
              <a:lnSpc>
                <a:spcPct val="100000"/>
              </a:lnSpc>
            </a:pPr>
            <a:r>
              <a:rPr lang="en-US" sz="2400" b="1" u="sng" dirty="0" err="1"/>
              <a:t>GreenCheck</a:t>
            </a:r>
            <a:r>
              <a:rPr lang="en-US" sz="2400" b="1" u="sng" dirty="0"/>
              <a:t> AI </a:t>
            </a:r>
            <a:r>
              <a:rPr lang="en-US" sz="2400" dirty="0"/>
              <a:t>is a project that utilize Explainable AI (XAI) for sustainability fraud (greenwashing) detection, providing clear, plain-language explanations for every flagged sustainability claim, in English, German and Spanish. </a:t>
            </a:r>
          </a:p>
          <a:p>
            <a:pPr>
              <a:lnSpc>
                <a:spcPct val="100000"/>
              </a:lnSpc>
            </a:pPr>
            <a:r>
              <a:rPr lang="en-US" sz="2400" b="1" u="sng" dirty="0"/>
              <a:t>Client: </a:t>
            </a:r>
            <a:r>
              <a:rPr lang="en-US" sz="2400" dirty="0"/>
              <a:t>Legal Pythia - legal tech startup aims to help legal, finance and government bodies to manage large volumes of documents and data more efficiently using XAI for identifying fraud, detecting greenwashing and managing administrative/legal workflows.</a:t>
            </a:r>
          </a:p>
          <a:p>
            <a:pPr>
              <a:lnSpc>
                <a:spcPct val="100000"/>
              </a:lnSpc>
            </a:pPr>
            <a:r>
              <a:rPr lang="en-US" sz="2400" dirty="0"/>
              <a:t>Meeting with client (CEO of Legal Pythia): </a:t>
            </a:r>
          </a:p>
          <a:p>
            <a:pPr lvl="1">
              <a:lnSpc>
                <a:spcPct val="100000"/>
              </a:lnSpc>
            </a:pPr>
            <a:r>
              <a:rPr lang="en-US" sz="2000" dirty="0"/>
              <a:t>Having international users, language will be handled on their side </a:t>
            </a:r>
          </a:p>
          <a:p>
            <a:pPr lvl="1">
              <a:lnSpc>
                <a:spcPct val="100000"/>
              </a:lnSpc>
            </a:pPr>
            <a:r>
              <a:rPr lang="en-US" sz="2000" dirty="0"/>
              <a:t>Wants us to build on their existing codebase, open to any extensions we want to do </a:t>
            </a:r>
          </a:p>
          <a:p>
            <a:pPr lvl="1">
              <a:lnSpc>
                <a:spcPct val="100000"/>
              </a:lnSpc>
            </a:pPr>
            <a:r>
              <a:rPr lang="en-US" sz="2000" dirty="0"/>
              <a:t>Is non-technical, need to contact CTO for explanation for existing code</a:t>
            </a:r>
          </a:p>
        </p:txBody>
      </p:sp>
    </p:spTree>
    <p:extLst>
      <p:ext uri="{BB962C8B-B14F-4D97-AF65-F5344CB8AC3E}">
        <p14:creationId xmlns:p14="http://schemas.microsoft.com/office/powerpoint/2010/main" val="1520537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D46C4B-A75E-1149-3771-279C30EB589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D82E474-7E5C-5CA8-1B66-B5F9AE533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A9CAE9B-7F6C-C329-0F0C-112EEBE237CD}"/>
              </a:ext>
            </a:extLst>
          </p:cNvPr>
          <p:cNvSpPr>
            <a:spLocks noGrp="1"/>
          </p:cNvSpPr>
          <p:nvPr>
            <p:ph type="title"/>
          </p:nvPr>
        </p:nvSpPr>
        <p:spPr>
          <a:xfrm>
            <a:off x="838200" y="365125"/>
            <a:ext cx="10515600" cy="1325563"/>
          </a:xfrm>
        </p:spPr>
        <p:txBody>
          <a:bodyPr>
            <a:normAutofit/>
          </a:bodyPr>
          <a:lstStyle/>
          <a:p>
            <a:r>
              <a:rPr lang="en-US" sz="5400" dirty="0"/>
              <a:t>Previous Project: Finding out issues </a:t>
            </a:r>
            <a:endParaRPr lang="en-SG" sz="5400" dirty="0"/>
          </a:p>
        </p:txBody>
      </p:sp>
      <p:sp>
        <p:nvSpPr>
          <p:cNvPr id="16" name="sketch line">
            <a:extLst>
              <a:ext uri="{FF2B5EF4-FFF2-40B4-BE49-F238E27FC236}">
                <a16:creationId xmlns:a16="http://schemas.microsoft.com/office/drawing/2014/main" id="{BAB78C28-AAF0-F72B-2B1F-C42D8AD97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C57E47F3-9F8F-8504-537C-A3891A1D3388}"/>
              </a:ext>
            </a:extLst>
          </p:cNvPr>
          <p:cNvSpPr>
            <a:spLocks noGrp="1"/>
          </p:cNvSpPr>
          <p:nvPr>
            <p:ph idx="1"/>
          </p:nvPr>
        </p:nvSpPr>
        <p:spPr>
          <a:xfrm>
            <a:off x="838200" y="1929384"/>
            <a:ext cx="10515600" cy="2248207"/>
          </a:xfrm>
        </p:spPr>
        <p:txBody>
          <a:bodyPr>
            <a:normAutofit/>
          </a:bodyPr>
          <a:lstStyle/>
          <a:p>
            <a:r>
              <a:rPr lang="en-US" sz="2600" dirty="0"/>
              <a:t>Meeting with CTO: </a:t>
            </a:r>
            <a:endParaRPr lang="en-US" sz="2000" dirty="0"/>
          </a:p>
          <a:p>
            <a:pPr lvl="1"/>
            <a:r>
              <a:rPr lang="en-US" sz="2000" dirty="0"/>
              <a:t>Backend = prompt engineering, wrapper around Gemini</a:t>
            </a:r>
          </a:p>
          <a:p>
            <a:pPr lvl="1"/>
            <a:r>
              <a:rPr lang="en-US" sz="2000" dirty="0"/>
              <a:t>Fully ai generated frontend and over 50% backend code  </a:t>
            </a:r>
          </a:p>
          <a:p>
            <a:pPr lvl="1"/>
            <a:r>
              <a:rPr lang="en-US" sz="2000" dirty="0"/>
              <a:t>CTO not being able to explain the existing codebase - saying that it is self-explanatory</a:t>
            </a:r>
          </a:p>
          <a:p>
            <a:r>
              <a:rPr lang="en-US" sz="2600" dirty="0"/>
              <a:t>Example of code (prompt) CTO presented to us in their current code: </a:t>
            </a:r>
          </a:p>
        </p:txBody>
      </p:sp>
      <p:pic>
        <p:nvPicPr>
          <p:cNvPr id="7" name="Content Placeholder 6">
            <a:extLst>
              <a:ext uri="{FF2B5EF4-FFF2-40B4-BE49-F238E27FC236}">
                <a16:creationId xmlns:a16="http://schemas.microsoft.com/office/drawing/2014/main" id="{5AA9CCCB-DCBA-9D63-8DA3-16E0585C7B76}"/>
              </a:ext>
            </a:extLst>
          </p:cNvPr>
          <p:cNvPicPr>
            <a:picLocks noChangeAspect="1"/>
          </p:cNvPicPr>
          <p:nvPr/>
        </p:nvPicPr>
        <p:blipFill>
          <a:blip r:embed="rId2"/>
          <a:stretch>
            <a:fillRect/>
          </a:stretch>
        </p:blipFill>
        <p:spPr>
          <a:xfrm>
            <a:off x="816648" y="4274004"/>
            <a:ext cx="10537152" cy="2218871"/>
          </a:xfrm>
          <a:prstGeom prst="rect">
            <a:avLst/>
          </a:prstGeom>
        </p:spPr>
      </p:pic>
    </p:spTree>
    <p:extLst>
      <p:ext uri="{BB962C8B-B14F-4D97-AF65-F5344CB8AC3E}">
        <p14:creationId xmlns:p14="http://schemas.microsoft.com/office/powerpoint/2010/main" val="1627826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841A60-CF64-0490-1558-09839AB24CF1}"/>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6623CB8-BE8E-6390-68DE-95C4942984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80E2D12-3E5D-9B8E-39D7-7EC19579451F}"/>
              </a:ext>
            </a:extLst>
          </p:cNvPr>
          <p:cNvSpPr>
            <a:spLocks noGrp="1"/>
          </p:cNvSpPr>
          <p:nvPr>
            <p:ph type="title"/>
          </p:nvPr>
        </p:nvSpPr>
        <p:spPr>
          <a:xfrm>
            <a:off x="838200" y="365125"/>
            <a:ext cx="10515600" cy="1325563"/>
          </a:xfrm>
        </p:spPr>
        <p:txBody>
          <a:bodyPr>
            <a:normAutofit/>
          </a:bodyPr>
          <a:lstStyle/>
          <a:p>
            <a:r>
              <a:rPr lang="en-US" sz="5400" dirty="0"/>
              <a:t>Previous Project: Finding out issues </a:t>
            </a:r>
            <a:endParaRPr lang="en-SG" sz="5400" dirty="0"/>
          </a:p>
        </p:txBody>
      </p:sp>
      <p:sp>
        <p:nvSpPr>
          <p:cNvPr id="16" name="sketch line">
            <a:extLst>
              <a:ext uri="{FF2B5EF4-FFF2-40B4-BE49-F238E27FC236}">
                <a16:creationId xmlns:a16="http://schemas.microsoft.com/office/drawing/2014/main" id="{6ADCCCB4-60E9-685B-0B16-E4D352FAC2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E53106E6-FE35-2A72-1620-DF0E152E3018}"/>
              </a:ext>
            </a:extLst>
          </p:cNvPr>
          <p:cNvSpPr>
            <a:spLocks noGrp="1"/>
          </p:cNvSpPr>
          <p:nvPr>
            <p:ph idx="1"/>
          </p:nvPr>
        </p:nvSpPr>
        <p:spPr>
          <a:xfrm>
            <a:off x="838200" y="1929384"/>
            <a:ext cx="10515600" cy="2248207"/>
          </a:xfrm>
        </p:spPr>
        <p:txBody>
          <a:bodyPr>
            <a:normAutofit/>
          </a:bodyPr>
          <a:lstStyle/>
          <a:p>
            <a:r>
              <a:rPr lang="en-US" sz="2600" dirty="0"/>
              <a:t>Use of previous years’ project as their demo of successful projects </a:t>
            </a:r>
          </a:p>
        </p:txBody>
      </p:sp>
      <p:pic>
        <p:nvPicPr>
          <p:cNvPr id="5" name="Picture 4">
            <a:extLst>
              <a:ext uri="{FF2B5EF4-FFF2-40B4-BE49-F238E27FC236}">
                <a16:creationId xmlns:a16="http://schemas.microsoft.com/office/drawing/2014/main" id="{2C9534F2-455F-F409-9CA9-0083018A2758}"/>
              </a:ext>
            </a:extLst>
          </p:cNvPr>
          <p:cNvPicPr>
            <a:picLocks noChangeAspect="1"/>
          </p:cNvPicPr>
          <p:nvPr/>
        </p:nvPicPr>
        <p:blipFill>
          <a:blip r:embed="rId2"/>
          <a:stretch>
            <a:fillRect/>
          </a:stretch>
        </p:blipFill>
        <p:spPr>
          <a:xfrm>
            <a:off x="1616651" y="2458744"/>
            <a:ext cx="8958698" cy="4253989"/>
          </a:xfrm>
          <a:prstGeom prst="rect">
            <a:avLst/>
          </a:prstGeom>
        </p:spPr>
      </p:pic>
    </p:spTree>
    <p:extLst>
      <p:ext uri="{BB962C8B-B14F-4D97-AF65-F5344CB8AC3E}">
        <p14:creationId xmlns:p14="http://schemas.microsoft.com/office/powerpoint/2010/main" val="3000595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61DDA6-05C7-E6CF-74B8-EF2FB1322AC9}"/>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DBF4DD0-9D8D-6C16-8BEE-8289AD8F4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E5CA35F-1484-64C9-4126-1A8E5270A26E}"/>
              </a:ext>
            </a:extLst>
          </p:cNvPr>
          <p:cNvSpPr>
            <a:spLocks noGrp="1"/>
          </p:cNvSpPr>
          <p:nvPr>
            <p:ph type="title"/>
          </p:nvPr>
        </p:nvSpPr>
        <p:spPr>
          <a:xfrm>
            <a:off x="838200" y="365125"/>
            <a:ext cx="10515600" cy="1325563"/>
          </a:xfrm>
        </p:spPr>
        <p:txBody>
          <a:bodyPr>
            <a:normAutofit/>
          </a:bodyPr>
          <a:lstStyle/>
          <a:p>
            <a:r>
              <a:rPr lang="en-US" sz="5400" dirty="0"/>
              <a:t>Previous Project: Resolving issues</a:t>
            </a:r>
            <a:endParaRPr lang="en-SG" sz="5400" dirty="0"/>
          </a:p>
        </p:txBody>
      </p:sp>
      <p:sp>
        <p:nvSpPr>
          <p:cNvPr id="16" name="sketch line">
            <a:extLst>
              <a:ext uri="{FF2B5EF4-FFF2-40B4-BE49-F238E27FC236}">
                <a16:creationId xmlns:a16="http://schemas.microsoft.com/office/drawing/2014/main" id="{A96BA4B9-AFC1-93B0-3A5F-BFAE16505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4719BAFC-D5FB-077F-FBFA-764BAC5AD3CC}"/>
              </a:ext>
            </a:extLst>
          </p:cNvPr>
          <p:cNvSpPr>
            <a:spLocks noGrp="1"/>
          </p:cNvSpPr>
          <p:nvPr>
            <p:ph idx="1"/>
          </p:nvPr>
        </p:nvSpPr>
        <p:spPr>
          <a:xfrm>
            <a:off x="838200" y="1929384"/>
            <a:ext cx="10515600" cy="4251960"/>
          </a:xfrm>
        </p:spPr>
        <p:txBody>
          <a:bodyPr>
            <a:normAutofit/>
          </a:bodyPr>
          <a:lstStyle/>
          <a:p>
            <a:r>
              <a:rPr lang="en-US" sz="3200" dirty="0"/>
              <a:t>With the help and Advice from Sarah: </a:t>
            </a:r>
          </a:p>
          <a:p>
            <a:pPr lvl="1"/>
            <a:r>
              <a:rPr lang="en-US" dirty="0"/>
              <a:t>We cannot build things based on their existing codebase</a:t>
            </a:r>
          </a:p>
          <a:p>
            <a:pPr lvl="1"/>
            <a:r>
              <a:rPr lang="en-US" dirty="0"/>
              <a:t>Left with 3 Options for us</a:t>
            </a:r>
          </a:p>
          <a:p>
            <a:pPr marL="1371600" lvl="2" indent="-457200">
              <a:buFont typeface="+mj-lt"/>
              <a:buAutoNum type="arabicPeriod"/>
            </a:pPr>
            <a:r>
              <a:rPr lang="en-US" sz="2400" dirty="0"/>
              <a:t>Continue with the same client but start from scratch to build the product </a:t>
            </a:r>
          </a:p>
          <a:p>
            <a:pPr marL="1371600" lvl="2" indent="-457200">
              <a:buFont typeface="+mj-lt"/>
              <a:buAutoNum type="arabicPeriod"/>
            </a:pPr>
            <a:r>
              <a:rPr lang="en-US" sz="2400" dirty="0"/>
              <a:t>Select another project and transfer together as a team of 3 or 4</a:t>
            </a:r>
          </a:p>
          <a:p>
            <a:pPr marL="1371600" lvl="2" indent="-457200">
              <a:buFont typeface="+mj-lt"/>
              <a:buAutoNum type="arabicPeriod"/>
            </a:pPr>
            <a:r>
              <a:rPr lang="en-US" sz="2400" dirty="0"/>
              <a:t>Split and select different projects that suits out interest</a:t>
            </a:r>
          </a:p>
          <a:p>
            <a:pPr lvl="1"/>
            <a:r>
              <a:rPr lang="en-US" dirty="0"/>
              <a:t>Originally 4 people turned into 3 people – one member of the previous group split due to interest of projects not overlapping </a:t>
            </a:r>
          </a:p>
          <a:p>
            <a:pPr lvl="1"/>
            <a:r>
              <a:rPr lang="en-US" dirty="0"/>
              <a:t>Finally decided to go for Secondhand Marketplace </a:t>
            </a:r>
          </a:p>
        </p:txBody>
      </p:sp>
    </p:spTree>
    <p:extLst>
      <p:ext uri="{BB962C8B-B14F-4D97-AF65-F5344CB8AC3E}">
        <p14:creationId xmlns:p14="http://schemas.microsoft.com/office/powerpoint/2010/main" val="4103378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5B7DC4-6D3E-F8B3-74AB-6346697318BE}"/>
              </a:ext>
            </a:extLst>
          </p:cNvPr>
          <p:cNvSpPr>
            <a:spLocks noGrp="1"/>
          </p:cNvSpPr>
          <p:nvPr>
            <p:ph type="title"/>
          </p:nvPr>
        </p:nvSpPr>
        <p:spPr>
          <a:xfrm>
            <a:off x="1171074" y="1396686"/>
            <a:ext cx="3568074" cy="4064628"/>
          </a:xfrm>
        </p:spPr>
        <p:txBody>
          <a:bodyPr>
            <a:normAutofit/>
          </a:bodyPr>
          <a:lstStyle/>
          <a:p>
            <a:r>
              <a:rPr lang="en-US" dirty="0">
                <a:solidFill>
                  <a:srgbClr val="FFFFFF"/>
                </a:solidFill>
              </a:rPr>
              <a:t>Current</a:t>
            </a:r>
            <a:br>
              <a:rPr lang="en-US" dirty="0">
                <a:solidFill>
                  <a:srgbClr val="FFFFFF"/>
                </a:solidFill>
              </a:rPr>
            </a:br>
            <a:r>
              <a:rPr lang="en-US" dirty="0">
                <a:solidFill>
                  <a:srgbClr val="FFFFFF"/>
                </a:solidFill>
              </a:rPr>
              <a:t>Project Scope and Context</a:t>
            </a:r>
            <a:endParaRPr lang="en-SG" dirty="0">
              <a:solidFill>
                <a:srgbClr val="FFFFFF"/>
              </a:solidFill>
            </a:endParaRP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2F93CA5-78F7-C049-0BFD-EBCEC5262CF1}"/>
              </a:ext>
            </a:extLst>
          </p:cNvPr>
          <p:cNvSpPr>
            <a:spLocks noGrp="1"/>
          </p:cNvSpPr>
          <p:nvPr>
            <p:ph idx="1"/>
          </p:nvPr>
        </p:nvSpPr>
        <p:spPr>
          <a:xfrm>
            <a:off x="5370153" y="1526033"/>
            <a:ext cx="5536397" cy="3935281"/>
          </a:xfrm>
        </p:spPr>
        <p:txBody>
          <a:bodyPr anchor="ctr">
            <a:normAutofit/>
          </a:bodyPr>
          <a:lstStyle/>
          <a:p>
            <a:r>
              <a:rPr lang="en-US" b="1" dirty="0"/>
              <a:t>Unique</a:t>
            </a:r>
            <a:r>
              <a:rPr lang="en-US" dirty="0"/>
              <a:t> online secondhand market </a:t>
            </a:r>
            <a:r>
              <a:rPr lang="en-SG" dirty="0"/>
              <a:t>platform that emphasizes on </a:t>
            </a:r>
            <a:r>
              <a:rPr lang="en-SG" b="1" u="sng" dirty="0"/>
              <a:t>fun interaction and credibility </a:t>
            </a:r>
          </a:p>
          <a:p>
            <a:pPr marL="0" indent="0">
              <a:buNone/>
            </a:pPr>
            <a:endParaRPr lang="en-SG" dirty="0"/>
          </a:p>
          <a:p>
            <a:r>
              <a:rPr lang="en-US" b="1" dirty="0"/>
              <a:t>Client:</a:t>
            </a:r>
            <a:r>
              <a:rPr lang="en-US" dirty="0"/>
              <a:t> Marius, an individual who has a strong passion for this project</a:t>
            </a:r>
            <a:endParaRPr lang="en-SG" dirty="0"/>
          </a:p>
        </p:txBody>
      </p:sp>
    </p:spTree>
    <p:extLst>
      <p:ext uri="{BB962C8B-B14F-4D97-AF65-F5344CB8AC3E}">
        <p14:creationId xmlns:p14="http://schemas.microsoft.com/office/powerpoint/2010/main" val="4058462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D933F7D-6D02-D0A0-DDE2-1F95D24B41C2}"/>
              </a:ext>
            </a:extLst>
          </p:cNvPr>
          <p:cNvSpPr>
            <a:spLocks noGrp="1"/>
          </p:cNvSpPr>
          <p:nvPr>
            <p:ph type="title"/>
          </p:nvPr>
        </p:nvSpPr>
        <p:spPr>
          <a:xfrm>
            <a:off x="838200" y="401221"/>
            <a:ext cx="10515600" cy="1348065"/>
          </a:xfrm>
        </p:spPr>
        <p:txBody>
          <a:bodyPr>
            <a:normAutofit/>
          </a:bodyPr>
          <a:lstStyle/>
          <a:p>
            <a:r>
              <a:rPr lang="en-US" sz="5400" dirty="0">
                <a:solidFill>
                  <a:srgbClr val="FFFFFF"/>
                </a:solidFill>
              </a:rPr>
              <a:t>User stories</a:t>
            </a:r>
            <a:endParaRPr lang="en-SG" sz="5400" dirty="0">
              <a:solidFill>
                <a:srgbClr val="FFFFFF"/>
              </a:solidFill>
            </a:endParaRPr>
          </a:p>
        </p:txBody>
      </p:sp>
      <p:sp>
        <p:nvSpPr>
          <p:cNvPr id="3" name="Content Placeholder 2">
            <a:extLst>
              <a:ext uri="{FF2B5EF4-FFF2-40B4-BE49-F238E27FC236}">
                <a16:creationId xmlns:a16="http://schemas.microsoft.com/office/drawing/2014/main" id="{67FD479E-92B2-ADCA-5B7E-675E2A8EE82E}"/>
              </a:ext>
            </a:extLst>
          </p:cNvPr>
          <p:cNvSpPr>
            <a:spLocks noGrp="1"/>
          </p:cNvSpPr>
          <p:nvPr>
            <p:ph idx="1"/>
          </p:nvPr>
        </p:nvSpPr>
        <p:spPr>
          <a:xfrm>
            <a:off x="744695" y="2347414"/>
            <a:ext cx="10699561" cy="4191298"/>
          </a:xfrm>
        </p:spPr>
        <p:txBody>
          <a:bodyPr>
            <a:normAutofit/>
          </a:bodyPr>
          <a:lstStyle/>
          <a:p>
            <a:r>
              <a:rPr lang="en-US" sz="2200" dirty="0"/>
              <a:t>As a </a:t>
            </a:r>
            <a:r>
              <a:rPr lang="en-US" sz="2200" b="1" dirty="0"/>
              <a:t>Buyer</a:t>
            </a:r>
            <a:r>
              <a:rPr lang="en-US" sz="2200" dirty="0"/>
              <a:t>, I want an </a:t>
            </a:r>
            <a:r>
              <a:rPr lang="en-US" sz="2200" u="sng" dirty="0"/>
              <a:t>engaging and interactive marketplace </a:t>
            </a:r>
            <a:r>
              <a:rPr lang="en-US" sz="2200" dirty="0"/>
              <a:t>to easily find the items I'm looking for, and to </a:t>
            </a:r>
            <a:r>
              <a:rPr lang="en-US" sz="2200" u="sng" dirty="0"/>
              <a:t>explore reviews and ratings of sellers</a:t>
            </a:r>
            <a:r>
              <a:rPr lang="en-US" sz="2200" dirty="0"/>
              <a:t>. I would also like to browse or be recommended items that would interest me, with the option to filter.</a:t>
            </a:r>
          </a:p>
          <a:p>
            <a:pPr marL="0" indent="0">
              <a:buNone/>
            </a:pPr>
            <a:endParaRPr lang="en-US" sz="2200" dirty="0"/>
          </a:p>
          <a:p>
            <a:r>
              <a:rPr lang="en-US" sz="2200" dirty="0"/>
              <a:t>As a </a:t>
            </a:r>
            <a:r>
              <a:rPr lang="en-US" sz="2200" b="1" dirty="0"/>
              <a:t>Seller</a:t>
            </a:r>
            <a:r>
              <a:rPr lang="en-US" sz="2200" dirty="0"/>
              <a:t>, I want a </a:t>
            </a:r>
            <a:r>
              <a:rPr lang="en-US" sz="2200" u="sng" dirty="0"/>
              <a:t>user-friendly marketplace </a:t>
            </a:r>
            <a:r>
              <a:rPr lang="en-US" sz="2200" dirty="0"/>
              <a:t>to conveniently list the items I want to sell, and for them to reach the right audience of potential buyers. </a:t>
            </a:r>
          </a:p>
          <a:p>
            <a:pPr marL="0" indent="0">
              <a:buNone/>
            </a:pPr>
            <a:endParaRPr lang="en-US" sz="2200" dirty="0"/>
          </a:p>
          <a:p>
            <a:r>
              <a:rPr lang="en-US" sz="2200" dirty="0"/>
              <a:t>As a </a:t>
            </a:r>
            <a:r>
              <a:rPr lang="en-US" sz="2200" b="1" dirty="0"/>
              <a:t>Highly rated Seller</a:t>
            </a:r>
            <a:r>
              <a:rPr lang="en-US" sz="2200" dirty="0"/>
              <a:t>, I want a </a:t>
            </a:r>
            <a:r>
              <a:rPr lang="en-US" sz="2200" u="sng" dirty="0"/>
              <a:t>reliable system </a:t>
            </a:r>
            <a:r>
              <a:rPr lang="en-US" sz="2200" dirty="0"/>
              <a:t>allowing buyers to trust me and enabling me to have an impactful and leading role in the community, potentially building a brand/identity.</a:t>
            </a:r>
          </a:p>
        </p:txBody>
      </p:sp>
    </p:spTree>
    <p:extLst>
      <p:ext uri="{BB962C8B-B14F-4D97-AF65-F5344CB8AC3E}">
        <p14:creationId xmlns:p14="http://schemas.microsoft.com/office/powerpoint/2010/main" val="774920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844543-00E1-6E62-1653-989A32948715}"/>
              </a:ext>
            </a:extLst>
          </p:cNvPr>
          <p:cNvSpPr>
            <a:spLocks noGrp="1"/>
          </p:cNvSpPr>
          <p:nvPr>
            <p:ph type="title"/>
          </p:nvPr>
        </p:nvSpPr>
        <p:spPr>
          <a:xfrm>
            <a:off x="686834" y="1153572"/>
            <a:ext cx="3200400" cy="4461163"/>
          </a:xfrm>
        </p:spPr>
        <p:txBody>
          <a:bodyPr>
            <a:normAutofit/>
          </a:bodyPr>
          <a:lstStyle/>
          <a:p>
            <a:r>
              <a:rPr lang="en-US" dirty="0">
                <a:solidFill>
                  <a:srgbClr val="FFFFFF"/>
                </a:solidFill>
              </a:rPr>
              <a:t>Tech Stack Diagram</a:t>
            </a:r>
            <a:endParaRPr lang="en-SG"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5" name="Content Placeholder 4" descr="A diagram of a software company&#10;&#10;AI-generated content may be incorrect.">
            <a:extLst>
              <a:ext uri="{FF2B5EF4-FFF2-40B4-BE49-F238E27FC236}">
                <a16:creationId xmlns:a16="http://schemas.microsoft.com/office/drawing/2014/main" id="{309CC9E3-00B6-1B67-0821-3AEE8288BA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67272" y="975091"/>
            <a:ext cx="7614357" cy="4818124"/>
          </a:xfrm>
        </p:spPr>
      </p:pic>
    </p:spTree>
    <p:extLst>
      <p:ext uri="{BB962C8B-B14F-4D97-AF65-F5344CB8AC3E}">
        <p14:creationId xmlns:p14="http://schemas.microsoft.com/office/powerpoint/2010/main" val="2252013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3DDB4C3-EAB9-EFA6-0C4A-EF167509CF19}"/>
              </a:ext>
            </a:extLst>
          </p:cNvPr>
          <p:cNvSpPr>
            <a:spLocks noGrp="1"/>
          </p:cNvSpPr>
          <p:nvPr>
            <p:ph type="title"/>
          </p:nvPr>
        </p:nvSpPr>
        <p:spPr>
          <a:xfrm>
            <a:off x="648037" y="1298448"/>
            <a:ext cx="5895178" cy="4099642"/>
          </a:xfrm>
        </p:spPr>
        <p:txBody>
          <a:bodyPr vert="horz" lIns="91440" tIns="45720" rIns="91440" bIns="45720" rtlCol="0" anchor="b">
            <a:normAutofit/>
          </a:bodyPr>
          <a:lstStyle/>
          <a:p>
            <a:r>
              <a:rPr lang="en-US" sz="6600" kern="1200" dirty="0">
                <a:solidFill>
                  <a:srgbClr val="FFFFFF"/>
                </a:solidFill>
                <a:latin typeface="+mj-lt"/>
                <a:ea typeface="+mj-ea"/>
                <a:cs typeface="+mj-cs"/>
              </a:rPr>
              <a:t>Main i</a:t>
            </a:r>
            <a:r>
              <a:rPr lang="en-US" sz="6600" dirty="0">
                <a:solidFill>
                  <a:srgbClr val="FFFFFF"/>
                </a:solidFill>
              </a:rPr>
              <a:t>deas of the product :</a:t>
            </a:r>
            <a:r>
              <a:rPr lang="en-US" sz="6600" kern="1200" dirty="0">
                <a:solidFill>
                  <a:srgbClr val="FFFFFF"/>
                </a:solidFill>
                <a:latin typeface="+mj-lt"/>
                <a:ea typeface="+mj-ea"/>
                <a:cs typeface="+mj-cs"/>
              </a:rPr>
              <a:t> </a:t>
            </a:r>
          </a:p>
        </p:txBody>
      </p:sp>
      <p:sp>
        <p:nvSpPr>
          <p:cNvPr id="3" name="Content Placeholder 2">
            <a:extLst>
              <a:ext uri="{FF2B5EF4-FFF2-40B4-BE49-F238E27FC236}">
                <a16:creationId xmlns:a16="http://schemas.microsoft.com/office/drawing/2014/main" id="{8D7FB25D-F23C-89F2-B470-6B35F9595B4C}"/>
              </a:ext>
            </a:extLst>
          </p:cNvPr>
          <p:cNvSpPr>
            <a:spLocks noGrp="1"/>
          </p:cNvSpPr>
          <p:nvPr>
            <p:ph idx="1"/>
          </p:nvPr>
        </p:nvSpPr>
        <p:spPr>
          <a:xfrm>
            <a:off x="7628036" y="1128541"/>
            <a:ext cx="3924852" cy="4269549"/>
          </a:xfrm>
        </p:spPr>
        <p:txBody>
          <a:bodyPr vert="horz" lIns="91440" tIns="45720" rIns="91440" bIns="45720" rtlCol="0" anchor="t">
            <a:normAutofit/>
          </a:bodyPr>
          <a:lstStyle/>
          <a:p>
            <a:pPr marL="0" indent="0">
              <a:buNone/>
            </a:pPr>
            <a:r>
              <a:rPr lang="en-US" sz="2400" kern="1200" dirty="0">
                <a:solidFill>
                  <a:schemeClr val="tx1"/>
                </a:solidFill>
                <a:latin typeface="+mn-lt"/>
                <a:ea typeface="+mn-ea"/>
                <a:cs typeface="+mn-cs"/>
              </a:rPr>
              <a:t>Case studies : </a:t>
            </a:r>
          </a:p>
          <a:p>
            <a:r>
              <a:rPr lang="en-US" sz="2400" kern="1200" dirty="0">
                <a:solidFill>
                  <a:schemeClr val="tx1"/>
                </a:solidFill>
                <a:latin typeface="+mn-lt"/>
                <a:ea typeface="+mn-ea"/>
                <a:cs typeface="+mn-cs"/>
              </a:rPr>
              <a:t>Revolut – Smooth and simple UI</a:t>
            </a:r>
          </a:p>
          <a:p>
            <a:r>
              <a:rPr lang="en-US" sz="2400" kern="1200" dirty="0">
                <a:solidFill>
                  <a:schemeClr val="tx1"/>
                </a:solidFill>
                <a:latin typeface="+mn-lt"/>
                <a:ea typeface="+mn-ea"/>
                <a:cs typeface="+mn-cs"/>
              </a:rPr>
              <a:t>Duolingo – Gamification of interactions </a:t>
            </a:r>
          </a:p>
          <a:p>
            <a:r>
              <a:rPr lang="en-US" sz="2400" kern="1200" dirty="0">
                <a:solidFill>
                  <a:schemeClr val="tx1"/>
                </a:solidFill>
                <a:latin typeface="+mn-lt"/>
                <a:ea typeface="+mn-ea"/>
                <a:cs typeface="+mn-cs"/>
              </a:rPr>
              <a:t>Airbnb – review system</a:t>
            </a:r>
          </a:p>
          <a:p>
            <a:r>
              <a:rPr lang="en-US" sz="2400" dirty="0"/>
              <a:t>YouTube – Recommendation engine</a:t>
            </a:r>
            <a:r>
              <a:rPr lang="en-US" sz="2400" kern="1200" dirty="0">
                <a:solidFill>
                  <a:schemeClr val="tx1"/>
                </a:solidFill>
                <a:latin typeface="+mn-lt"/>
                <a:ea typeface="+mn-ea"/>
                <a:cs typeface="+mn-cs"/>
              </a:rPr>
              <a:t> </a:t>
            </a:r>
          </a:p>
        </p:txBody>
      </p:sp>
      <p:sp>
        <p:nvSpPr>
          <p:cNvPr id="35" name="sketch line 1">
            <a:extLst>
              <a:ext uri="{FF2B5EF4-FFF2-40B4-BE49-F238E27FC236}">
                <a16:creationId xmlns:a16="http://schemas.microsoft.com/office/drawing/2014/main" id="{32C5B66D-E390-4A14-AB60-69626CBF29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199" y="5626353"/>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sketch line">
            <a:extLst>
              <a:ext uri="{FF2B5EF4-FFF2-40B4-BE49-F238E27FC236}">
                <a16:creationId xmlns:a16="http://schemas.microsoft.com/office/drawing/2014/main" id="{646273DA-F933-4D17-A5FE-B1EF87FD7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0653" y="5626353"/>
            <a:ext cx="3479619" cy="18288"/>
          </a:xfrm>
          <a:custGeom>
            <a:avLst/>
            <a:gdLst>
              <a:gd name="connsiteX0" fmla="*/ 0 w 3479619"/>
              <a:gd name="connsiteY0" fmla="*/ 0 h 18288"/>
              <a:gd name="connsiteX1" fmla="*/ 661128 w 3479619"/>
              <a:gd name="connsiteY1" fmla="*/ 0 h 18288"/>
              <a:gd name="connsiteX2" fmla="*/ 1357051 w 3479619"/>
              <a:gd name="connsiteY2" fmla="*/ 0 h 18288"/>
              <a:gd name="connsiteX3" fmla="*/ 2087771 w 3479619"/>
              <a:gd name="connsiteY3" fmla="*/ 0 h 18288"/>
              <a:gd name="connsiteX4" fmla="*/ 2818491 w 3479619"/>
              <a:gd name="connsiteY4" fmla="*/ 0 h 18288"/>
              <a:gd name="connsiteX5" fmla="*/ 3479619 w 3479619"/>
              <a:gd name="connsiteY5" fmla="*/ 0 h 18288"/>
              <a:gd name="connsiteX6" fmla="*/ 3479619 w 3479619"/>
              <a:gd name="connsiteY6" fmla="*/ 18288 h 18288"/>
              <a:gd name="connsiteX7" fmla="*/ 2714103 w 3479619"/>
              <a:gd name="connsiteY7" fmla="*/ 18288 h 18288"/>
              <a:gd name="connsiteX8" fmla="*/ 1948587 w 3479619"/>
              <a:gd name="connsiteY8" fmla="*/ 18288 h 18288"/>
              <a:gd name="connsiteX9" fmla="*/ 1252663 w 3479619"/>
              <a:gd name="connsiteY9" fmla="*/ 18288 h 18288"/>
              <a:gd name="connsiteX10" fmla="*/ 0 w 3479619"/>
              <a:gd name="connsiteY10" fmla="*/ 18288 h 18288"/>
              <a:gd name="connsiteX11" fmla="*/ 0 w 3479619"/>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79619" h="18288" fill="none" extrusionOk="0">
                <a:moveTo>
                  <a:pt x="0" y="0"/>
                </a:moveTo>
                <a:cubicBezTo>
                  <a:pt x="178395" y="-3637"/>
                  <a:pt x="368619" y="-28254"/>
                  <a:pt x="661128" y="0"/>
                </a:cubicBezTo>
                <a:cubicBezTo>
                  <a:pt x="953637" y="28254"/>
                  <a:pt x="1022982" y="-4416"/>
                  <a:pt x="1357051" y="0"/>
                </a:cubicBezTo>
                <a:cubicBezTo>
                  <a:pt x="1691120" y="4416"/>
                  <a:pt x="1729558" y="27777"/>
                  <a:pt x="2087771" y="0"/>
                </a:cubicBezTo>
                <a:cubicBezTo>
                  <a:pt x="2445984" y="-27777"/>
                  <a:pt x="2592094" y="4429"/>
                  <a:pt x="2818491" y="0"/>
                </a:cubicBezTo>
                <a:cubicBezTo>
                  <a:pt x="3044888" y="-4429"/>
                  <a:pt x="3204567" y="26471"/>
                  <a:pt x="3479619" y="0"/>
                </a:cubicBezTo>
                <a:cubicBezTo>
                  <a:pt x="3478910" y="8157"/>
                  <a:pt x="3479206" y="12125"/>
                  <a:pt x="3479619" y="18288"/>
                </a:cubicBezTo>
                <a:cubicBezTo>
                  <a:pt x="3315855" y="-2963"/>
                  <a:pt x="3094885" y="26965"/>
                  <a:pt x="2714103" y="18288"/>
                </a:cubicBezTo>
                <a:cubicBezTo>
                  <a:pt x="2333321" y="9611"/>
                  <a:pt x="2260528" y="-15335"/>
                  <a:pt x="1948587" y="18288"/>
                </a:cubicBezTo>
                <a:cubicBezTo>
                  <a:pt x="1636646" y="51911"/>
                  <a:pt x="1489816" y="46369"/>
                  <a:pt x="1252663" y="18288"/>
                </a:cubicBezTo>
                <a:cubicBezTo>
                  <a:pt x="1015510" y="-9793"/>
                  <a:pt x="519812" y="-12177"/>
                  <a:pt x="0" y="18288"/>
                </a:cubicBezTo>
                <a:cubicBezTo>
                  <a:pt x="-46" y="12483"/>
                  <a:pt x="-203" y="6491"/>
                  <a:pt x="0" y="0"/>
                </a:cubicBezTo>
                <a:close/>
              </a:path>
              <a:path w="3479619" h="18288" stroke="0" extrusionOk="0">
                <a:moveTo>
                  <a:pt x="0" y="0"/>
                </a:moveTo>
                <a:cubicBezTo>
                  <a:pt x="326045" y="25020"/>
                  <a:pt x="425411" y="-17676"/>
                  <a:pt x="661128" y="0"/>
                </a:cubicBezTo>
                <a:cubicBezTo>
                  <a:pt x="896845" y="17676"/>
                  <a:pt x="1124825" y="1478"/>
                  <a:pt x="1252663" y="0"/>
                </a:cubicBezTo>
                <a:cubicBezTo>
                  <a:pt x="1380502" y="-1478"/>
                  <a:pt x="1694914" y="11788"/>
                  <a:pt x="2018179" y="0"/>
                </a:cubicBezTo>
                <a:cubicBezTo>
                  <a:pt x="2341444" y="-11788"/>
                  <a:pt x="2451167" y="12596"/>
                  <a:pt x="2679307" y="0"/>
                </a:cubicBezTo>
                <a:cubicBezTo>
                  <a:pt x="2907447" y="-12596"/>
                  <a:pt x="3094555" y="23821"/>
                  <a:pt x="3479619" y="0"/>
                </a:cubicBezTo>
                <a:cubicBezTo>
                  <a:pt x="3479355" y="4493"/>
                  <a:pt x="3480003" y="9472"/>
                  <a:pt x="3479619" y="18288"/>
                </a:cubicBezTo>
                <a:cubicBezTo>
                  <a:pt x="3311729" y="36782"/>
                  <a:pt x="3015946" y="7938"/>
                  <a:pt x="2783695" y="18288"/>
                </a:cubicBezTo>
                <a:cubicBezTo>
                  <a:pt x="2551444" y="28638"/>
                  <a:pt x="2398767" y="-13940"/>
                  <a:pt x="2018179" y="18288"/>
                </a:cubicBezTo>
                <a:cubicBezTo>
                  <a:pt x="1637591" y="50516"/>
                  <a:pt x="1634873" y="-6356"/>
                  <a:pt x="1426644" y="18288"/>
                </a:cubicBezTo>
                <a:cubicBezTo>
                  <a:pt x="1218415" y="42932"/>
                  <a:pt x="1006973" y="4094"/>
                  <a:pt x="730720" y="18288"/>
                </a:cubicBezTo>
                <a:cubicBezTo>
                  <a:pt x="454467" y="32482"/>
                  <a:pt x="291313" y="3910"/>
                  <a:pt x="0" y="18288"/>
                </a:cubicBezTo>
                <a:cubicBezTo>
                  <a:pt x="843" y="9577"/>
                  <a:pt x="371" y="690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3722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CCC9D052-9C06-62E2-2AFF-D8881E4E857B}"/>
              </a:ext>
            </a:extLst>
          </p:cNvPr>
          <p:cNvSpPr>
            <a:spLocks noGrp="1"/>
          </p:cNvSpPr>
          <p:nvPr>
            <p:ph type="title"/>
          </p:nvPr>
        </p:nvSpPr>
        <p:spPr>
          <a:xfrm>
            <a:off x="352200" y="17221"/>
            <a:ext cx="4647600" cy="1396065"/>
          </a:xfrm>
        </p:spPr>
        <p:txBody>
          <a:bodyPr>
            <a:normAutofit/>
          </a:bodyPr>
          <a:lstStyle/>
          <a:p>
            <a:r>
              <a:rPr lang="en-US" sz="5400" dirty="0">
                <a:solidFill>
                  <a:srgbClr val="FFFFFF"/>
                </a:solidFill>
              </a:rPr>
              <a:t>Frontend Demo</a:t>
            </a:r>
            <a:endParaRPr lang="en-SG" sz="5400" dirty="0">
              <a:solidFill>
                <a:srgbClr val="FFFFFF"/>
              </a:solidFill>
            </a:endParaRPr>
          </a:p>
        </p:txBody>
      </p:sp>
      <p:pic>
        <p:nvPicPr>
          <p:cNvPr id="4" name="Picture 3" descr="A screenshot of a phone&#10;&#10;AI-generated content may be incorrect.">
            <a:extLst>
              <a:ext uri="{FF2B5EF4-FFF2-40B4-BE49-F238E27FC236}">
                <a16:creationId xmlns:a16="http://schemas.microsoft.com/office/drawing/2014/main" id="{4561512C-8BD2-11C0-BD95-4E1D28EAF11E}"/>
              </a:ext>
            </a:extLst>
          </p:cNvPr>
          <p:cNvPicPr>
            <a:picLocks noChangeAspect="1"/>
          </p:cNvPicPr>
          <p:nvPr/>
        </p:nvPicPr>
        <p:blipFill>
          <a:blip r:embed="rId2"/>
          <a:stretch>
            <a:fillRect/>
          </a:stretch>
        </p:blipFill>
        <p:spPr>
          <a:xfrm>
            <a:off x="702817" y="1416000"/>
            <a:ext cx="2176366" cy="4758000"/>
          </a:xfrm>
          <a:prstGeom prst="rect">
            <a:avLst/>
          </a:prstGeom>
        </p:spPr>
      </p:pic>
      <p:pic>
        <p:nvPicPr>
          <p:cNvPr id="5" name="Picture 4" descr="A white and pink sweatshirt on a swinger&#10;&#10;AI-generated content may be incorrect.">
            <a:extLst>
              <a:ext uri="{FF2B5EF4-FFF2-40B4-BE49-F238E27FC236}">
                <a16:creationId xmlns:a16="http://schemas.microsoft.com/office/drawing/2014/main" id="{A8426B9A-2B89-161B-A412-5CD54FE2BB4F}"/>
              </a:ext>
            </a:extLst>
          </p:cNvPr>
          <p:cNvPicPr>
            <a:picLocks noChangeAspect="1"/>
          </p:cNvPicPr>
          <p:nvPr/>
        </p:nvPicPr>
        <p:blipFill>
          <a:blip r:embed="rId3"/>
          <a:stretch>
            <a:fillRect/>
          </a:stretch>
        </p:blipFill>
        <p:spPr>
          <a:xfrm>
            <a:off x="6096817" y="336000"/>
            <a:ext cx="2692366" cy="5838000"/>
          </a:xfrm>
          <a:prstGeom prst="rect">
            <a:avLst/>
          </a:prstGeom>
        </p:spPr>
      </p:pic>
      <p:sp>
        <p:nvSpPr>
          <p:cNvPr id="7" name="TextBox 6">
            <a:extLst>
              <a:ext uri="{FF2B5EF4-FFF2-40B4-BE49-F238E27FC236}">
                <a16:creationId xmlns:a16="http://schemas.microsoft.com/office/drawing/2014/main" id="{2676A02A-C36F-CFE1-C3DB-C24714AE5A1C}"/>
              </a:ext>
            </a:extLst>
          </p:cNvPr>
          <p:cNvSpPr txBox="1"/>
          <p:nvPr/>
        </p:nvSpPr>
        <p:spPr>
          <a:xfrm>
            <a:off x="886264" y="6173900"/>
            <a:ext cx="181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a:t>Marketplace Tab</a:t>
            </a:r>
            <a:endParaRPr lang="en-US"/>
          </a:p>
        </p:txBody>
      </p:sp>
      <p:sp>
        <p:nvSpPr>
          <p:cNvPr id="9" name="TextBox 8">
            <a:extLst>
              <a:ext uri="{FF2B5EF4-FFF2-40B4-BE49-F238E27FC236}">
                <a16:creationId xmlns:a16="http://schemas.microsoft.com/office/drawing/2014/main" id="{9794F9D7-7337-7677-F7F1-592907BBAAAE}"/>
              </a:ext>
            </a:extLst>
          </p:cNvPr>
          <p:cNvSpPr txBox="1"/>
          <p:nvPr/>
        </p:nvSpPr>
        <p:spPr>
          <a:xfrm>
            <a:off x="6538264" y="6173899"/>
            <a:ext cx="181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a:t>Item Listing</a:t>
            </a:r>
            <a:endParaRPr lang="en-US"/>
          </a:p>
        </p:txBody>
      </p:sp>
      <p:sp>
        <p:nvSpPr>
          <p:cNvPr id="12" name="TextBox 11">
            <a:extLst>
              <a:ext uri="{FF2B5EF4-FFF2-40B4-BE49-F238E27FC236}">
                <a16:creationId xmlns:a16="http://schemas.microsoft.com/office/drawing/2014/main" id="{BBCCF0C4-3326-19EF-704E-D3027F7452BD}"/>
              </a:ext>
            </a:extLst>
          </p:cNvPr>
          <p:cNvSpPr txBox="1"/>
          <p:nvPr/>
        </p:nvSpPr>
        <p:spPr>
          <a:xfrm>
            <a:off x="2883510" y="2344267"/>
            <a:ext cx="294631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Features:</a:t>
            </a:r>
            <a:endParaRPr lang="en-US"/>
          </a:p>
          <a:p>
            <a:pPr marL="285750" indent="-285750">
              <a:buFont typeface="Calibri"/>
              <a:buChar char="-"/>
            </a:pPr>
            <a:r>
              <a:rPr lang="en-GB"/>
              <a:t>Search Bar</a:t>
            </a:r>
          </a:p>
          <a:p>
            <a:pPr marL="285750" indent="-285750">
              <a:buFont typeface="Calibri"/>
              <a:buChar char="-"/>
            </a:pPr>
            <a:r>
              <a:rPr lang="en-GB"/>
              <a:t>Seller's profile and rating</a:t>
            </a:r>
          </a:p>
          <a:p>
            <a:pPr marL="285750" indent="-285750">
              <a:buFont typeface="Calibri"/>
              <a:buChar char="-"/>
            </a:pPr>
            <a:r>
              <a:rPr lang="en-GB"/>
              <a:t>Image</a:t>
            </a:r>
          </a:p>
          <a:p>
            <a:pPr marL="285750" indent="-285750">
              <a:buFont typeface="Calibri"/>
              <a:buChar char="-"/>
            </a:pPr>
            <a:r>
              <a:rPr lang="en-GB"/>
              <a:t>Listing name</a:t>
            </a:r>
          </a:p>
          <a:p>
            <a:pPr marL="285750" indent="-285750">
              <a:buFont typeface="Calibri"/>
              <a:buChar char="-"/>
            </a:pPr>
            <a:r>
              <a:rPr lang="en-GB"/>
              <a:t>Abbreviated listing description</a:t>
            </a:r>
          </a:p>
          <a:p>
            <a:pPr marL="285750" indent="-285750">
              <a:buFont typeface="Calibri"/>
              <a:buChar char="-"/>
            </a:pPr>
            <a:r>
              <a:rPr lang="en-GB"/>
              <a:t>Price</a:t>
            </a:r>
          </a:p>
          <a:p>
            <a:pPr marL="285750" indent="-285750">
              <a:buFont typeface="Calibri"/>
              <a:buChar char="-"/>
            </a:pPr>
            <a:r>
              <a:rPr lang="en-GB"/>
              <a:t>Haptics for listings and search bar</a:t>
            </a:r>
          </a:p>
        </p:txBody>
      </p:sp>
      <p:sp>
        <p:nvSpPr>
          <p:cNvPr id="13" name="TextBox 12">
            <a:extLst>
              <a:ext uri="{FF2B5EF4-FFF2-40B4-BE49-F238E27FC236}">
                <a16:creationId xmlns:a16="http://schemas.microsoft.com/office/drawing/2014/main" id="{4FC03D42-B234-1887-7BED-3FE96AF1F99B}"/>
              </a:ext>
            </a:extLst>
          </p:cNvPr>
          <p:cNvSpPr txBox="1"/>
          <p:nvPr/>
        </p:nvSpPr>
        <p:spPr>
          <a:xfrm>
            <a:off x="8788264" y="2345899"/>
            <a:ext cx="30552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Features:</a:t>
            </a:r>
            <a:endParaRPr lang="en-US"/>
          </a:p>
          <a:p>
            <a:pPr marL="285750" indent="-285750">
              <a:buFont typeface="Calibri"/>
              <a:buChar char="-"/>
            </a:pPr>
            <a:r>
              <a:rPr lang="en-GB"/>
              <a:t>Seller's Profile including approximate location</a:t>
            </a:r>
          </a:p>
          <a:p>
            <a:pPr marL="285750" indent="-285750">
              <a:buFont typeface="Calibri"/>
              <a:buChar char="-"/>
            </a:pPr>
            <a:r>
              <a:rPr lang="en-GB"/>
              <a:t>Listing image</a:t>
            </a:r>
          </a:p>
          <a:p>
            <a:pPr marL="285750" indent="-285750">
              <a:buFont typeface="Calibri"/>
              <a:buChar char="-"/>
            </a:pPr>
            <a:r>
              <a:rPr lang="en-GB"/>
              <a:t>Listing name </a:t>
            </a:r>
          </a:p>
          <a:p>
            <a:pPr marL="285750" indent="-285750">
              <a:buFont typeface="Calibri"/>
              <a:buChar char="-"/>
            </a:pPr>
            <a:r>
              <a:rPr lang="en-GB"/>
              <a:t>Full description</a:t>
            </a:r>
          </a:p>
          <a:p>
            <a:pPr marL="285750" indent="-285750">
              <a:buFont typeface="Calibri"/>
              <a:buChar char="-"/>
            </a:pPr>
            <a:r>
              <a:rPr lang="en-GB"/>
              <a:t>Price including price with postage </a:t>
            </a:r>
          </a:p>
          <a:p>
            <a:pPr marL="285750" indent="-285750">
              <a:buFont typeface="Calibri"/>
              <a:buChar char="-"/>
            </a:pPr>
            <a:r>
              <a:rPr lang="en-GB"/>
              <a:t>Buy and Sell buttons</a:t>
            </a:r>
          </a:p>
          <a:p>
            <a:pPr marL="285750" indent="-285750">
              <a:buFont typeface="Calibri"/>
              <a:buChar char="-"/>
            </a:pPr>
            <a:r>
              <a:rPr lang="en-GB"/>
              <a:t>Haptics for buy and sell buttons</a:t>
            </a:r>
          </a:p>
        </p:txBody>
      </p:sp>
    </p:spTree>
    <p:extLst>
      <p:ext uri="{BB962C8B-B14F-4D97-AF65-F5344CB8AC3E}">
        <p14:creationId xmlns:p14="http://schemas.microsoft.com/office/powerpoint/2010/main" val="2849605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8074D3-DA15-7278-27F3-37552F9E223F}"/>
              </a:ext>
            </a:extLst>
          </p:cNvPr>
          <p:cNvSpPr>
            <a:spLocks noGrp="1"/>
          </p:cNvSpPr>
          <p:nvPr>
            <p:ph type="title"/>
          </p:nvPr>
        </p:nvSpPr>
        <p:spPr>
          <a:xfrm>
            <a:off x="630936" y="640080"/>
            <a:ext cx="4818888" cy="1481328"/>
          </a:xfrm>
        </p:spPr>
        <p:txBody>
          <a:bodyPr vert="horz" lIns="91440" tIns="45720" rIns="91440" bIns="45720" rtlCol="0" anchor="b">
            <a:normAutofit fontScale="90000"/>
          </a:bodyPr>
          <a:lstStyle/>
          <a:p>
            <a:r>
              <a:rPr lang="en-US" sz="5000"/>
              <a:t>Prototype</a:t>
            </a:r>
            <a:r>
              <a:rPr lang="en-US" sz="5000" kern="1200">
                <a:latin typeface="+mj-lt"/>
                <a:ea typeface="+mj-ea"/>
                <a:cs typeface="+mj-cs"/>
              </a:rPr>
              <a:t> Idea: Swip</a:t>
            </a:r>
            <a:r>
              <a:rPr lang="en-US" sz="5000" dirty="0"/>
              <a:t>e and</a:t>
            </a:r>
            <a:r>
              <a:rPr lang="en-US" sz="5000" kern="1200">
                <a:latin typeface="+mj-lt"/>
                <a:ea typeface="+mj-ea"/>
                <a:cs typeface="+mj-cs"/>
              </a:rPr>
              <a:t> Explore</a:t>
            </a:r>
          </a:p>
        </p:txBody>
      </p:sp>
      <p:sp>
        <p:nvSpPr>
          <p:cNvPr id="17"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754471B-CD0E-BA77-08D2-ED6A7DDC883E}"/>
              </a:ext>
            </a:extLst>
          </p:cNvPr>
          <p:cNvSpPr txBox="1"/>
          <p:nvPr/>
        </p:nvSpPr>
        <p:spPr>
          <a:xfrm>
            <a:off x="636623" y="2490307"/>
            <a:ext cx="5637753" cy="354787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fontScale="92500" lnSpcReduction="10000"/>
          </a:bodyPr>
          <a:lstStyle/>
          <a:p>
            <a:pPr indent="-228600" defTabSz="914400">
              <a:lnSpc>
                <a:spcPct val="90000"/>
              </a:lnSpc>
              <a:spcAft>
                <a:spcPts val="600"/>
              </a:spcAft>
              <a:buFont typeface="Arial" panose="020B0604020202020204" pitchFamily="34" charset="0"/>
              <a:buChar char="•"/>
            </a:pPr>
            <a:r>
              <a:rPr lang="en-US" sz="2000" b="1"/>
              <a:t>Key Ideas: </a:t>
            </a:r>
          </a:p>
          <a:p>
            <a:pPr indent="-228600" defTabSz="914400">
              <a:lnSpc>
                <a:spcPct val="90000"/>
              </a:lnSpc>
              <a:spcAft>
                <a:spcPts val="600"/>
              </a:spcAft>
              <a:buFont typeface="Arial" panose="020B0604020202020204" pitchFamily="34" charset="0"/>
              <a:buChar char="•"/>
            </a:pPr>
            <a:endParaRPr lang="en-US" sz="2000" b="1"/>
          </a:p>
          <a:p>
            <a:pPr marL="285750" indent="-228600" defTabSz="914400">
              <a:lnSpc>
                <a:spcPct val="90000"/>
              </a:lnSpc>
              <a:spcAft>
                <a:spcPts val="600"/>
              </a:spcAft>
              <a:buFont typeface="Arial" panose="020B0604020202020204" pitchFamily="34" charset="0"/>
              <a:buChar char="•"/>
            </a:pPr>
            <a:r>
              <a:rPr lang="en-US" sz="2000"/>
              <a:t>Keep the interaction with the user as simple as possible.</a:t>
            </a:r>
          </a:p>
          <a:p>
            <a:pPr marL="285750" indent="-228600" defTabSz="914400">
              <a:lnSpc>
                <a:spcPct val="90000"/>
              </a:lnSpc>
              <a:spcAft>
                <a:spcPts val="600"/>
              </a:spcAft>
              <a:buFont typeface="Arial" panose="020B0604020202020204" pitchFamily="34" charset="0"/>
              <a:buChar char="•"/>
            </a:pPr>
            <a:endParaRPr lang="en-US"/>
          </a:p>
          <a:p>
            <a:pPr marL="285750" indent="-228600" defTabSz="914400">
              <a:lnSpc>
                <a:spcPct val="90000"/>
              </a:lnSpc>
              <a:spcAft>
                <a:spcPts val="600"/>
              </a:spcAft>
              <a:buFont typeface="Arial" panose="020B0604020202020204" pitchFamily="34" charset="0"/>
              <a:buChar char="•"/>
            </a:pPr>
            <a:r>
              <a:rPr lang="en-US" sz="2000"/>
              <a:t>User is given a personalised feed of listings.</a:t>
            </a:r>
          </a:p>
          <a:p>
            <a:pPr marL="285750" indent="-228600" defTabSz="914400">
              <a:lnSpc>
                <a:spcPct val="90000"/>
              </a:lnSpc>
              <a:spcAft>
                <a:spcPts val="600"/>
              </a:spcAft>
              <a:buFont typeface="Arial" panose="020B0604020202020204" pitchFamily="34" charset="0"/>
              <a:buChar char="•"/>
            </a:pPr>
            <a:endParaRPr lang="en-US" sz="2000"/>
          </a:p>
          <a:p>
            <a:pPr marL="285750" indent="-228600" defTabSz="914400">
              <a:lnSpc>
                <a:spcPct val="90000"/>
              </a:lnSpc>
              <a:spcAft>
                <a:spcPts val="600"/>
              </a:spcAft>
              <a:buFont typeface="Arial" panose="020B0604020202020204" pitchFamily="34" charset="0"/>
              <a:buChar char="•"/>
            </a:pPr>
            <a:r>
              <a:rPr lang="en-US" sz="2000"/>
              <a:t>Only essential information about the listing shown (price &amp; image).</a:t>
            </a:r>
          </a:p>
          <a:p>
            <a:pPr marL="285750" indent="-228600" defTabSz="914400">
              <a:lnSpc>
                <a:spcPct val="90000"/>
              </a:lnSpc>
              <a:spcAft>
                <a:spcPts val="600"/>
              </a:spcAft>
              <a:buFont typeface="Arial" panose="020B0604020202020204" pitchFamily="34" charset="0"/>
              <a:buChar char="•"/>
            </a:pPr>
            <a:endParaRPr lang="en-US" sz="2000"/>
          </a:p>
          <a:p>
            <a:pPr marL="285750" indent="-228600" defTabSz="914400">
              <a:lnSpc>
                <a:spcPct val="90000"/>
              </a:lnSpc>
              <a:spcAft>
                <a:spcPts val="600"/>
              </a:spcAft>
              <a:buFont typeface="Arial" panose="020B0604020202020204" pitchFamily="34" charset="0"/>
              <a:buChar char="•"/>
            </a:pPr>
            <a:r>
              <a:rPr lang="en-US" sz="2000"/>
              <a:t>When the user likes a listing, it will be added to their liked items which they can then review later. </a:t>
            </a:r>
          </a:p>
          <a:p>
            <a:pPr indent="-228600" defTabSz="914400">
              <a:lnSpc>
                <a:spcPct val="90000"/>
              </a:lnSpc>
              <a:spcAft>
                <a:spcPts val="600"/>
              </a:spcAft>
              <a:buFont typeface="Arial" panose="020B0604020202020204" pitchFamily="34" charset="0"/>
              <a:buChar char="•"/>
            </a:pPr>
            <a:endParaRPr lang="en-US" sz="2000"/>
          </a:p>
          <a:p>
            <a:pPr indent="-228600" defTabSz="914400">
              <a:lnSpc>
                <a:spcPct val="90000"/>
              </a:lnSpc>
              <a:spcAft>
                <a:spcPts val="600"/>
              </a:spcAft>
              <a:buFont typeface="Arial" panose="020B0604020202020204" pitchFamily="34" charset="0"/>
              <a:buChar char="•"/>
            </a:pPr>
            <a:endParaRPr lang="en-US" sz="2000"/>
          </a:p>
        </p:txBody>
      </p:sp>
      <p:pic>
        <p:nvPicPr>
          <p:cNvPr id="4" name="Content Placeholder 3" descr="A blue bicycle leaning against a wall&#10;&#10;AI-generated content may be incorrect.">
            <a:extLst>
              <a:ext uri="{FF2B5EF4-FFF2-40B4-BE49-F238E27FC236}">
                <a16:creationId xmlns:a16="http://schemas.microsoft.com/office/drawing/2014/main" id="{A897514D-87CE-D09B-4C10-671FF5DF2F48}"/>
              </a:ext>
            </a:extLst>
          </p:cNvPr>
          <p:cNvPicPr>
            <a:picLocks noGrp="1" noChangeAspect="1"/>
          </p:cNvPicPr>
          <p:nvPr>
            <p:ph idx="1"/>
          </p:nvPr>
        </p:nvPicPr>
        <p:blipFill>
          <a:blip r:embed="rId2"/>
          <a:stretch>
            <a:fillRect/>
          </a:stretch>
        </p:blipFill>
        <p:spPr>
          <a:xfrm>
            <a:off x="7545629" y="640080"/>
            <a:ext cx="2565805" cy="5577840"/>
          </a:xfrm>
          <a:prstGeom prst="rect">
            <a:avLst/>
          </a:prstGeom>
        </p:spPr>
      </p:pic>
    </p:spTree>
    <p:extLst>
      <p:ext uri="{BB962C8B-B14F-4D97-AF65-F5344CB8AC3E}">
        <p14:creationId xmlns:p14="http://schemas.microsoft.com/office/powerpoint/2010/main" val="4141240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513F78-305C-8130-D5B9-6B99D5959736}"/>
              </a:ext>
            </a:extLst>
          </p:cNvPr>
          <p:cNvSpPr>
            <a:spLocks noGrp="1"/>
          </p:cNvSpPr>
          <p:nvPr>
            <p:ph type="title"/>
          </p:nvPr>
        </p:nvSpPr>
        <p:spPr>
          <a:xfrm>
            <a:off x="570336" y="1198418"/>
            <a:ext cx="3480438" cy="4461163"/>
          </a:xfrm>
        </p:spPr>
        <p:txBody>
          <a:bodyPr>
            <a:normAutofit/>
          </a:bodyPr>
          <a:lstStyle/>
          <a:p>
            <a:r>
              <a:rPr lang="en-US" dirty="0">
                <a:solidFill>
                  <a:srgbClr val="FFFFFF"/>
                </a:solidFill>
              </a:rPr>
              <a:t>Product Future  Roadmap</a:t>
            </a:r>
            <a:endParaRPr lang="en-SG" dirty="0">
              <a:solidFill>
                <a:srgbClr val="FFFFFF"/>
              </a:solidFill>
            </a:endParaRPr>
          </a:p>
        </p:txBody>
      </p:sp>
      <p:sp>
        <p:nvSpPr>
          <p:cNvPr id="40" name="Arc 3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aphicFrame>
        <p:nvGraphicFramePr>
          <p:cNvPr id="13" name="Content Placeholder 12">
            <a:extLst>
              <a:ext uri="{FF2B5EF4-FFF2-40B4-BE49-F238E27FC236}">
                <a16:creationId xmlns:a16="http://schemas.microsoft.com/office/drawing/2014/main" id="{9AB3BDAB-28FB-6F59-6FDD-49404AA57C7A}"/>
              </a:ext>
            </a:extLst>
          </p:cNvPr>
          <p:cNvGraphicFramePr>
            <a:graphicFrameLocks noGrp="1"/>
          </p:cNvGraphicFramePr>
          <p:nvPr>
            <p:ph idx="1"/>
            <p:extLst>
              <p:ext uri="{D42A27DB-BD31-4B8C-83A1-F6EECF244321}">
                <p14:modId xmlns:p14="http://schemas.microsoft.com/office/powerpoint/2010/main" val="2681892146"/>
              </p:ext>
            </p:extLst>
          </p:nvPr>
        </p:nvGraphicFramePr>
        <p:xfrm>
          <a:off x="5108446" y="413363"/>
          <a:ext cx="6159322" cy="56924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9702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0152F7-4472-46CA-31B0-261FE827BE5F}"/>
              </a:ext>
            </a:extLst>
          </p:cNvPr>
          <p:cNvSpPr>
            <a:spLocks noGrp="1"/>
          </p:cNvSpPr>
          <p:nvPr>
            <p:ph type="title"/>
          </p:nvPr>
        </p:nvSpPr>
        <p:spPr>
          <a:xfrm>
            <a:off x="686834" y="1153572"/>
            <a:ext cx="3200400" cy="4461163"/>
          </a:xfrm>
        </p:spPr>
        <p:txBody>
          <a:bodyPr>
            <a:normAutofit/>
          </a:bodyPr>
          <a:lstStyle/>
          <a:p>
            <a:r>
              <a:rPr lang="en-US">
                <a:solidFill>
                  <a:srgbClr val="FFFFFF"/>
                </a:solidFill>
              </a:rPr>
              <a:t>Process</a:t>
            </a:r>
            <a:endParaRPr lang="en-SG" dirty="0">
              <a:solidFill>
                <a:srgbClr val="FFFFFF"/>
              </a:solidFill>
            </a:endParaRP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5A3512B-6713-27DD-D4E7-B1FDB0D9F3B8}"/>
              </a:ext>
            </a:extLst>
          </p:cNvPr>
          <p:cNvSpPr>
            <a:spLocks noGrp="1"/>
          </p:cNvSpPr>
          <p:nvPr>
            <p:ph idx="1"/>
          </p:nvPr>
        </p:nvSpPr>
        <p:spPr>
          <a:xfrm>
            <a:off x="4447308" y="591344"/>
            <a:ext cx="6906491" cy="5585619"/>
          </a:xfrm>
        </p:spPr>
        <p:txBody>
          <a:bodyPr anchor="ctr">
            <a:normAutofit fontScale="92500" lnSpcReduction="10000"/>
          </a:bodyPr>
          <a:lstStyle/>
          <a:p>
            <a:r>
              <a:rPr lang="en-US" dirty="0"/>
              <a:t>We meet every week in person to discuss about what needs to be done and allocate workload to everyone. </a:t>
            </a:r>
            <a:r>
              <a:rPr lang="en-US"/>
              <a:t>We take guidance from our mentor for how to do this most effectively, ensuring each member has neither too much nor too little work.</a:t>
            </a:r>
            <a:endParaRPr lang="en-US" dirty="0"/>
          </a:p>
          <a:p>
            <a:r>
              <a:rPr lang="en-US" dirty="0"/>
              <a:t>The current project manager is Alex, </a:t>
            </a:r>
            <a:r>
              <a:rPr lang="en-US"/>
              <a:t>regularly checking</a:t>
            </a:r>
            <a:r>
              <a:rPr lang="en-US" dirty="0"/>
              <a:t> on everyone’s progress and decide what should be prioritized for this period. </a:t>
            </a:r>
          </a:p>
          <a:p>
            <a:r>
              <a:rPr lang="en-US" dirty="0"/>
              <a:t>Communication: We constantly check with client with our updated progress and ask for feedback. We also inform each other within the team to ensure workloads / meetings can be adjusted to achieve goal in a reasonable way. </a:t>
            </a:r>
          </a:p>
        </p:txBody>
      </p:sp>
    </p:spTree>
    <p:extLst>
      <p:ext uri="{BB962C8B-B14F-4D97-AF65-F5344CB8AC3E}">
        <p14:creationId xmlns:p14="http://schemas.microsoft.com/office/powerpoint/2010/main" val="56437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42CB0F-46BA-E951-EED4-5177BD646DEA}"/>
              </a:ext>
            </a:extLst>
          </p:cNvPr>
          <p:cNvSpPr>
            <a:spLocks noGrp="1"/>
          </p:cNvSpPr>
          <p:nvPr>
            <p:ph type="title"/>
          </p:nvPr>
        </p:nvSpPr>
        <p:spPr>
          <a:xfrm>
            <a:off x="1145336" y="1112969"/>
            <a:ext cx="3748788" cy="4166010"/>
          </a:xfrm>
        </p:spPr>
        <p:txBody>
          <a:bodyPr>
            <a:normAutofit/>
          </a:bodyPr>
          <a:lstStyle/>
          <a:p>
            <a:r>
              <a:rPr lang="en-US" dirty="0">
                <a:solidFill>
                  <a:srgbClr val="FFFFFF"/>
                </a:solidFill>
              </a:rPr>
              <a:t>Future Project Management</a:t>
            </a:r>
            <a:endParaRPr lang="en-SG" dirty="0">
              <a:solidFill>
                <a:srgbClr val="FFFFFF"/>
              </a:solidFill>
            </a:endParaRP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D78657AD-D1C8-6435-5F1E-A652460B15A5}"/>
              </a:ext>
            </a:extLst>
          </p:cNvPr>
          <p:cNvSpPr>
            <a:spLocks noGrp="1"/>
          </p:cNvSpPr>
          <p:nvPr>
            <p:ph idx="1"/>
          </p:nvPr>
        </p:nvSpPr>
        <p:spPr>
          <a:xfrm>
            <a:off x="5989320" y="820880"/>
            <a:ext cx="5462134" cy="4889350"/>
          </a:xfrm>
        </p:spPr>
        <p:txBody>
          <a:bodyPr anchor="ctr">
            <a:normAutofit/>
          </a:bodyPr>
          <a:lstStyle/>
          <a:p>
            <a:r>
              <a:rPr lang="en-US" dirty="0"/>
              <a:t>Rotating Project managers and rotating frontend/backend roles</a:t>
            </a:r>
          </a:p>
          <a:p>
            <a:r>
              <a:rPr lang="en-US" dirty="0"/>
              <a:t>Define concrete end goals from the start and break it down into smaller goals for each stage</a:t>
            </a:r>
          </a:p>
          <a:p>
            <a:r>
              <a:rPr lang="en-US" dirty="0"/>
              <a:t>Using more tests and CI/CD </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362141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11B5B5E8-AE2B-935A-688F-352CB44B00A8}"/>
              </a:ext>
            </a:extLst>
          </p:cNvPr>
          <p:cNvSpPr>
            <a:spLocks noGrp="1"/>
          </p:cNvSpPr>
          <p:nvPr>
            <p:ph type="title"/>
          </p:nvPr>
        </p:nvSpPr>
        <p:spPr>
          <a:xfrm>
            <a:off x="3315031" y="1380754"/>
            <a:ext cx="5561938" cy="2513516"/>
          </a:xfrm>
        </p:spPr>
        <p:txBody>
          <a:bodyPr vert="horz" lIns="91440" tIns="45720" rIns="91440" bIns="45720" rtlCol="0" anchor="b">
            <a:normAutofit/>
          </a:bodyPr>
          <a:lstStyle/>
          <a:p>
            <a:pPr algn="ctr"/>
            <a:r>
              <a:rPr lang="en-US" sz="6000" kern="1200" dirty="0">
                <a:solidFill>
                  <a:schemeClr val="tx1"/>
                </a:solidFill>
                <a:latin typeface="+mj-lt"/>
                <a:ea typeface="+mj-ea"/>
                <a:cs typeface="+mj-cs"/>
              </a:rPr>
              <a:t>Questions</a:t>
            </a:r>
          </a:p>
        </p:txBody>
      </p:sp>
      <p:sp>
        <p:nvSpPr>
          <p:cNvPr id="15" name="Arc 14">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Oval 16">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01046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1fde8e6-15e9-4f57-b0de-d5c723ae802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5B609B1048A5941BB6E67A4E722FE67" ma:contentTypeVersion="6" ma:contentTypeDescription="Create a new document." ma:contentTypeScope="" ma:versionID="87e3e45ba2504120bc5285bfb23f1388">
  <xsd:schema xmlns:xsd="http://www.w3.org/2001/XMLSchema" xmlns:xs="http://www.w3.org/2001/XMLSchema" xmlns:p="http://schemas.microsoft.com/office/2006/metadata/properties" xmlns:ns3="c1fde8e6-15e9-4f57-b0de-d5c723ae8024" targetNamespace="http://schemas.microsoft.com/office/2006/metadata/properties" ma:root="true" ma:fieldsID="ff33f37fcc63b23bedc694004e578c5e" ns3:_="">
    <xsd:import namespace="c1fde8e6-15e9-4f57-b0de-d5c723ae802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fde8e6-15e9-4f57-b0de-d5c723ae802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506F43-159A-45E5-986E-F5ECAD93EFEE}">
  <ds:schemaRefs>
    <ds:schemaRef ds:uri="http://schemas.microsoft.com/sharepoint/v3/contenttype/forms"/>
  </ds:schemaRefs>
</ds:datastoreItem>
</file>

<file path=customXml/itemProps2.xml><?xml version="1.0" encoding="utf-8"?>
<ds:datastoreItem xmlns:ds="http://schemas.openxmlformats.org/officeDocument/2006/customXml" ds:itemID="{2CD71B93-BB41-4669-9796-02AE32C06301}">
  <ds:schemaRefs>
    <ds:schemaRef ds:uri="c1fde8e6-15e9-4f57-b0de-d5c723ae8024"/>
    <ds:schemaRef ds:uri="http://schemas.microsoft.com/office/2006/documentManagement/types"/>
    <ds:schemaRef ds:uri="http://schemas.microsoft.com/office/2006/metadata/properties"/>
    <ds:schemaRef ds:uri="http://purl.org/dc/dcmitype/"/>
    <ds:schemaRef ds:uri="http://purl.org/dc/elements/1.1/"/>
    <ds:schemaRef ds:uri="http://purl.org/dc/terms/"/>
    <ds:schemaRef ds:uri="http://www.w3.org/XML/1998/namespace"/>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0FCFADCB-BD7E-4A38-9697-53145B3FFD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fde8e6-15e9-4f57-b0de-d5c723ae80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1735</TotalTime>
  <Words>828</Words>
  <Application>Microsoft Office PowerPoint</Application>
  <PresentationFormat>Widescreen</PresentationFormat>
  <Paragraphs>95</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Calibri</vt:lpstr>
      <vt:lpstr>Office Theme</vt:lpstr>
      <vt:lpstr>Secondhand Marketplace2  MVP Pre-GreenCheck AI</vt:lpstr>
      <vt:lpstr>Journey from previous project to now</vt:lpstr>
      <vt:lpstr>Previous Project: GreenCheck AI</vt:lpstr>
      <vt:lpstr>Previous Project: Finding out issues </vt:lpstr>
      <vt:lpstr>Previous Project: Finding out issues </vt:lpstr>
      <vt:lpstr>Previous Project: Resolving issues</vt:lpstr>
      <vt:lpstr>Current Project Scope and Context</vt:lpstr>
      <vt:lpstr>User stories</vt:lpstr>
      <vt:lpstr>Tech Stack Diagram</vt:lpstr>
      <vt:lpstr>Main ideas of the product : </vt:lpstr>
      <vt:lpstr>Frontend Demo</vt:lpstr>
      <vt:lpstr>Prototype Idea: Swipe and Explore</vt:lpstr>
      <vt:lpstr>Product Future  Roadmap</vt:lpstr>
      <vt:lpstr>Process</vt:lpstr>
      <vt:lpstr>Future Project Management</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Euan Chan</dc:creator>
  <cp:lastModifiedBy>Euan Chan</cp:lastModifiedBy>
  <cp:revision>3</cp:revision>
  <dcterms:created xsi:type="dcterms:W3CDTF">2025-11-19T13:10:26Z</dcterms:created>
  <dcterms:modified xsi:type="dcterms:W3CDTF">2025-11-26T14:15:45Z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0x01010005B609B1048A5941BB6E67A4E722FE67</vt:lpwstr>
  </property>
</Properties>
</file>